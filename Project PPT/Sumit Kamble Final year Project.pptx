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7.xml" ContentType="application/vnd.openxmlformats-officedocument.presentationml.notesSlide+xml"/>
  <Override PartName="/ppt/ink/ink11.xml" ContentType="application/inkml+xml"/>
  <Override PartName="/ppt/ink/ink12.xml" ContentType="application/inkml+xml"/>
  <Override PartName="/ppt/notesSlides/notesSlide8.xml" ContentType="application/vnd.openxmlformats-officedocument.presentationml.notesSlide+xml"/>
  <Override PartName="/ppt/ink/ink13.xml" ContentType="application/inkml+xml"/>
  <Override PartName="/ppt/ink/ink14.xml" ContentType="application/inkml+xml"/>
  <Override PartName="/ppt/notesSlides/notesSlide9.xml" ContentType="application/vnd.openxmlformats-officedocument.presentationml.notesSlide+xml"/>
  <Override PartName="/ppt/ink/ink15.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55" r:id="rId4"/>
  </p:sldMasterIdLst>
  <p:notesMasterIdLst>
    <p:notesMasterId r:id="rId49"/>
  </p:notesMasterIdLst>
  <p:sldIdLst>
    <p:sldId id="256" r:id="rId5"/>
    <p:sldId id="276" r:id="rId6"/>
    <p:sldId id="278" r:id="rId7"/>
    <p:sldId id="257" r:id="rId8"/>
    <p:sldId id="279" r:id="rId9"/>
    <p:sldId id="259" r:id="rId10"/>
    <p:sldId id="280" r:id="rId11"/>
    <p:sldId id="258" r:id="rId12"/>
    <p:sldId id="282" r:id="rId13"/>
    <p:sldId id="261" r:id="rId14"/>
    <p:sldId id="292" r:id="rId15"/>
    <p:sldId id="293" r:id="rId16"/>
    <p:sldId id="281" r:id="rId17"/>
    <p:sldId id="260" r:id="rId18"/>
    <p:sldId id="283" r:id="rId19"/>
    <p:sldId id="262" r:id="rId20"/>
    <p:sldId id="284" r:id="rId21"/>
    <p:sldId id="263" r:id="rId22"/>
    <p:sldId id="285" r:id="rId23"/>
    <p:sldId id="264" r:id="rId24"/>
    <p:sldId id="286" r:id="rId25"/>
    <p:sldId id="265" r:id="rId26"/>
    <p:sldId id="294" r:id="rId27"/>
    <p:sldId id="287" r:id="rId28"/>
    <p:sldId id="266" r:id="rId29"/>
    <p:sldId id="295" r:id="rId30"/>
    <p:sldId id="288" r:id="rId31"/>
    <p:sldId id="296" r:id="rId32"/>
    <p:sldId id="297" r:id="rId33"/>
    <p:sldId id="300" r:id="rId34"/>
    <p:sldId id="301" r:id="rId35"/>
    <p:sldId id="299" r:id="rId36"/>
    <p:sldId id="302" r:id="rId37"/>
    <p:sldId id="277" r:id="rId38"/>
    <p:sldId id="304" r:id="rId39"/>
    <p:sldId id="271" r:id="rId40"/>
    <p:sldId id="289" r:id="rId41"/>
    <p:sldId id="272" r:id="rId42"/>
    <p:sldId id="290" r:id="rId43"/>
    <p:sldId id="273" r:id="rId44"/>
    <p:sldId id="305" r:id="rId45"/>
    <p:sldId id="291" r:id="rId46"/>
    <p:sldId id="274" r:id="rId47"/>
    <p:sldId id="275" r:id="rId48"/>
  </p:sldIdLst>
  <p:sldSz cx="12544425" cy="70564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a:srgbClr val="6D9206"/>
    <a:srgbClr val="0000FF"/>
    <a:srgbClr val="993300"/>
    <a:srgbClr val="3E21CF"/>
    <a:srgbClr val="FF9933"/>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98C4D8-43A6-4D5D-8108-8F7A9E80A1D6}" v="984" dt="2026-05-24T18:01:43.2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83534" autoAdjust="0"/>
  </p:normalViewPr>
  <p:slideViewPr>
    <p:cSldViewPr snapToGrid="0">
      <p:cViewPr varScale="1">
        <p:scale>
          <a:sx n="54" d="100"/>
          <a:sy n="54" d="100"/>
        </p:scale>
        <p:origin x="1200" y="60"/>
      </p:cViewPr>
      <p:guideLst/>
    </p:cSldViewPr>
  </p:slideViewPr>
  <p:outlineViewPr>
    <p:cViewPr>
      <p:scale>
        <a:sx n="33" d="100"/>
        <a:sy n="33" d="100"/>
      </p:scale>
      <p:origin x="0" y="-41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EF0A9F-9D44-4F03-8E6B-3382D3A668C7}" type="doc">
      <dgm:prSet loTypeId="urn:microsoft.com/office/officeart/2005/8/layout/vProcess5" loCatId="process" qsTypeId="urn:microsoft.com/office/officeart/2005/8/quickstyle/3d1" qsCatId="3D" csTypeId="urn:microsoft.com/office/officeart/2005/8/colors/colorful2" csCatId="colorful" phldr="1"/>
      <dgm:spPr/>
      <dgm:t>
        <a:bodyPr/>
        <a:lstStyle/>
        <a:p>
          <a:endParaRPr lang="en-IN"/>
        </a:p>
      </dgm:t>
    </dgm:pt>
    <dgm:pt modelId="{5410E4A8-9762-4DDB-BC73-B2CE050E1573}">
      <dgm:prSet/>
      <dgm:spPr/>
      <dgm:t>
        <a:bodyPr/>
        <a:lstStyle/>
        <a:p>
          <a:endParaRPr lang="en-IN" dirty="0"/>
        </a:p>
      </dgm:t>
    </dgm:pt>
    <dgm:pt modelId="{643C4DD3-6671-4AA2-BE7D-F01CEFB6A2AB}" type="parTrans" cxnId="{422FC705-FADF-4276-953C-629E22F9ABD2}">
      <dgm:prSet/>
      <dgm:spPr/>
      <dgm:t>
        <a:bodyPr/>
        <a:lstStyle/>
        <a:p>
          <a:endParaRPr lang="en-IN"/>
        </a:p>
      </dgm:t>
    </dgm:pt>
    <dgm:pt modelId="{6FE069C3-C564-4050-9905-3033F78F7B19}" type="sibTrans" cxnId="{422FC705-FADF-4276-953C-629E22F9ABD2}">
      <dgm:prSet/>
      <dgm:spPr/>
      <dgm:t>
        <a:bodyPr/>
        <a:lstStyle/>
        <a:p>
          <a:endParaRPr lang="en-IN"/>
        </a:p>
      </dgm:t>
    </dgm:pt>
    <dgm:pt modelId="{92334FDB-1BA6-4FE1-A9F4-8C72FB5AC4E0}">
      <dgm:prSet/>
      <dgm:spPr/>
      <dgm:t>
        <a:bodyPr/>
        <a:lstStyle/>
        <a:p>
          <a:endParaRPr lang="en-IN"/>
        </a:p>
      </dgm:t>
    </dgm:pt>
    <dgm:pt modelId="{02772BB4-0201-439F-945F-415489DC10A9}" type="parTrans" cxnId="{8B8CD8EC-4122-48AA-BE01-952A1D50FE88}">
      <dgm:prSet/>
      <dgm:spPr/>
      <dgm:t>
        <a:bodyPr/>
        <a:lstStyle/>
        <a:p>
          <a:endParaRPr lang="en-IN"/>
        </a:p>
      </dgm:t>
    </dgm:pt>
    <dgm:pt modelId="{4B67D805-7CB6-4730-8F69-F9172FE31C20}" type="sibTrans" cxnId="{8B8CD8EC-4122-48AA-BE01-952A1D50FE88}">
      <dgm:prSet/>
      <dgm:spPr/>
      <dgm:t>
        <a:bodyPr/>
        <a:lstStyle/>
        <a:p>
          <a:endParaRPr lang="en-IN"/>
        </a:p>
      </dgm:t>
    </dgm:pt>
    <dgm:pt modelId="{05F73B65-E985-4E7D-B8B0-ECD2C48EE126}">
      <dgm:prSet/>
      <dgm:spPr/>
      <dgm:t>
        <a:bodyPr/>
        <a:lstStyle/>
        <a:p>
          <a:endParaRPr lang="en-IN"/>
        </a:p>
      </dgm:t>
    </dgm:pt>
    <dgm:pt modelId="{ED9AD0DE-95E7-47A3-AD3E-107937AC6C47}" type="parTrans" cxnId="{0B9A125C-B4E4-41D3-ADDA-3E6310193D54}">
      <dgm:prSet/>
      <dgm:spPr/>
      <dgm:t>
        <a:bodyPr/>
        <a:lstStyle/>
        <a:p>
          <a:endParaRPr lang="en-IN"/>
        </a:p>
      </dgm:t>
    </dgm:pt>
    <dgm:pt modelId="{D131016D-A042-4354-8FB3-BEACFD6B4491}" type="sibTrans" cxnId="{0B9A125C-B4E4-41D3-ADDA-3E6310193D54}">
      <dgm:prSet/>
      <dgm:spPr/>
      <dgm:t>
        <a:bodyPr/>
        <a:lstStyle/>
        <a:p>
          <a:endParaRPr lang="en-IN"/>
        </a:p>
      </dgm:t>
    </dgm:pt>
    <dgm:pt modelId="{09D3170B-80AB-4E3D-9D39-9F14FB366D09}">
      <dgm:prSet/>
      <dgm:spPr/>
      <dgm:t>
        <a:bodyPr/>
        <a:lstStyle/>
        <a:p>
          <a:endParaRPr lang="en-IN"/>
        </a:p>
      </dgm:t>
    </dgm:pt>
    <dgm:pt modelId="{AB154CD6-F877-48D2-92CB-EA3E65B9FA84}" type="parTrans" cxnId="{0BE40B52-C394-486C-82FA-5F5C0FC0C8D8}">
      <dgm:prSet/>
      <dgm:spPr/>
      <dgm:t>
        <a:bodyPr/>
        <a:lstStyle/>
        <a:p>
          <a:endParaRPr lang="en-IN"/>
        </a:p>
      </dgm:t>
    </dgm:pt>
    <dgm:pt modelId="{00984210-B65B-4A41-86DA-4E54D57B1713}" type="sibTrans" cxnId="{0BE40B52-C394-486C-82FA-5F5C0FC0C8D8}">
      <dgm:prSet/>
      <dgm:spPr/>
      <dgm:t>
        <a:bodyPr/>
        <a:lstStyle/>
        <a:p>
          <a:endParaRPr lang="en-IN"/>
        </a:p>
      </dgm:t>
    </dgm:pt>
    <dgm:pt modelId="{076E97A4-4714-4604-A1EE-12C82C3AE77C}">
      <dgm:prSet/>
      <dgm:spPr/>
      <dgm:t>
        <a:bodyPr/>
        <a:lstStyle/>
        <a:p>
          <a:endParaRPr lang="en-IN"/>
        </a:p>
      </dgm:t>
    </dgm:pt>
    <dgm:pt modelId="{93393850-39A6-4521-904A-EABEB93CE7EB}" type="parTrans" cxnId="{B995D4E3-1DB4-4AE2-A74C-A4EF37CED5DE}">
      <dgm:prSet/>
      <dgm:spPr/>
      <dgm:t>
        <a:bodyPr/>
        <a:lstStyle/>
        <a:p>
          <a:endParaRPr lang="en-IN"/>
        </a:p>
      </dgm:t>
    </dgm:pt>
    <dgm:pt modelId="{61F788A3-3F91-49F0-8098-E25290E87DCC}" type="sibTrans" cxnId="{B995D4E3-1DB4-4AE2-A74C-A4EF37CED5DE}">
      <dgm:prSet/>
      <dgm:spPr/>
      <dgm:t>
        <a:bodyPr/>
        <a:lstStyle/>
        <a:p>
          <a:endParaRPr lang="en-IN"/>
        </a:p>
      </dgm:t>
    </dgm:pt>
    <dgm:pt modelId="{35B2C466-804E-4C7A-A45D-6CC608BDB91C}">
      <dgm:prSet/>
      <dgm:spPr/>
      <dgm:t>
        <a:bodyPr/>
        <a:lstStyle/>
        <a:p>
          <a:endParaRPr lang="en-IN"/>
        </a:p>
      </dgm:t>
    </dgm:pt>
    <dgm:pt modelId="{DEC2BE35-7708-46D1-A780-647608F60D66}" type="parTrans" cxnId="{6B811BB5-4B43-4210-8BC2-4EC9EA5A30A9}">
      <dgm:prSet/>
      <dgm:spPr/>
      <dgm:t>
        <a:bodyPr/>
        <a:lstStyle/>
        <a:p>
          <a:endParaRPr lang="en-IN"/>
        </a:p>
      </dgm:t>
    </dgm:pt>
    <dgm:pt modelId="{7C6F1FA5-A2C6-4479-990B-2F9C95F0425A}" type="sibTrans" cxnId="{6B811BB5-4B43-4210-8BC2-4EC9EA5A30A9}">
      <dgm:prSet/>
      <dgm:spPr/>
      <dgm:t>
        <a:bodyPr/>
        <a:lstStyle/>
        <a:p>
          <a:endParaRPr lang="en-IN"/>
        </a:p>
      </dgm:t>
    </dgm:pt>
    <dgm:pt modelId="{A0265601-DD8E-438A-8B94-D2C146CAC57B}">
      <dgm:prSet/>
      <dgm:spPr/>
      <dgm:t>
        <a:bodyPr/>
        <a:lstStyle/>
        <a:p>
          <a:endParaRPr lang="en-IN"/>
        </a:p>
      </dgm:t>
    </dgm:pt>
    <dgm:pt modelId="{F82F96C6-7287-4CD1-BF81-FDE7DFF9B079}" type="parTrans" cxnId="{C0031426-B8E3-4515-AB26-190C14169869}">
      <dgm:prSet/>
      <dgm:spPr/>
      <dgm:t>
        <a:bodyPr/>
        <a:lstStyle/>
        <a:p>
          <a:endParaRPr lang="en-IN"/>
        </a:p>
      </dgm:t>
    </dgm:pt>
    <dgm:pt modelId="{8E4576BC-71F0-4704-98B4-F5600DA2130C}" type="sibTrans" cxnId="{C0031426-B8E3-4515-AB26-190C14169869}">
      <dgm:prSet/>
      <dgm:spPr/>
      <dgm:t>
        <a:bodyPr/>
        <a:lstStyle/>
        <a:p>
          <a:endParaRPr lang="en-IN"/>
        </a:p>
      </dgm:t>
    </dgm:pt>
    <dgm:pt modelId="{67950493-80CC-4CDE-895B-17BF4D84D129}">
      <dgm:prSet/>
      <dgm:spPr/>
      <dgm:t>
        <a:bodyPr/>
        <a:lstStyle/>
        <a:p>
          <a:endParaRPr lang="en-IN"/>
        </a:p>
      </dgm:t>
    </dgm:pt>
    <dgm:pt modelId="{0695D80C-6255-4E43-9B8E-16554B38A43D}" type="parTrans" cxnId="{463F9A33-E610-415E-8C0E-588DF8A17B1B}">
      <dgm:prSet/>
      <dgm:spPr/>
      <dgm:t>
        <a:bodyPr/>
        <a:lstStyle/>
        <a:p>
          <a:endParaRPr lang="en-IN"/>
        </a:p>
      </dgm:t>
    </dgm:pt>
    <dgm:pt modelId="{861DDC88-1E8B-40B9-A620-529ABA977ABD}" type="sibTrans" cxnId="{463F9A33-E610-415E-8C0E-588DF8A17B1B}">
      <dgm:prSet/>
      <dgm:spPr/>
      <dgm:t>
        <a:bodyPr/>
        <a:lstStyle/>
        <a:p>
          <a:endParaRPr lang="en-IN"/>
        </a:p>
      </dgm:t>
    </dgm:pt>
    <dgm:pt modelId="{C4644B1B-8D12-4EC3-8DD4-E9793F779315}">
      <dgm:prSet/>
      <dgm:spPr/>
      <dgm:t>
        <a:bodyPr/>
        <a:lstStyle/>
        <a:p>
          <a:endParaRPr lang="en-IN"/>
        </a:p>
      </dgm:t>
    </dgm:pt>
    <dgm:pt modelId="{46700FA8-64D8-4886-B8FF-C9BED24DF6A1}" type="parTrans" cxnId="{F06B3A3B-F79F-4757-A7F2-87FF8E35DD09}">
      <dgm:prSet/>
      <dgm:spPr/>
      <dgm:t>
        <a:bodyPr/>
        <a:lstStyle/>
        <a:p>
          <a:endParaRPr lang="en-IN"/>
        </a:p>
      </dgm:t>
    </dgm:pt>
    <dgm:pt modelId="{2A973B1E-21D9-487C-94F9-3E505EF06495}" type="sibTrans" cxnId="{F06B3A3B-F79F-4757-A7F2-87FF8E35DD09}">
      <dgm:prSet/>
      <dgm:spPr/>
      <dgm:t>
        <a:bodyPr/>
        <a:lstStyle/>
        <a:p>
          <a:endParaRPr lang="en-IN"/>
        </a:p>
      </dgm:t>
    </dgm:pt>
    <dgm:pt modelId="{DCC6D6CF-0C9B-497C-9759-9BE8C52B22AF}">
      <dgm:prSet custT="1"/>
      <dgm:spPr/>
      <dgm:t>
        <a:bodyPr/>
        <a:lstStyle/>
        <a:p>
          <a:pPr algn="l"/>
          <a:r>
            <a:rPr lang="en-US" sz="2000" b="1" u="sng" dirty="0">
              <a:solidFill>
                <a:schemeClr val="tx1"/>
              </a:solidFill>
              <a:latin typeface="Times New Roman" panose="02020603050405020304" pitchFamily="18" charset="0"/>
              <a:cs typeface="Times New Roman" panose="02020603050405020304" pitchFamily="18" charset="0"/>
            </a:rPr>
            <a:t>Step 1</a:t>
          </a:r>
          <a:r>
            <a:rPr lang="en-US" sz="2000" b="1" u="none" dirty="0">
              <a:solidFill>
                <a:schemeClr val="tx1"/>
              </a:solidFill>
              <a:latin typeface="Times New Roman" panose="02020603050405020304" pitchFamily="18" charset="0"/>
              <a:cs typeface="Times New Roman" panose="02020603050405020304" pitchFamily="18" charset="0"/>
            </a:rPr>
            <a:t> : </a:t>
          </a:r>
          <a:r>
            <a:rPr lang="en-US" sz="2000" b="1" dirty="0">
              <a:solidFill>
                <a:schemeClr val="tx1"/>
              </a:solidFill>
              <a:latin typeface="Times New Roman" panose="02020603050405020304" pitchFamily="18" charset="0"/>
              <a:cs typeface="Times New Roman" panose="02020603050405020304" pitchFamily="18" charset="0"/>
            </a:rPr>
            <a:t>Standard caffeine solution preparation</a:t>
          </a:r>
          <a:endParaRPr lang="en-IN" sz="2000" b="1" dirty="0">
            <a:solidFill>
              <a:schemeClr val="tx1"/>
            </a:solidFill>
            <a:latin typeface="Times New Roman" panose="02020603050405020304" pitchFamily="18" charset="0"/>
            <a:cs typeface="Times New Roman" panose="02020603050405020304" pitchFamily="18" charset="0"/>
          </a:endParaRPr>
        </a:p>
      </dgm:t>
    </dgm:pt>
    <dgm:pt modelId="{39D93E91-62A6-421C-9DB2-0085333102E2}" type="parTrans" cxnId="{A5E4E7D1-CC70-41B0-B681-51C16B684A31}">
      <dgm:prSet/>
      <dgm:spPr/>
      <dgm:t>
        <a:bodyPr/>
        <a:lstStyle/>
        <a:p>
          <a:endParaRPr lang="en-IN"/>
        </a:p>
      </dgm:t>
    </dgm:pt>
    <dgm:pt modelId="{06AF64EB-D903-44F1-A020-0729226D26CE}" type="sibTrans" cxnId="{A5E4E7D1-CC70-41B0-B681-51C16B684A31}">
      <dgm:prSet/>
      <dgm:spPr/>
      <dgm:t>
        <a:bodyPr/>
        <a:lstStyle/>
        <a:p>
          <a:endParaRPr lang="en-IN"/>
        </a:p>
      </dgm:t>
    </dgm:pt>
    <dgm:pt modelId="{234AD294-C0DE-4018-9D01-BC24C45607EF}">
      <dgm:prSet custT="1"/>
      <dgm:spPr/>
      <dgm:t>
        <a:bodyPr/>
        <a:lstStyle/>
        <a:p>
          <a:r>
            <a:rPr lang="en-US" sz="2000" b="1" u="sng" dirty="0">
              <a:solidFill>
                <a:schemeClr val="tx1"/>
              </a:solidFill>
              <a:latin typeface="Times New Roman" panose="02020603050405020304" pitchFamily="18" charset="0"/>
              <a:cs typeface="Times New Roman" panose="02020603050405020304" pitchFamily="18" charset="0"/>
            </a:rPr>
            <a:t>Step 2</a:t>
          </a:r>
          <a:r>
            <a:rPr lang="en-US" sz="2000" b="1" u="none" dirty="0">
              <a:solidFill>
                <a:schemeClr val="tx1"/>
              </a:solidFill>
              <a:latin typeface="Times New Roman" panose="02020603050405020304" pitchFamily="18" charset="0"/>
              <a:cs typeface="Times New Roman" panose="02020603050405020304" pitchFamily="18" charset="0"/>
            </a:rPr>
            <a:t> : </a:t>
          </a:r>
          <a:r>
            <a:rPr lang="en-US" sz="2000" b="1" dirty="0">
              <a:solidFill>
                <a:schemeClr val="tx1"/>
              </a:solidFill>
              <a:latin typeface="Times New Roman" panose="02020603050405020304" pitchFamily="18" charset="0"/>
              <a:cs typeface="Times New Roman" panose="02020603050405020304" pitchFamily="18" charset="0"/>
            </a:rPr>
            <a:t>Determination of </a:t>
          </a:r>
          <a:r>
            <a:rPr lang="en-US" sz="2000" b="1" dirty="0" err="1">
              <a:solidFill>
                <a:schemeClr val="tx1"/>
              </a:solidFill>
              <a:latin typeface="Times New Roman" panose="02020603050405020304" pitchFamily="18" charset="0"/>
              <a:cs typeface="Times New Roman" panose="02020603050405020304" pitchFamily="18" charset="0"/>
            </a:rPr>
            <a:t>λmax</a:t>
          </a:r>
          <a:endParaRPr lang="en-IN" sz="2000" b="1" dirty="0">
            <a:solidFill>
              <a:schemeClr val="tx1"/>
            </a:solidFill>
            <a:latin typeface="Times New Roman" panose="02020603050405020304" pitchFamily="18" charset="0"/>
            <a:cs typeface="Times New Roman" panose="02020603050405020304" pitchFamily="18" charset="0"/>
          </a:endParaRPr>
        </a:p>
      </dgm:t>
    </dgm:pt>
    <dgm:pt modelId="{E524729C-C8DB-4EB1-9905-F15C5E1F4C7B}" type="parTrans" cxnId="{5921D34B-8834-4B3D-886F-3A7A78FD8C6E}">
      <dgm:prSet/>
      <dgm:spPr/>
      <dgm:t>
        <a:bodyPr/>
        <a:lstStyle/>
        <a:p>
          <a:endParaRPr lang="en-IN"/>
        </a:p>
      </dgm:t>
    </dgm:pt>
    <dgm:pt modelId="{1B767755-48A7-49CA-9322-2321364486FA}" type="sibTrans" cxnId="{5921D34B-8834-4B3D-886F-3A7A78FD8C6E}">
      <dgm:prSet/>
      <dgm:spPr/>
      <dgm:t>
        <a:bodyPr/>
        <a:lstStyle/>
        <a:p>
          <a:endParaRPr lang="en-IN"/>
        </a:p>
      </dgm:t>
    </dgm:pt>
    <dgm:pt modelId="{A583E120-3198-432A-BEB1-07EAB4597C8F}">
      <dgm:prSet custT="1"/>
      <dgm:spPr/>
      <dgm:t>
        <a:bodyPr/>
        <a:lstStyle/>
        <a:p>
          <a:r>
            <a:rPr lang="en-US" sz="2000" b="1" u="sng" dirty="0">
              <a:solidFill>
                <a:schemeClr val="tx1"/>
              </a:solidFill>
              <a:latin typeface="Times New Roman" panose="02020603050405020304" pitchFamily="18" charset="0"/>
              <a:cs typeface="Times New Roman" panose="02020603050405020304" pitchFamily="18" charset="0"/>
            </a:rPr>
            <a:t>Step 3</a:t>
          </a:r>
          <a:r>
            <a:rPr lang="en-US" sz="2000" b="1" u="none" dirty="0">
              <a:solidFill>
                <a:schemeClr val="tx1"/>
              </a:solidFill>
              <a:latin typeface="Times New Roman" panose="02020603050405020304" pitchFamily="18" charset="0"/>
              <a:cs typeface="Times New Roman" panose="02020603050405020304" pitchFamily="18" charset="0"/>
            </a:rPr>
            <a:t> : </a:t>
          </a:r>
          <a:r>
            <a:rPr lang="en-US" sz="2000" b="1" dirty="0">
              <a:solidFill>
                <a:schemeClr val="tx1"/>
              </a:solidFill>
              <a:latin typeface="Times New Roman" panose="02020603050405020304" pitchFamily="18" charset="0"/>
              <a:cs typeface="Times New Roman" panose="02020603050405020304" pitchFamily="18" charset="0"/>
            </a:rPr>
            <a:t>Calibration curve preparation</a:t>
          </a:r>
          <a:endParaRPr lang="en-IN" sz="2000" b="1" dirty="0">
            <a:solidFill>
              <a:schemeClr val="tx1"/>
            </a:solidFill>
            <a:latin typeface="Times New Roman" panose="02020603050405020304" pitchFamily="18" charset="0"/>
            <a:cs typeface="Times New Roman" panose="02020603050405020304" pitchFamily="18" charset="0"/>
          </a:endParaRPr>
        </a:p>
      </dgm:t>
    </dgm:pt>
    <dgm:pt modelId="{BC6AA565-E809-4E5C-914A-EFD04254FC67}" type="parTrans" cxnId="{D872B4DB-A359-4F1E-B6F9-598EF0DAAFB9}">
      <dgm:prSet/>
      <dgm:spPr/>
      <dgm:t>
        <a:bodyPr/>
        <a:lstStyle/>
        <a:p>
          <a:endParaRPr lang="en-IN"/>
        </a:p>
      </dgm:t>
    </dgm:pt>
    <dgm:pt modelId="{C8D7D0B3-481A-44B7-AF02-C1B5494B3042}" type="sibTrans" cxnId="{D872B4DB-A359-4F1E-B6F9-598EF0DAAFB9}">
      <dgm:prSet/>
      <dgm:spPr/>
      <dgm:t>
        <a:bodyPr/>
        <a:lstStyle/>
        <a:p>
          <a:endParaRPr lang="en-IN"/>
        </a:p>
      </dgm:t>
    </dgm:pt>
    <dgm:pt modelId="{688769D2-0F9D-40A9-AAA9-93076DC293EB}">
      <dgm:prSet custT="1"/>
      <dgm:spPr/>
      <dgm:t>
        <a:bodyPr/>
        <a:lstStyle/>
        <a:p>
          <a:r>
            <a:rPr lang="en-US" sz="2000" b="1" u="sng" dirty="0">
              <a:solidFill>
                <a:schemeClr val="tx1"/>
              </a:solidFill>
              <a:latin typeface="Times New Roman" panose="02020603050405020304" pitchFamily="18" charset="0"/>
              <a:cs typeface="Times New Roman" panose="02020603050405020304" pitchFamily="18" charset="0"/>
            </a:rPr>
            <a:t>Step 4</a:t>
          </a:r>
          <a:r>
            <a:rPr lang="en-US" sz="2000" b="1" u="none" dirty="0">
              <a:solidFill>
                <a:schemeClr val="tx1"/>
              </a:solidFill>
              <a:latin typeface="Times New Roman" panose="02020603050405020304" pitchFamily="18" charset="0"/>
              <a:cs typeface="Times New Roman" panose="02020603050405020304" pitchFamily="18" charset="0"/>
            </a:rPr>
            <a:t>  :  </a:t>
          </a:r>
          <a:r>
            <a:rPr lang="en-US" sz="2000" b="1" dirty="0">
              <a:solidFill>
                <a:schemeClr val="tx1"/>
              </a:solidFill>
              <a:latin typeface="Times New Roman" panose="02020603050405020304" pitchFamily="18" charset="0"/>
              <a:cs typeface="Times New Roman" panose="02020603050405020304" pitchFamily="18" charset="0"/>
            </a:rPr>
            <a:t>Preparation &amp; Dilution of beverage samples</a:t>
          </a:r>
          <a:endParaRPr lang="en-IN" sz="2000" b="1" dirty="0">
            <a:solidFill>
              <a:schemeClr val="tx1"/>
            </a:solidFill>
            <a:latin typeface="Times New Roman" panose="02020603050405020304" pitchFamily="18" charset="0"/>
            <a:cs typeface="Times New Roman" panose="02020603050405020304" pitchFamily="18" charset="0"/>
          </a:endParaRPr>
        </a:p>
      </dgm:t>
    </dgm:pt>
    <dgm:pt modelId="{1483C618-D60B-40F1-9AC7-FAD5CEE17699}" type="parTrans" cxnId="{FC48B523-5EF8-449E-8CDA-3457DF6FD88F}">
      <dgm:prSet/>
      <dgm:spPr/>
      <dgm:t>
        <a:bodyPr/>
        <a:lstStyle/>
        <a:p>
          <a:endParaRPr lang="en-IN"/>
        </a:p>
      </dgm:t>
    </dgm:pt>
    <dgm:pt modelId="{31BE3740-A5E1-46AB-9B38-60A4D065F4E3}" type="sibTrans" cxnId="{FC48B523-5EF8-449E-8CDA-3457DF6FD88F}">
      <dgm:prSet/>
      <dgm:spPr/>
      <dgm:t>
        <a:bodyPr/>
        <a:lstStyle/>
        <a:p>
          <a:endParaRPr lang="en-IN"/>
        </a:p>
      </dgm:t>
    </dgm:pt>
    <dgm:pt modelId="{75347A28-87E6-43AE-A632-82A31A877CA4}">
      <dgm:prSet/>
      <dgm:spPr/>
      <dgm:t>
        <a:bodyPr/>
        <a:lstStyle/>
        <a:p>
          <a:endParaRPr lang="en-IN"/>
        </a:p>
      </dgm:t>
    </dgm:pt>
    <dgm:pt modelId="{89F05AB2-0ECF-4CF8-8B85-2F297FA7B3A3}" type="parTrans" cxnId="{27EA29ED-7519-4732-A009-4764918356FB}">
      <dgm:prSet/>
      <dgm:spPr/>
      <dgm:t>
        <a:bodyPr/>
        <a:lstStyle/>
        <a:p>
          <a:endParaRPr lang="en-IN"/>
        </a:p>
      </dgm:t>
    </dgm:pt>
    <dgm:pt modelId="{849B22BE-1F00-40FB-836E-0356C486CE43}" type="sibTrans" cxnId="{27EA29ED-7519-4732-A009-4764918356FB}">
      <dgm:prSet/>
      <dgm:spPr/>
      <dgm:t>
        <a:bodyPr/>
        <a:lstStyle/>
        <a:p>
          <a:endParaRPr lang="en-IN"/>
        </a:p>
      </dgm:t>
    </dgm:pt>
    <dgm:pt modelId="{E2DFBD23-1520-4F27-81E6-0D91DDFCBCDE}">
      <dgm:prSet/>
      <dgm:spPr/>
      <dgm:t>
        <a:bodyPr/>
        <a:lstStyle/>
        <a:p>
          <a:endParaRPr lang="en-IN"/>
        </a:p>
      </dgm:t>
    </dgm:pt>
    <dgm:pt modelId="{53BD21BB-7D60-4469-8A2C-03AA60ED05B8}" type="parTrans" cxnId="{BDAFC366-A5F0-4DF7-9C1C-96383749301A}">
      <dgm:prSet/>
      <dgm:spPr/>
      <dgm:t>
        <a:bodyPr/>
        <a:lstStyle/>
        <a:p>
          <a:endParaRPr lang="en-IN"/>
        </a:p>
      </dgm:t>
    </dgm:pt>
    <dgm:pt modelId="{CC7867CE-ECFD-4386-A9E1-4743731462B6}" type="sibTrans" cxnId="{BDAFC366-A5F0-4DF7-9C1C-96383749301A}">
      <dgm:prSet/>
      <dgm:spPr/>
      <dgm:t>
        <a:bodyPr/>
        <a:lstStyle/>
        <a:p>
          <a:endParaRPr lang="en-IN"/>
        </a:p>
      </dgm:t>
    </dgm:pt>
    <dgm:pt modelId="{B9E32302-E7EE-4811-93EC-BAE3BE75739E}">
      <dgm:prSet/>
      <dgm:spPr/>
      <dgm:t>
        <a:bodyPr/>
        <a:lstStyle/>
        <a:p>
          <a:endParaRPr lang="en-IN"/>
        </a:p>
      </dgm:t>
    </dgm:pt>
    <dgm:pt modelId="{0C695DE0-D5CC-4A4D-A985-BD93D62CC198}" type="parTrans" cxnId="{3D242A93-91AA-42FE-8DB7-C296188DB5C0}">
      <dgm:prSet/>
      <dgm:spPr/>
      <dgm:t>
        <a:bodyPr/>
        <a:lstStyle/>
        <a:p>
          <a:endParaRPr lang="en-IN"/>
        </a:p>
      </dgm:t>
    </dgm:pt>
    <dgm:pt modelId="{EE214E69-68D5-4A79-9F76-AD5043229CC3}" type="sibTrans" cxnId="{3D242A93-91AA-42FE-8DB7-C296188DB5C0}">
      <dgm:prSet/>
      <dgm:spPr/>
      <dgm:t>
        <a:bodyPr/>
        <a:lstStyle/>
        <a:p>
          <a:endParaRPr lang="en-IN"/>
        </a:p>
      </dgm:t>
    </dgm:pt>
    <dgm:pt modelId="{6B2AC94D-355A-4E69-8955-C0455A8A30BD}">
      <dgm:prSet/>
      <dgm:spPr/>
      <dgm:t>
        <a:bodyPr/>
        <a:lstStyle/>
        <a:p>
          <a:endParaRPr lang="en-IN"/>
        </a:p>
      </dgm:t>
    </dgm:pt>
    <dgm:pt modelId="{2D4A7EDB-284F-40E9-90F8-90DA533AC020}" type="parTrans" cxnId="{0DFC112A-9E41-4E40-98D3-CE9E86BFF32D}">
      <dgm:prSet/>
      <dgm:spPr/>
      <dgm:t>
        <a:bodyPr/>
        <a:lstStyle/>
        <a:p>
          <a:endParaRPr lang="en-IN"/>
        </a:p>
      </dgm:t>
    </dgm:pt>
    <dgm:pt modelId="{1BBEF9F0-F0F4-4EF4-A95D-AE4E7ECAB075}" type="sibTrans" cxnId="{0DFC112A-9E41-4E40-98D3-CE9E86BFF32D}">
      <dgm:prSet/>
      <dgm:spPr/>
      <dgm:t>
        <a:bodyPr/>
        <a:lstStyle/>
        <a:p>
          <a:endParaRPr lang="en-IN"/>
        </a:p>
      </dgm:t>
    </dgm:pt>
    <dgm:pt modelId="{617FA6CD-31CD-4B0F-9669-5FB0E8036473}">
      <dgm:prSet/>
      <dgm:spPr/>
      <dgm:t>
        <a:bodyPr/>
        <a:lstStyle/>
        <a:p>
          <a:endParaRPr lang="en-IN"/>
        </a:p>
      </dgm:t>
    </dgm:pt>
    <dgm:pt modelId="{CC060B03-761F-426E-91B0-F65D37ADBF9D}" type="parTrans" cxnId="{7603B25B-1F83-4DF1-A680-FCD61543074A}">
      <dgm:prSet/>
      <dgm:spPr/>
      <dgm:t>
        <a:bodyPr/>
        <a:lstStyle/>
        <a:p>
          <a:endParaRPr lang="en-IN"/>
        </a:p>
      </dgm:t>
    </dgm:pt>
    <dgm:pt modelId="{4E371511-8527-4936-8F24-F9E5A420CA57}" type="sibTrans" cxnId="{7603B25B-1F83-4DF1-A680-FCD61543074A}">
      <dgm:prSet/>
      <dgm:spPr/>
      <dgm:t>
        <a:bodyPr/>
        <a:lstStyle/>
        <a:p>
          <a:endParaRPr lang="en-IN"/>
        </a:p>
      </dgm:t>
    </dgm:pt>
    <dgm:pt modelId="{4FE0EFE6-3BB4-40B3-B6DD-16ED85C33C10}" type="pres">
      <dgm:prSet presAssocID="{67EF0A9F-9D44-4F03-8E6B-3382D3A668C7}" presName="outerComposite" presStyleCnt="0">
        <dgm:presLayoutVars>
          <dgm:chMax val="5"/>
          <dgm:dir/>
          <dgm:resizeHandles val="exact"/>
        </dgm:presLayoutVars>
      </dgm:prSet>
      <dgm:spPr/>
    </dgm:pt>
    <dgm:pt modelId="{F23A2811-A0A6-4A7C-B4D9-90F938439193}" type="pres">
      <dgm:prSet presAssocID="{67EF0A9F-9D44-4F03-8E6B-3382D3A668C7}" presName="dummyMaxCanvas" presStyleCnt="0">
        <dgm:presLayoutVars/>
      </dgm:prSet>
      <dgm:spPr/>
    </dgm:pt>
    <dgm:pt modelId="{17AB5FCB-3098-41D3-98BE-33AAF714A591}" type="pres">
      <dgm:prSet presAssocID="{67EF0A9F-9D44-4F03-8E6B-3382D3A668C7}" presName="FiveNodes_1" presStyleLbl="node1" presStyleIdx="0" presStyleCnt="5">
        <dgm:presLayoutVars>
          <dgm:bulletEnabled val="1"/>
        </dgm:presLayoutVars>
      </dgm:prSet>
      <dgm:spPr/>
    </dgm:pt>
    <dgm:pt modelId="{66DF4796-EC14-437C-B0D6-2D40849B992C}" type="pres">
      <dgm:prSet presAssocID="{67EF0A9F-9D44-4F03-8E6B-3382D3A668C7}" presName="FiveNodes_2" presStyleLbl="node1" presStyleIdx="1" presStyleCnt="5">
        <dgm:presLayoutVars>
          <dgm:bulletEnabled val="1"/>
        </dgm:presLayoutVars>
      </dgm:prSet>
      <dgm:spPr/>
    </dgm:pt>
    <dgm:pt modelId="{A10F1EC7-C7A5-4448-8EFD-3D0016B74C85}" type="pres">
      <dgm:prSet presAssocID="{67EF0A9F-9D44-4F03-8E6B-3382D3A668C7}" presName="FiveNodes_3" presStyleLbl="node1" presStyleIdx="2" presStyleCnt="5">
        <dgm:presLayoutVars>
          <dgm:bulletEnabled val="1"/>
        </dgm:presLayoutVars>
      </dgm:prSet>
      <dgm:spPr/>
    </dgm:pt>
    <dgm:pt modelId="{DFCB06AE-C3F3-4416-AFC3-386D72659953}" type="pres">
      <dgm:prSet presAssocID="{67EF0A9F-9D44-4F03-8E6B-3382D3A668C7}" presName="FiveNodes_4" presStyleLbl="node1" presStyleIdx="3" presStyleCnt="5">
        <dgm:presLayoutVars>
          <dgm:bulletEnabled val="1"/>
        </dgm:presLayoutVars>
      </dgm:prSet>
      <dgm:spPr/>
    </dgm:pt>
    <dgm:pt modelId="{7BB25B19-01FA-4157-9FB0-2C4023B0D426}" type="pres">
      <dgm:prSet presAssocID="{67EF0A9F-9D44-4F03-8E6B-3382D3A668C7}" presName="FiveNodes_5" presStyleLbl="node1" presStyleIdx="4" presStyleCnt="5" custScaleY="101190" custLinFactNeighborX="-456" custLinFactNeighborY="0">
        <dgm:presLayoutVars>
          <dgm:bulletEnabled val="1"/>
        </dgm:presLayoutVars>
      </dgm:prSet>
      <dgm:spPr/>
    </dgm:pt>
    <dgm:pt modelId="{61DA046F-8F66-43C4-8E4F-3FC39659DE49}" type="pres">
      <dgm:prSet presAssocID="{67EF0A9F-9D44-4F03-8E6B-3382D3A668C7}" presName="FiveConn_1-2" presStyleLbl="fgAccFollowNode1" presStyleIdx="0" presStyleCnt="4">
        <dgm:presLayoutVars>
          <dgm:bulletEnabled val="1"/>
        </dgm:presLayoutVars>
      </dgm:prSet>
      <dgm:spPr/>
    </dgm:pt>
    <dgm:pt modelId="{2CB3F874-D9A1-4B9A-B876-23894C7B3624}" type="pres">
      <dgm:prSet presAssocID="{67EF0A9F-9D44-4F03-8E6B-3382D3A668C7}" presName="FiveConn_2-3" presStyleLbl="fgAccFollowNode1" presStyleIdx="1" presStyleCnt="4">
        <dgm:presLayoutVars>
          <dgm:bulletEnabled val="1"/>
        </dgm:presLayoutVars>
      </dgm:prSet>
      <dgm:spPr/>
    </dgm:pt>
    <dgm:pt modelId="{49CDB9E1-C2BE-4D8D-A713-E8831D38777C}" type="pres">
      <dgm:prSet presAssocID="{67EF0A9F-9D44-4F03-8E6B-3382D3A668C7}" presName="FiveConn_3-4" presStyleLbl="fgAccFollowNode1" presStyleIdx="2" presStyleCnt="4">
        <dgm:presLayoutVars>
          <dgm:bulletEnabled val="1"/>
        </dgm:presLayoutVars>
      </dgm:prSet>
      <dgm:spPr/>
    </dgm:pt>
    <dgm:pt modelId="{8BD8DB81-4D6B-4D0F-AC06-E363C0065847}" type="pres">
      <dgm:prSet presAssocID="{67EF0A9F-9D44-4F03-8E6B-3382D3A668C7}" presName="FiveConn_4-5" presStyleLbl="fgAccFollowNode1" presStyleIdx="3" presStyleCnt="4">
        <dgm:presLayoutVars>
          <dgm:bulletEnabled val="1"/>
        </dgm:presLayoutVars>
      </dgm:prSet>
      <dgm:spPr/>
    </dgm:pt>
    <dgm:pt modelId="{F870381D-CA5C-4C9D-BD49-0314635233CC}" type="pres">
      <dgm:prSet presAssocID="{67EF0A9F-9D44-4F03-8E6B-3382D3A668C7}" presName="FiveNodes_1_text" presStyleLbl="node1" presStyleIdx="4" presStyleCnt="5">
        <dgm:presLayoutVars>
          <dgm:bulletEnabled val="1"/>
        </dgm:presLayoutVars>
      </dgm:prSet>
      <dgm:spPr/>
    </dgm:pt>
    <dgm:pt modelId="{0B24F9E4-62F3-4FDB-974D-2CC395D707CD}" type="pres">
      <dgm:prSet presAssocID="{67EF0A9F-9D44-4F03-8E6B-3382D3A668C7}" presName="FiveNodes_2_text" presStyleLbl="node1" presStyleIdx="4" presStyleCnt="5">
        <dgm:presLayoutVars>
          <dgm:bulletEnabled val="1"/>
        </dgm:presLayoutVars>
      </dgm:prSet>
      <dgm:spPr/>
    </dgm:pt>
    <dgm:pt modelId="{69DF55AA-3067-416F-8BFD-B839840CB71B}" type="pres">
      <dgm:prSet presAssocID="{67EF0A9F-9D44-4F03-8E6B-3382D3A668C7}" presName="FiveNodes_3_text" presStyleLbl="node1" presStyleIdx="4" presStyleCnt="5">
        <dgm:presLayoutVars>
          <dgm:bulletEnabled val="1"/>
        </dgm:presLayoutVars>
      </dgm:prSet>
      <dgm:spPr/>
    </dgm:pt>
    <dgm:pt modelId="{DB96F796-CDC4-420E-A4A7-3E1C23A8ACF4}" type="pres">
      <dgm:prSet presAssocID="{67EF0A9F-9D44-4F03-8E6B-3382D3A668C7}" presName="FiveNodes_4_text" presStyleLbl="node1" presStyleIdx="4" presStyleCnt="5">
        <dgm:presLayoutVars>
          <dgm:bulletEnabled val="1"/>
        </dgm:presLayoutVars>
      </dgm:prSet>
      <dgm:spPr/>
    </dgm:pt>
    <dgm:pt modelId="{0D44E1AC-E5C6-4D15-9C75-6CB608A7351E}" type="pres">
      <dgm:prSet presAssocID="{67EF0A9F-9D44-4F03-8E6B-3382D3A668C7}" presName="FiveNodes_5_text" presStyleLbl="node1" presStyleIdx="4" presStyleCnt="5">
        <dgm:presLayoutVars>
          <dgm:bulletEnabled val="1"/>
        </dgm:presLayoutVars>
      </dgm:prSet>
      <dgm:spPr/>
    </dgm:pt>
  </dgm:ptLst>
  <dgm:cxnLst>
    <dgm:cxn modelId="{B460B300-C9CC-4CBF-80B3-A917D89F3F7F}" type="presOf" srcId="{09D3170B-80AB-4E3D-9D39-9F14FB366D09}" destId="{0D44E1AC-E5C6-4D15-9C75-6CB608A7351E}" srcOrd="1" destOrd="2" presId="urn:microsoft.com/office/officeart/2005/8/layout/vProcess5"/>
    <dgm:cxn modelId="{422FC705-FADF-4276-953C-629E22F9ABD2}" srcId="{67EF0A9F-9D44-4F03-8E6B-3382D3A668C7}" destId="{5410E4A8-9762-4DDB-BC73-B2CE050E1573}" srcOrd="4" destOrd="0" parTransId="{643C4DD3-6671-4AA2-BE7D-F01CEFB6A2AB}" sibTransId="{6FE069C3-C564-4050-9905-3033F78F7B19}"/>
    <dgm:cxn modelId="{116DC511-2695-4580-B09A-8757EC649D68}" type="presOf" srcId="{DCC6D6CF-0C9B-497C-9759-9BE8C52B22AF}" destId="{F870381D-CA5C-4C9D-BD49-0314635233CC}" srcOrd="1" destOrd="0" presId="urn:microsoft.com/office/officeart/2005/8/layout/vProcess5"/>
    <dgm:cxn modelId="{FC48B523-5EF8-449E-8CDA-3457DF6FD88F}" srcId="{67EF0A9F-9D44-4F03-8E6B-3382D3A668C7}" destId="{688769D2-0F9D-40A9-AAA9-93076DC293EB}" srcOrd="3" destOrd="0" parTransId="{1483C618-D60B-40F1-9AC7-FAD5CEE17699}" sibTransId="{31BE3740-A5E1-46AB-9B38-60A4D065F4E3}"/>
    <dgm:cxn modelId="{C0031426-B8E3-4515-AB26-190C14169869}" srcId="{67EF0A9F-9D44-4F03-8E6B-3382D3A668C7}" destId="{A0265601-DD8E-438A-8B94-D2C146CAC57B}" srcOrd="12" destOrd="0" parTransId="{F82F96C6-7287-4CD1-BF81-FDE7DFF9B079}" sibTransId="{8E4576BC-71F0-4704-98B4-F5600DA2130C}"/>
    <dgm:cxn modelId="{F709B926-9876-45DB-B678-CEC9C20B0AEA}" type="presOf" srcId="{5410E4A8-9762-4DDB-BC73-B2CE050E1573}" destId="{7BB25B19-01FA-4157-9FB0-2C4023B0D426}" srcOrd="0" destOrd="0" presId="urn:microsoft.com/office/officeart/2005/8/layout/vProcess5"/>
    <dgm:cxn modelId="{0DFC112A-9E41-4E40-98D3-CE9E86BFF32D}" srcId="{67EF0A9F-9D44-4F03-8E6B-3382D3A668C7}" destId="{6B2AC94D-355A-4E69-8955-C0455A8A30BD}" srcOrd="8" destOrd="0" parTransId="{2D4A7EDB-284F-40E9-90F8-90DA533AC020}" sibTransId="{1BBEF9F0-F0F4-4EF4-A95D-AE4E7ECAB075}"/>
    <dgm:cxn modelId="{D7A30B33-B187-4016-902B-171C493061AD}" type="presOf" srcId="{688769D2-0F9D-40A9-AAA9-93076DC293EB}" destId="{DFCB06AE-C3F3-4416-AFC3-386D72659953}" srcOrd="0" destOrd="0" presId="urn:microsoft.com/office/officeart/2005/8/layout/vProcess5"/>
    <dgm:cxn modelId="{463F9A33-E610-415E-8C0E-588DF8A17B1B}" srcId="{67EF0A9F-9D44-4F03-8E6B-3382D3A668C7}" destId="{67950493-80CC-4CDE-895B-17BF4D84D129}" srcOrd="10" destOrd="0" parTransId="{0695D80C-6255-4E43-9B8E-16554B38A43D}" sibTransId="{861DDC88-1E8B-40B9-A620-529ABA977ABD}"/>
    <dgm:cxn modelId="{F06B3A3B-F79F-4757-A7F2-87FF8E35DD09}" srcId="{67EF0A9F-9D44-4F03-8E6B-3382D3A668C7}" destId="{C4644B1B-8D12-4EC3-8DD4-E9793F779315}" srcOrd="11" destOrd="0" parTransId="{46700FA8-64D8-4886-B8FF-C9BED24DF6A1}" sibTransId="{2A973B1E-21D9-487C-94F9-3E505EF06495}"/>
    <dgm:cxn modelId="{7603B25B-1F83-4DF1-A680-FCD61543074A}" srcId="{67EF0A9F-9D44-4F03-8E6B-3382D3A668C7}" destId="{617FA6CD-31CD-4B0F-9669-5FB0E8036473}" srcOrd="9" destOrd="0" parTransId="{CC060B03-761F-426E-91B0-F65D37ADBF9D}" sibTransId="{4E371511-8527-4936-8F24-F9E5A420CA57}"/>
    <dgm:cxn modelId="{0B9A125C-B4E4-41D3-ADDA-3E6310193D54}" srcId="{5410E4A8-9762-4DDB-BC73-B2CE050E1573}" destId="{05F73B65-E985-4E7D-B8B0-ECD2C48EE126}" srcOrd="0" destOrd="0" parTransId="{ED9AD0DE-95E7-47A3-AD3E-107937AC6C47}" sibTransId="{D131016D-A042-4354-8FB3-BEACFD6B4491}"/>
    <dgm:cxn modelId="{63FC1C46-3846-4E29-8F5A-A07B83C023E2}" type="presOf" srcId="{688769D2-0F9D-40A9-AAA9-93076DC293EB}" destId="{DB96F796-CDC4-420E-A4A7-3E1C23A8ACF4}" srcOrd="1" destOrd="0" presId="urn:microsoft.com/office/officeart/2005/8/layout/vProcess5"/>
    <dgm:cxn modelId="{BDAFC366-A5F0-4DF7-9C1C-96383749301A}" srcId="{67EF0A9F-9D44-4F03-8E6B-3382D3A668C7}" destId="{E2DFBD23-1520-4F27-81E6-0D91DDFCBCDE}" srcOrd="6" destOrd="0" parTransId="{53BD21BB-7D60-4469-8A2C-03AA60ED05B8}" sibTransId="{CC7867CE-ECFD-4386-A9E1-4743731462B6}"/>
    <dgm:cxn modelId="{5921D34B-8834-4B3D-886F-3A7A78FD8C6E}" srcId="{67EF0A9F-9D44-4F03-8E6B-3382D3A668C7}" destId="{234AD294-C0DE-4018-9D01-BC24C45607EF}" srcOrd="1" destOrd="0" parTransId="{E524729C-C8DB-4EB1-9905-F15C5E1F4C7B}" sibTransId="{1B767755-48A7-49CA-9322-2321364486FA}"/>
    <dgm:cxn modelId="{007E7A70-2E09-4B8E-9689-7D6A7C0F26F1}" type="presOf" srcId="{31BE3740-A5E1-46AB-9B38-60A4D065F4E3}" destId="{8BD8DB81-4D6B-4D0F-AC06-E363C0065847}" srcOrd="0" destOrd="0" presId="urn:microsoft.com/office/officeart/2005/8/layout/vProcess5"/>
    <dgm:cxn modelId="{0BE40B52-C394-486C-82FA-5F5C0FC0C8D8}" srcId="{5410E4A8-9762-4DDB-BC73-B2CE050E1573}" destId="{09D3170B-80AB-4E3D-9D39-9F14FB366D09}" srcOrd="1" destOrd="0" parTransId="{AB154CD6-F877-48D2-92CB-EA3E65B9FA84}" sibTransId="{00984210-B65B-4A41-86DA-4E54D57B1713}"/>
    <dgm:cxn modelId="{335F2076-43A9-4A3A-B020-F161B8A5F05E}" type="presOf" srcId="{A583E120-3198-432A-BEB1-07EAB4597C8F}" destId="{A10F1EC7-C7A5-4448-8EFD-3D0016B74C85}" srcOrd="0" destOrd="0" presId="urn:microsoft.com/office/officeart/2005/8/layout/vProcess5"/>
    <dgm:cxn modelId="{3A92917B-23CB-4F62-A756-B48EC8AEE0ED}" type="presOf" srcId="{234AD294-C0DE-4018-9D01-BC24C45607EF}" destId="{0B24F9E4-62F3-4FDB-974D-2CC395D707CD}" srcOrd="1" destOrd="0" presId="urn:microsoft.com/office/officeart/2005/8/layout/vProcess5"/>
    <dgm:cxn modelId="{83A90081-BF13-429B-B355-7BEC13E0B3E2}" type="presOf" srcId="{A583E120-3198-432A-BEB1-07EAB4597C8F}" destId="{69DF55AA-3067-416F-8BFD-B839840CB71B}" srcOrd="1" destOrd="0" presId="urn:microsoft.com/office/officeart/2005/8/layout/vProcess5"/>
    <dgm:cxn modelId="{3D242A93-91AA-42FE-8DB7-C296188DB5C0}" srcId="{67EF0A9F-9D44-4F03-8E6B-3382D3A668C7}" destId="{B9E32302-E7EE-4811-93EC-BAE3BE75739E}" srcOrd="7" destOrd="0" parTransId="{0C695DE0-D5CC-4A4D-A985-BD93D62CC198}" sibTransId="{EE214E69-68D5-4A79-9F76-AD5043229CC3}"/>
    <dgm:cxn modelId="{FC74159E-2828-4067-A010-B3EBBB6EAB44}" type="presOf" srcId="{09D3170B-80AB-4E3D-9D39-9F14FB366D09}" destId="{7BB25B19-01FA-4157-9FB0-2C4023B0D426}" srcOrd="0" destOrd="2" presId="urn:microsoft.com/office/officeart/2005/8/layout/vProcess5"/>
    <dgm:cxn modelId="{69944EB0-17DD-400F-8594-BC91AAEA6A17}" type="presOf" srcId="{C8D7D0B3-481A-44B7-AF02-C1B5494B3042}" destId="{49CDB9E1-C2BE-4D8D-A713-E8831D38777C}" srcOrd="0" destOrd="0" presId="urn:microsoft.com/office/officeart/2005/8/layout/vProcess5"/>
    <dgm:cxn modelId="{6B811BB5-4B43-4210-8BC2-4EC9EA5A30A9}" srcId="{67EF0A9F-9D44-4F03-8E6B-3382D3A668C7}" destId="{35B2C466-804E-4C7A-A45D-6CC608BDB91C}" srcOrd="14" destOrd="0" parTransId="{DEC2BE35-7708-46D1-A780-647608F60D66}" sibTransId="{7C6F1FA5-A2C6-4479-990B-2F9C95F0425A}"/>
    <dgm:cxn modelId="{159286BC-595C-4062-A633-514D5E9C5094}" type="presOf" srcId="{67EF0A9F-9D44-4F03-8E6B-3382D3A668C7}" destId="{4FE0EFE6-3BB4-40B3-B6DD-16ED85C33C10}" srcOrd="0" destOrd="0" presId="urn:microsoft.com/office/officeart/2005/8/layout/vProcess5"/>
    <dgm:cxn modelId="{A5E4E7D1-CC70-41B0-B681-51C16B684A31}" srcId="{67EF0A9F-9D44-4F03-8E6B-3382D3A668C7}" destId="{DCC6D6CF-0C9B-497C-9759-9BE8C52B22AF}" srcOrd="0" destOrd="0" parTransId="{39D93E91-62A6-421C-9DB2-0085333102E2}" sibTransId="{06AF64EB-D903-44F1-A020-0729226D26CE}"/>
    <dgm:cxn modelId="{3BCF72D2-D986-493A-BFA2-A7DD6DC8DA6C}" type="presOf" srcId="{06AF64EB-D903-44F1-A020-0729226D26CE}" destId="{61DA046F-8F66-43C4-8E4F-3FC39659DE49}" srcOrd="0" destOrd="0" presId="urn:microsoft.com/office/officeart/2005/8/layout/vProcess5"/>
    <dgm:cxn modelId="{B140A3D5-2AD9-42E2-9ED0-8542E2CECAF8}" type="presOf" srcId="{05F73B65-E985-4E7D-B8B0-ECD2C48EE126}" destId="{7BB25B19-01FA-4157-9FB0-2C4023B0D426}" srcOrd="0" destOrd="1" presId="urn:microsoft.com/office/officeart/2005/8/layout/vProcess5"/>
    <dgm:cxn modelId="{56D6B7D5-0D18-41CA-8E6E-AB571E126D85}" type="presOf" srcId="{5410E4A8-9762-4DDB-BC73-B2CE050E1573}" destId="{0D44E1AC-E5C6-4D15-9C75-6CB608A7351E}" srcOrd="1" destOrd="0" presId="urn:microsoft.com/office/officeart/2005/8/layout/vProcess5"/>
    <dgm:cxn modelId="{D872B4DB-A359-4F1E-B6F9-598EF0DAAFB9}" srcId="{67EF0A9F-9D44-4F03-8E6B-3382D3A668C7}" destId="{A583E120-3198-432A-BEB1-07EAB4597C8F}" srcOrd="2" destOrd="0" parTransId="{BC6AA565-E809-4E5C-914A-EFD04254FC67}" sibTransId="{C8D7D0B3-481A-44B7-AF02-C1B5494B3042}"/>
    <dgm:cxn modelId="{B995D4E3-1DB4-4AE2-A74C-A4EF37CED5DE}" srcId="{67EF0A9F-9D44-4F03-8E6B-3382D3A668C7}" destId="{076E97A4-4714-4604-A1EE-12C82C3AE77C}" srcOrd="13" destOrd="0" parTransId="{93393850-39A6-4521-904A-EABEB93CE7EB}" sibTransId="{61F788A3-3F91-49F0-8098-E25290E87DCC}"/>
    <dgm:cxn modelId="{4BB943E4-E202-481A-BEBC-EA269F2190F1}" type="presOf" srcId="{234AD294-C0DE-4018-9D01-BC24C45607EF}" destId="{66DF4796-EC14-437C-B0D6-2D40849B992C}" srcOrd="0" destOrd="0" presId="urn:microsoft.com/office/officeart/2005/8/layout/vProcess5"/>
    <dgm:cxn modelId="{8B8CD8EC-4122-48AA-BE01-952A1D50FE88}" srcId="{67EF0A9F-9D44-4F03-8E6B-3382D3A668C7}" destId="{92334FDB-1BA6-4FE1-A9F4-8C72FB5AC4E0}" srcOrd="15" destOrd="0" parTransId="{02772BB4-0201-439F-945F-415489DC10A9}" sibTransId="{4B67D805-7CB6-4730-8F69-F9172FE31C20}"/>
    <dgm:cxn modelId="{27EA29ED-7519-4732-A009-4764918356FB}" srcId="{67EF0A9F-9D44-4F03-8E6B-3382D3A668C7}" destId="{75347A28-87E6-43AE-A632-82A31A877CA4}" srcOrd="5" destOrd="0" parTransId="{89F05AB2-0ECF-4CF8-8B85-2F297FA7B3A3}" sibTransId="{849B22BE-1F00-40FB-836E-0356C486CE43}"/>
    <dgm:cxn modelId="{61BC42F4-F798-429D-A5EE-440FC27B14B8}" type="presOf" srcId="{DCC6D6CF-0C9B-497C-9759-9BE8C52B22AF}" destId="{17AB5FCB-3098-41D3-98BE-33AAF714A591}" srcOrd="0" destOrd="0" presId="urn:microsoft.com/office/officeart/2005/8/layout/vProcess5"/>
    <dgm:cxn modelId="{32AEC8FA-BFAD-41DB-9F88-46E7D32229C8}" type="presOf" srcId="{05F73B65-E985-4E7D-B8B0-ECD2C48EE126}" destId="{0D44E1AC-E5C6-4D15-9C75-6CB608A7351E}" srcOrd="1" destOrd="1" presId="urn:microsoft.com/office/officeart/2005/8/layout/vProcess5"/>
    <dgm:cxn modelId="{34C15DFF-2D5F-4214-B22F-9F7A59B1797D}" type="presOf" srcId="{1B767755-48A7-49CA-9322-2321364486FA}" destId="{2CB3F874-D9A1-4B9A-B876-23894C7B3624}" srcOrd="0" destOrd="0" presId="urn:microsoft.com/office/officeart/2005/8/layout/vProcess5"/>
    <dgm:cxn modelId="{428F76A4-2D45-45AC-9169-3D8C7F9E19C6}" type="presParOf" srcId="{4FE0EFE6-3BB4-40B3-B6DD-16ED85C33C10}" destId="{F23A2811-A0A6-4A7C-B4D9-90F938439193}" srcOrd="0" destOrd="0" presId="urn:microsoft.com/office/officeart/2005/8/layout/vProcess5"/>
    <dgm:cxn modelId="{A65DB119-0896-4116-B8BC-6006D40EDC98}" type="presParOf" srcId="{4FE0EFE6-3BB4-40B3-B6DD-16ED85C33C10}" destId="{17AB5FCB-3098-41D3-98BE-33AAF714A591}" srcOrd="1" destOrd="0" presId="urn:microsoft.com/office/officeart/2005/8/layout/vProcess5"/>
    <dgm:cxn modelId="{FCB41300-3D06-4653-B285-1F874FCC92CE}" type="presParOf" srcId="{4FE0EFE6-3BB4-40B3-B6DD-16ED85C33C10}" destId="{66DF4796-EC14-437C-B0D6-2D40849B992C}" srcOrd="2" destOrd="0" presId="urn:microsoft.com/office/officeart/2005/8/layout/vProcess5"/>
    <dgm:cxn modelId="{90208FB7-9AA0-40A8-B5BD-C2E8369AAD59}" type="presParOf" srcId="{4FE0EFE6-3BB4-40B3-B6DD-16ED85C33C10}" destId="{A10F1EC7-C7A5-4448-8EFD-3D0016B74C85}" srcOrd="3" destOrd="0" presId="urn:microsoft.com/office/officeart/2005/8/layout/vProcess5"/>
    <dgm:cxn modelId="{5C2D92CF-96BF-4989-9F73-DFE6B281ED01}" type="presParOf" srcId="{4FE0EFE6-3BB4-40B3-B6DD-16ED85C33C10}" destId="{DFCB06AE-C3F3-4416-AFC3-386D72659953}" srcOrd="4" destOrd="0" presId="urn:microsoft.com/office/officeart/2005/8/layout/vProcess5"/>
    <dgm:cxn modelId="{3E449DF5-3269-46AF-943F-B99B48BCE8ED}" type="presParOf" srcId="{4FE0EFE6-3BB4-40B3-B6DD-16ED85C33C10}" destId="{7BB25B19-01FA-4157-9FB0-2C4023B0D426}" srcOrd="5" destOrd="0" presId="urn:microsoft.com/office/officeart/2005/8/layout/vProcess5"/>
    <dgm:cxn modelId="{2A424A41-7594-4E4A-A436-FCE39EA165FA}" type="presParOf" srcId="{4FE0EFE6-3BB4-40B3-B6DD-16ED85C33C10}" destId="{61DA046F-8F66-43C4-8E4F-3FC39659DE49}" srcOrd="6" destOrd="0" presId="urn:microsoft.com/office/officeart/2005/8/layout/vProcess5"/>
    <dgm:cxn modelId="{ED02551C-2242-456B-9878-3B0B33B9C3EC}" type="presParOf" srcId="{4FE0EFE6-3BB4-40B3-B6DD-16ED85C33C10}" destId="{2CB3F874-D9A1-4B9A-B876-23894C7B3624}" srcOrd="7" destOrd="0" presId="urn:microsoft.com/office/officeart/2005/8/layout/vProcess5"/>
    <dgm:cxn modelId="{64E2677E-D286-4731-AE1E-E8BF674FC738}" type="presParOf" srcId="{4FE0EFE6-3BB4-40B3-B6DD-16ED85C33C10}" destId="{49CDB9E1-C2BE-4D8D-A713-E8831D38777C}" srcOrd="8" destOrd="0" presId="urn:microsoft.com/office/officeart/2005/8/layout/vProcess5"/>
    <dgm:cxn modelId="{75EEC43F-AEA5-4BC9-8E31-22E7F0FA2836}" type="presParOf" srcId="{4FE0EFE6-3BB4-40B3-B6DD-16ED85C33C10}" destId="{8BD8DB81-4D6B-4D0F-AC06-E363C0065847}" srcOrd="9" destOrd="0" presId="urn:microsoft.com/office/officeart/2005/8/layout/vProcess5"/>
    <dgm:cxn modelId="{77CB6A19-02F9-4A11-8D44-8D14DD87698D}" type="presParOf" srcId="{4FE0EFE6-3BB4-40B3-B6DD-16ED85C33C10}" destId="{F870381D-CA5C-4C9D-BD49-0314635233CC}" srcOrd="10" destOrd="0" presId="urn:microsoft.com/office/officeart/2005/8/layout/vProcess5"/>
    <dgm:cxn modelId="{AF4051CD-4888-40E0-AFF3-8D6C1A36DBDE}" type="presParOf" srcId="{4FE0EFE6-3BB4-40B3-B6DD-16ED85C33C10}" destId="{0B24F9E4-62F3-4FDB-974D-2CC395D707CD}" srcOrd="11" destOrd="0" presId="urn:microsoft.com/office/officeart/2005/8/layout/vProcess5"/>
    <dgm:cxn modelId="{B21822C8-F61C-4AFA-B47F-EFF264A0800F}" type="presParOf" srcId="{4FE0EFE6-3BB4-40B3-B6DD-16ED85C33C10}" destId="{69DF55AA-3067-416F-8BFD-B839840CB71B}" srcOrd="12" destOrd="0" presId="urn:microsoft.com/office/officeart/2005/8/layout/vProcess5"/>
    <dgm:cxn modelId="{01242103-646E-4209-B8AE-965F4713C706}" type="presParOf" srcId="{4FE0EFE6-3BB4-40B3-B6DD-16ED85C33C10}" destId="{DB96F796-CDC4-420E-A4A7-3E1C23A8ACF4}" srcOrd="13" destOrd="0" presId="urn:microsoft.com/office/officeart/2005/8/layout/vProcess5"/>
    <dgm:cxn modelId="{58722D17-A69A-4C16-85DF-A4C8CA85FD97}" type="presParOf" srcId="{4FE0EFE6-3BB4-40B3-B6DD-16ED85C33C10}" destId="{0D44E1AC-E5C6-4D15-9C75-6CB608A7351E}"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AB5FCB-3098-41D3-98BE-33AAF714A591}">
      <dsp:nvSpPr>
        <dsp:cNvPr id="0" name=""/>
        <dsp:cNvSpPr/>
      </dsp:nvSpPr>
      <dsp:spPr>
        <a:xfrm>
          <a:off x="0" y="-2985"/>
          <a:ext cx="8192501" cy="1003429"/>
        </a:xfrm>
        <a:prstGeom prst="roundRect">
          <a:avLst>
            <a:gd name="adj" fmla="val 10000"/>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u="sng" kern="1200" dirty="0">
              <a:solidFill>
                <a:schemeClr val="tx1"/>
              </a:solidFill>
              <a:latin typeface="Times New Roman" panose="02020603050405020304" pitchFamily="18" charset="0"/>
              <a:cs typeface="Times New Roman" panose="02020603050405020304" pitchFamily="18" charset="0"/>
            </a:rPr>
            <a:t>Step 1</a:t>
          </a:r>
          <a:r>
            <a:rPr lang="en-US" sz="2000" b="1" u="none" kern="1200" dirty="0">
              <a:solidFill>
                <a:schemeClr val="tx1"/>
              </a:solidFill>
              <a:latin typeface="Times New Roman" panose="02020603050405020304" pitchFamily="18" charset="0"/>
              <a:cs typeface="Times New Roman" panose="02020603050405020304" pitchFamily="18" charset="0"/>
            </a:rPr>
            <a:t> : </a:t>
          </a:r>
          <a:r>
            <a:rPr lang="en-US" sz="2000" b="1" kern="1200" dirty="0">
              <a:solidFill>
                <a:schemeClr val="tx1"/>
              </a:solidFill>
              <a:latin typeface="Times New Roman" panose="02020603050405020304" pitchFamily="18" charset="0"/>
              <a:cs typeface="Times New Roman" panose="02020603050405020304" pitchFamily="18" charset="0"/>
            </a:rPr>
            <a:t>Standard caffeine solution preparation</a:t>
          </a:r>
          <a:endParaRPr lang="en-IN" sz="2000" b="1" kern="1200" dirty="0">
            <a:solidFill>
              <a:schemeClr val="tx1"/>
            </a:solidFill>
            <a:latin typeface="Times New Roman" panose="02020603050405020304" pitchFamily="18" charset="0"/>
            <a:cs typeface="Times New Roman" panose="02020603050405020304" pitchFamily="18" charset="0"/>
          </a:endParaRPr>
        </a:p>
      </dsp:txBody>
      <dsp:txXfrm>
        <a:off x="29389" y="26404"/>
        <a:ext cx="6992322" cy="944651"/>
      </dsp:txXfrm>
    </dsp:sp>
    <dsp:sp modelId="{66DF4796-EC14-437C-B0D6-2D40849B992C}">
      <dsp:nvSpPr>
        <dsp:cNvPr id="0" name=""/>
        <dsp:cNvSpPr/>
      </dsp:nvSpPr>
      <dsp:spPr>
        <a:xfrm>
          <a:off x="611777" y="1139809"/>
          <a:ext cx="8192501" cy="1003429"/>
        </a:xfrm>
        <a:prstGeom prst="roundRect">
          <a:avLst>
            <a:gd name="adj" fmla="val 10000"/>
          </a:avLst>
        </a:prstGeom>
        <a:gradFill rotWithShape="0">
          <a:gsLst>
            <a:gs pos="0">
              <a:schemeClr val="accent2">
                <a:hueOff val="113291"/>
                <a:satOff val="-11998"/>
                <a:lumOff val="-294"/>
                <a:alphaOff val="0"/>
                <a:tint val="96000"/>
                <a:lumMod val="104000"/>
              </a:schemeClr>
            </a:gs>
            <a:gs pos="100000">
              <a:schemeClr val="accent2">
                <a:hueOff val="113291"/>
                <a:satOff val="-11998"/>
                <a:lumOff val="-294"/>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u="sng" kern="1200" dirty="0">
              <a:solidFill>
                <a:schemeClr val="tx1"/>
              </a:solidFill>
              <a:latin typeface="Times New Roman" panose="02020603050405020304" pitchFamily="18" charset="0"/>
              <a:cs typeface="Times New Roman" panose="02020603050405020304" pitchFamily="18" charset="0"/>
            </a:rPr>
            <a:t>Step 2</a:t>
          </a:r>
          <a:r>
            <a:rPr lang="en-US" sz="2000" b="1" u="none" kern="1200" dirty="0">
              <a:solidFill>
                <a:schemeClr val="tx1"/>
              </a:solidFill>
              <a:latin typeface="Times New Roman" panose="02020603050405020304" pitchFamily="18" charset="0"/>
              <a:cs typeface="Times New Roman" panose="02020603050405020304" pitchFamily="18" charset="0"/>
            </a:rPr>
            <a:t> : </a:t>
          </a:r>
          <a:r>
            <a:rPr lang="en-US" sz="2000" b="1" kern="1200" dirty="0">
              <a:solidFill>
                <a:schemeClr val="tx1"/>
              </a:solidFill>
              <a:latin typeface="Times New Roman" panose="02020603050405020304" pitchFamily="18" charset="0"/>
              <a:cs typeface="Times New Roman" panose="02020603050405020304" pitchFamily="18" charset="0"/>
            </a:rPr>
            <a:t>Determination of </a:t>
          </a:r>
          <a:r>
            <a:rPr lang="en-US" sz="2000" b="1" kern="1200" dirty="0" err="1">
              <a:solidFill>
                <a:schemeClr val="tx1"/>
              </a:solidFill>
              <a:latin typeface="Times New Roman" panose="02020603050405020304" pitchFamily="18" charset="0"/>
              <a:cs typeface="Times New Roman" panose="02020603050405020304" pitchFamily="18" charset="0"/>
            </a:rPr>
            <a:t>λmax</a:t>
          </a:r>
          <a:endParaRPr lang="en-IN" sz="2000" b="1" kern="1200" dirty="0">
            <a:solidFill>
              <a:schemeClr val="tx1"/>
            </a:solidFill>
            <a:latin typeface="Times New Roman" panose="02020603050405020304" pitchFamily="18" charset="0"/>
            <a:cs typeface="Times New Roman" panose="02020603050405020304" pitchFamily="18" charset="0"/>
          </a:endParaRPr>
        </a:p>
      </dsp:txBody>
      <dsp:txXfrm>
        <a:off x="641166" y="1169198"/>
        <a:ext cx="6869716" cy="944651"/>
      </dsp:txXfrm>
    </dsp:sp>
    <dsp:sp modelId="{A10F1EC7-C7A5-4448-8EFD-3D0016B74C85}">
      <dsp:nvSpPr>
        <dsp:cNvPr id="0" name=""/>
        <dsp:cNvSpPr/>
      </dsp:nvSpPr>
      <dsp:spPr>
        <a:xfrm>
          <a:off x="1223555" y="2282603"/>
          <a:ext cx="8192501" cy="1003429"/>
        </a:xfrm>
        <a:prstGeom prst="roundRect">
          <a:avLst>
            <a:gd name="adj" fmla="val 10000"/>
          </a:avLst>
        </a:prstGeom>
        <a:gradFill rotWithShape="0">
          <a:gsLst>
            <a:gs pos="0">
              <a:schemeClr val="accent2">
                <a:hueOff val="226582"/>
                <a:satOff val="-23996"/>
                <a:lumOff val="-588"/>
                <a:alphaOff val="0"/>
                <a:tint val="96000"/>
                <a:lumMod val="104000"/>
              </a:schemeClr>
            </a:gs>
            <a:gs pos="100000">
              <a:schemeClr val="accent2">
                <a:hueOff val="226582"/>
                <a:satOff val="-23996"/>
                <a:lumOff val="-588"/>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u="sng" kern="1200" dirty="0">
              <a:solidFill>
                <a:schemeClr val="tx1"/>
              </a:solidFill>
              <a:latin typeface="Times New Roman" panose="02020603050405020304" pitchFamily="18" charset="0"/>
              <a:cs typeface="Times New Roman" panose="02020603050405020304" pitchFamily="18" charset="0"/>
            </a:rPr>
            <a:t>Step 3</a:t>
          </a:r>
          <a:r>
            <a:rPr lang="en-US" sz="2000" b="1" u="none" kern="1200" dirty="0">
              <a:solidFill>
                <a:schemeClr val="tx1"/>
              </a:solidFill>
              <a:latin typeface="Times New Roman" panose="02020603050405020304" pitchFamily="18" charset="0"/>
              <a:cs typeface="Times New Roman" panose="02020603050405020304" pitchFamily="18" charset="0"/>
            </a:rPr>
            <a:t> : </a:t>
          </a:r>
          <a:r>
            <a:rPr lang="en-US" sz="2000" b="1" kern="1200" dirty="0">
              <a:solidFill>
                <a:schemeClr val="tx1"/>
              </a:solidFill>
              <a:latin typeface="Times New Roman" panose="02020603050405020304" pitchFamily="18" charset="0"/>
              <a:cs typeface="Times New Roman" panose="02020603050405020304" pitchFamily="18" charset="0"/>
            </a:rPr>
            <a:t>Calibration curve preparation</a:t>
          </a:r>
          <a:endParaRPr lang="en-IN" sz="2000" b="1" kern="1200" dirty="0">
            <a:solidFill>
              <a:schemeClr val="tx1"/>
            </a:solidFill>
            <a:latin typeface="Times New Roman" panose="02020603050405020304" pitchFamily="18" charset="0"/>
            <a:cs typeface="Times New Roman" panose="02020603050405020304" pitchFamily="18" charset="0"/>
          </a:endParaRPr>
        </a:p>
      </dsp:txBody>
      <dsp:txXfrm>
        <a:off x="1252944" y="2311992"/>
        <a:ext cx="6869716" cy="944651"/>
      </dsp:txXfrm>
    </dsp:sp>
    <dsp:sp modelId="{DFCB06AE-C3F3-4416-AFC3-386D72659953}">
      <dsp:nvSpPr>
        <dsp:cNvPr id="0" name=""/>
        <dsp:cNvSpPr/>
      </dsp:nvSpPr>
      <dsp:spPr>
        <a:xfrm>
          <a:off x="1835333" y="3425398"/>
          <a:ext cx="8192501" cy="1003429"/>
        </a:xfrm>
        <a:prstGeom prst="roundRect">
          <a:avLst>
            <a:gd name="adj" fmla="val 10000"/>
          </a:avLst>
        </a:prstGeom>
        <a:gradFill rotWithShape="0">
          <a:gsLst>
            <a:gs pos="0">
              <a:schemeClr val="accent2">
                <a:hueOff val="339874"/>
                <a:satOff val="-35995"/>
                <a:lumOff val="-882"/>
                <a:alphaOff val="0"/>
                <a:tint val="96000"/>
                <a:lumMod val="104000"/>
              </a:schemeClr>
            </a:gs>
            <a:gs pos="100000">
              <a:schemeClr val="accent2">
                <a:hueOff val="339874"/>
                <a:satOff val="-35995"/>
                <a:lumOff val="-882"/>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u="sng" kern="1200" dirty="0">
              <a:solidFill>
                <a:schemeClr val="tx1"/>
              </a:solidFill>
              <a:latin typeface="Times New Roman" panose="02020603050405020304" pitchFamily="18" charset="0"/>
              <a:cs typeface="Times New Roman" panose="02020603050405020304" pitchFamily="18" charset="0"/>
            </a:rPr>
            <a:t>Step 4</a:t>
          </a:r>
          <a:r>
            <a:rPr lang="en-US" sz="2000" b="1" u="none" kern="1200" dirty="0">
              <a:solidFill>
                <a:schemeClr val="tx1"/>
              </a:solidFill>
              <a:latin typeface="Times New Roman" panose="02020603050405020304" pitchFamily="18" charset="0"/>
              <a:cs typeface="Times New Roman" panose="02020603050405020304" pitchFamily="18" charset="0"/>
            </a:rPr>
            <a:t>  :  </a:t>
          </a:r>
          <a:r>
            <a:rPr lang="en-US" sz="2000" b="1" kern="1200" dirty="0">
              <a:solidFill>
                <a:schemeClr val="tx1"/>
              </a:solidFill>
              <a:latin typeface="Times New Roman" panose="02020603050405020304" pitchFamily="18" charset="0"/>
              <a:cs typeface="Times New Roman" panose="02020603050405020304" pitchFamily="18" charset="0"/>
            </a:rPr>
            <a:t>Preparation &amp; Dilution of beverage samples</a:t>
          </a:r>
          <a:endParaRPr lang="en-IN" sz="2000" b="1" kern="1200" dirty="0">
            <a:solidFill>
              <a:schemeClr val="tx1"/>
            </a:solidFill>
            <a:latin typeface="Times New Roman" panose="02020603050405020304" pitchFamily="18" charset="0"/>
            <a:cs typeface="Times New Roman" panose="02020603050405020304" pitchFamily="18" charset="0"/>
          </a:endParaRPr>
        </a:p>
      </dsp:txBody>
      <dsp:txXfrm>
        <a:off x="1864722" y="3454787"/>
        <a:ext cx="6869716" cy="944651"/>
      </dsp:txXfrm>
    </dsp:sp>
    <dsp:sp modelId="{7BB25B19-01FA-4157-9FB0-2C4023B0D426}">
      <dsp:nvSpPr>
        <dsp:cNvPr id="0" name=""/>
        <dsp:cNvSpPr/>
      </dsp:nvSpPr>
      <dsp:spPr>
        <a:xfrm>
          <a:off x="2409752" y="4562222"/>
          <a:ext cx="8192501" cy="1015370"/>
        </a:xfrm>
        <a:prstGeom prst="roundRect">
          <a:avLst>
            <a:gd name="adj" fmla="val 10000"/>
          </a:avLst>
        </a:prstGeom>
        <a:gradFill rotWithShape="0">
          <a:gsLst>
            <a:gs pos="0">
              <a:schemeClr val="accent2">
                <a:hueOff val="453165"/>
                <a:satOff val="-47993"/>
                <a:lumOff val="-1176"/>
                <a:alphaOff val="0"/>
                <a:tint val="96000"/>
                <a:lumMod val="104000"/>
              </a:schemeClr>
            </a:gs>
            <a:gs pos="100000">
              <a:schemeClr val="accent2">
                <a:hueOff val="453165"/>
                <a:satOff val="-47993"/>
                <a:lumOff val="-1176"/>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endParaRPr lang="en-IN" sz="1900" kern="1200" dirty="0"/>
        </a:p>
        <a:p>
          <a:pPr marL="114300" lvl="1" indent="-114300" algn="l" defTabSz="666750">
            <a:lnSpc>
              <a:spcPct val="90000"/>
            </a:lnSpc>
            <a:spcBef>
              <a:spcPct val="0"/>
            </a:spcBef>
            <a:spcAft>
              <a:spcPct val="15000"/>
            </a:spcAft>
            <a:buChar char="•"/>
          </a:pPr>
          <a:endParaRPr lang="en-IN" sz="1500" kern="1200"/>
        </a:p>
        <a:p>
          <a:pPr marL="114300" lvl="1" indent="-114300" algn="l" defTabSz="666750">
            <a:lnSpc>
              <a:spcPct val="90000"/>
            </a:lnSpc>
            <a:spcBef>
              <a:spcPct val="0"/>
            </a:spcBef>
            <a:spcAft>
              <a:spcPct val="15000"/>
            </a:spcAft>
            <a:buChar char="•"/>
          </a:pPr>
          <a:endParaRPr lang="en-IN" sz="1500" kern="1200"/>
        </a:p>
      </dsp:txBody>
      <dsp:txXfrm>
        <a:off x="2439491" y="4591961"/>
        <a:ext cx="6869016" cy="955892"/>
      </dsp:txXfrm>
    </dsp:sp>
    <dsp:sp modelId="{61DA046F-8F66-43C4-8E4F-3FC39659DE49}">
      <dsp:nvSpPr>
        <dsp:cNvPr id="0" name=""/>
        <dsp:cNvSpPr/>
      </dsp:nvSpPr>
      <dsp:spPr>
        <a:xfrm>
          <a:off x="7540272" y="730075"/>
          <a:ext cx="652229" cy="652229"/>
        </a:xfrm>
        <a:prstGeom prst="downArrow">
          <a:avLst>
            <a:gd name="adj1" fmla="val 55000"/>
            <a:gd name="adj2" fmla="val 45000"/>
          </a:avLst>
        </a:prstGeom>
        <a:solidFill>
          <a:schemeClr val="accent2">
            <a:tint val="40000"/>
            <a:alpha val="90000"/>
            <a:hueOff val="0"/>
            <a:satOff val="0"/>
            <a:lumOff val="0"/>
            <a:alphaOff val="0"/>
          </a:schemeClr>
        </a:solidFill>
        <a:ln w="9525" cap="rnd" cmpd="sng" algn="ctr">
          <a:solidFill>
            <a:schemeClr val="accent2">
              <a:tint val="40000"/>
              <a:alpha val="90000"/>
              <a:hueOff val="0"/>
              <a:satOff val="0"/>
              <a:lumOff val="0"/>
              <a:alphaOff val="0"/>
            </a:schemeClr>
          </a:solidFill>
          <a:prstDash val="solid"/>
        </a:ln>
        <a:effectLst>
          <a:outerShdw blurRad="38100" dist="25400" dir="5400000" rotWithShape="0">
            <a:srgbClr val="000000">
              <a:alpha val="2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IN" sz="3000" kern="1200"/>
        </a:p>
      </dsp:txBody>
      <dsp:txXfrm>
        <a:off x="7687024" y="730075"/>
        <a:ext cx="358725" cy="490802"/>
      </dsp:txXfrm>
    </dsp:sp>
    <dsp:sp modelId="{2CB3F874-D9A1-4B9A-B876-23894C7B3624}">
      <dsp:nvSpPr>
        <dsp:cNvPr id="0" name=""/>
        <dsp:cNvSpPr/>
      </dsp:nvSpPr>
      <dsp:spPr>
        <a:xfrm>
          <a:off x="8152049" y="1872870"/>
          <a:ext cx="652229" cy="652229"/>
        </a:xfrm>
        <a:prstGeom prst="downArrow">
          <a:avLst>
            <a:gd name="adj1" fmla="val 55000"/>
            <a:gd name="adj2" fmla="val 45000"/>
          </a:avLst>
        </a:prstGeom>
        <a:solidFill>
          <a:schemeClr val="accent2">
            <a:tint val="40000"/>
            <a:alpha val="90000"/>
            <a:hueOff val="309552"/>
            <a:satOff val="-13952"/>
            <a:lumOff val="-985"/>
            <a:alphaOff val="0"/>
          </a:schemeClr>
        </a:solidFill>
        <a:ln w="9525" cap="rnd" cmpd="sng" algn="ctr">
          <a:solidFill>
            <a:schemeClr val="accent2">
              <a:tint val="40000"/>
              <a:alpha val="90000"/>
              <a:hueOff val="309552"/>
              <a:satOff val="-13952"/>
              <a:lumOff val="-985"/>
              <a:alphaOff val="0"/>
            </a:schemeClr>
          </a:solidFill>
          <a:prstDash val="solid"/>
        </a:ln>
        <a:effectLst>
          <a:outerShdw blurRad="38100" dist="25400" dir="5400000" rotWithShape="0">
            <a:srgbClr val="000000">
              <a:alpha val="2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IN" sz="3000" kern="1200"/>
        </a:p>
      </dsp:txBody>
      <dsp:txXfrm>
        <a:off x="8298801" y="1872870"/>
        <a:ext cx="358725" cy="490802"/>
      </dsp:txXfrm>
    </dsp:sp>
    <dsp:sp modelId="{49CDB9E1-C2BE-4D8D-A713-E8831D38777C}">
      <dsp:nvSpPr>
        <dsp:cNvPr id="0" name=""/>
        <dsp:cNvSpPr/>
      </dsp:nvSpPr>
      <dsp:spPr>
        <a:xfrm>
          <a:off x="8763827" y="2998940"/>
          <a:ext cx="652229" cy="652229"/>
        </a:xfrm>
        <a:prstGeom prst="downArrow">
          <a:avLst>
            <a:gd name="adj1" fmla="val 55000"/>
            <a:gd name="adj2" fmla="val 45000"/>
          </a:avLst>
        </a:prstGeom>
        <a:solidFill>
          <a:schemeClr val="accent2">
            <a:tint val="40000"/>
            <a:alpha val="90000"/>
            <a:hueOff val="619104"/>
            <a:satOff val="-27904"/>
            <a:lumOff val="-1969"/>
            <a:alphaOff val="0"/>
          </a:schemeClr>
        </a:solidFill>
        <a:ln w="9525" cap="rnd" cmpd="sng" algn="ctr">
          <a:solidFill>
            <a:schemeClr val="accent2">
              <a:tint val="40000"/>
              <a:alpha val="90000"/>
              <a:hueOff val="619104"/>
              <a:satOff val="-27904"/>
              <a:lumOff val="-1969"/>
              <a:alphaOff val="0"/>
            </a:schemeClr>
          </a:solidFill>
          <a:prstDash val="solid"/>
        </a:ln>
        <a:effectLst>
          <a:outerShdw blurRad="38100" dist="25400" dir="5400000" rotWithShape="0">
            <a:srgbClr val="000000">
              <a:alpha val="2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IN" sz="3000" kern="1200"/>
        </a:p>
      </dsp:txBody>
      <dsp:txXfrm>
        <a:off x="8910579" y="2998940"/>
        <a:ext cx="358725" cy="490802"/>
      </dsp:txXfrm>
    </dsp:sp>
    <dsp:sp modelId="{8BD8DB81-4D6B-4D0F-AC06-E363C0065847}">
      <dsp:nvSpPr>
        <dsp:cNvPr id="0" name=""/>
        <dsp:cNvSpPr/>
      </dsp:nvSpPr>
      <dsp:spPr>
        <a:xfrm>
          <a:off x="9375605" y="4152884"/>
          <a:ext cx="652229" cy="652229"/>
        </a:xfrm>
        <a:prstGeom prst="downArrow">
          <a:avLst>
            <a:gd name="adj1" fmla="val 55000"/>
            <a:gd name="adj2" fmla="val 45000"/>
          </a:avLst>
        </a:prstGeom>
        <a:solidFill>
          <a:schemeClr val="accent2">
            <a:tint val="40000"/>
            <a:alpha val="90000"/>
            <a:hueOff val="928656"/>
            <a:satOff val="-41856"/>
            <a:lumOff val="-2954"/>
            <a:alphaOff val="0"/>
          </a:schemeClr>
        </a:solidFill>
        <a:ln w="9525" cap="rnd" cmpd="sng" algn="ctr">
          <a:solidFill>
            <a:schemeClr val="accent2">
              <a:tint val="40000"/>
              <a:alpha val="90000"/>
              <a:hueOff val="928656"/>
              <a:satOff val="-41856"/>
              <a:lumOff val="-2954"/>
              <a:alphaOff val="0"/>
            </a:schemeClr>
          </a:solidFill>
          <a:prstDash val="solid"/>
        </a:ln>
        <a:effectLst>
          <a:outerShdw blurRad="38100" dist="25400" dir="5400000" rotWithShape="0">
            <a:srgbClr val="000000">
              <a:alpha val="2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IN" sz="3000" kern="1200"/>
        </a:p>
      </dsp:txBody>
      <dsp:txXfrm>
        <a:off x="9522357" y="4152884"/>
        <a:ext cx="358725" cy="49080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4T14:13:10.669"/>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14:14:16.974"/>
    </inkml:context>
    <inkml:brush xml:id="br0">
      <inkml:brushProperty name="width" value="0.05" units="cm"/>
      <inkml:brushProperty name="height" value="0.05" units="cm"/>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14:14:17.620"/>
    </inkml:context>
    <inkml:brush xml:id="br0">
      <inkml:brushProperty name="width" value="0.05" units="cm"/>
      <inkml:brushProperty name="height" value="0.05" units="cm"/>
    </inkml:brush>
  </inkml:definitions>
  <inkml:trace contextRef="#ctx0" brushRef="#br0">1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14:14:18.888"/>
    </inkml:context>
    <inkml:brush xml:id="br0">
      <inkml:brushProperty name="width" value="0.05" units="cm"/>
      <inkml:brushProperty name="height" value="0.05" units="cm"/>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14:14:19.650"/>
    </inkml:context>
    <inkml:brush xml:id="br0">
      <inkml:brushProperty name="width" value="0.05" units="cm"/>
      <inkml:brushProperty name="height" value="0.05" units="cm"/>
    </inkml:brush>
  </inkml:definitions>
  <inkml:trace contextRef="#ctx0" brushRef="#br0">0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14:14:19.855"/>
    </inkml:context>
    <inkml:brush xml:id="br0">
      <inkml:brushProperty name="width" value="0.05" units="cm"/>
      <inkml:brushProperty name="height" value="0.05" units="cm"/>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14:14:20.357"/>
    </inkml:context>
    <inkml:brush xml:id="br0">
      <inkml:brushProperty name="width" value="0.05" units="cm"/>
      <inkml:brushProperty name="height" value="0.05" units="cm"/>
    </inkml:brush>
  </inkml:definitions>
  <inkml:trace contextRef="#ctx0" brushRef="#br0">0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14:14:20.519"/>
    </inkml:context>
    <inkml:brush xml:id="br0">
      <inkml:brushProperty name="width" value="0.05" units="cm"/>
      <inkml:brushProperty name="height" value="0.05" units="cm"/>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14:14:20.740"/>
    </inkml:context>
    <inkml:brush xml:id="br0">
      <inkml:brushProperty name="width" value="0.05" units="cm"/>
      <inkml:brushProperty name="height" value="0.05" units="cm"/>
    </inkml:brush>
  </inkml:definitions>
  <inkml:trace contextRef="#ctx0" brushRef="#br0">0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14:14:21.135"/>
    </inkml:context>
    <inkml:brush xml:id="br0">
      <inkml:brushProperty name="width" value="0.05" units="cm"/>
      <inkml:brushProperty name="height" value="0.05" units="cm"/>
    </inkml:brush>
  </inkml:definitions>
  <inkml:trace contextRef="#ctx0" brushRef="#br0">0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5T08:39:19.220"/>
    </inkml:context>
    <inkml:brush xml:id="br0">
      <inkml:brushProperty name="width" value="0.05" units="cm"/>
      <inkml:brushProperty name="height" value="0.05" units="cm"/>
      <inkml:brushProperty name="ignorePressure" value="1"/>
    </inkml:brush>
  </inkml:definitions>
  <inkml:trace contextRef="#ctx0" brushRef="#br0">0 1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5T08:39:20.073"/>
    </inkml:context>
    <inkml:brush xml:id="br0">
      <inkml:brushProperty name="width" value="0.05" units="cm"/>
      <inkml:brushProperty name="height" value="0.05" units="cm"/>
      <inkml:brushProperty name="ignorePressure" value="1"/>
    </inkml:brush>
  </inkml:definitions>
  <inkml:trace contextRef="#ctx0" brushRef="#br0">0 1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5T08:39:19.220"/>
    </inkml:context>
    <inkml:brush xml:id="br0">
      <inkml:brushProperty name="width" value="0.05" units="cm"/>
      <inkml:brushProperty name="height" value="0.05" units="cm"/>
      <inkml:brushProperty name="ignorePressure" value="1"/>
    </inkml:brush>
  </inkml:definitions>
  <inkml:trace contextRef="#ctx0" brushRef="#br0">0 1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5T08:39:20.073"/>
    </inkml:context>
    <inkml:brush xml:id="br0">
      <inkml:brushProperty name="width" value="0.05" units="cm"/>
      <inkml:brushProperty name="height" value="0.05" units="cm"/>
      <inkml:brushProperty name="ignorePressure" value="1"/>
    </inkml:brush>
  </inkml:definitions>
  <inkml:trace contextRef="#ctx0" brushRef="#br0">0 1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5T08:52:34.399"/>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5T05:23:17.885"/>
    </inkml:context>
    <inkml:brush xml:id="br0">
      <inkml:brushProperty name="width" value="0.05" units="cm"/>
      <inkml:brushProperty name="height" value="0.05" units="cm"/>
      <inkml:brushProperty name="ignorePressure" value="1"/>
    </inkml:brush>
  </inkml:definitions>
  <inkml:trace contextRef="#ctx0" brushRef="#br0">0 1,'32647'0,"-32900"0,23 0,-2849 0,3030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5T05:23:19.685"/>
    </inkml:context>
    <inkml:brush xml:id="br0">
      <inkml:brushProperty name="width" value="0.05" units="cm"/>
      <inkml:brushProperty name="height" value="0.05" units="cm"/>
      <inkml:brushProperty name="ignorePressure" value="1"/>
    </inkml:brush>
  </inkml:definitions>
  <inkml:trace contextRef="#ctx0" brushRef="#br0">1 1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6T06:58:20.356"/>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6T07:02:12.582"/>
    </inkml:context>
    <inkml:brush xml:id="br0">
      <inkml:brushProperty name="width" value="0.05" units="cm"/>
      <inkml:brushProperty name="height" value="0.05" units="cm"/>
      <inkml:brushProperty name="ignorePressure" value="1"/>
    </inkml:brush>
  </inkml:definitions>
  <inkml:trace contextRef="#ctx0" brushRef="#br0">0 1,'23687'0,"-23670"0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6T07:02:13.777"/>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6T07:02:28.459"/>
    </inkml:context>
    <inkml:brush xml:id="br0">
      <inkml:brushProperty name="width" value="0.05" units="cm"/>
      <inkml:brushProperty name="height" value="0.05" units="cm"/>
      <inkml:brushProperty name="ignorePressure" value="1"/>
    </inkml:brush>
  </inkml:definitions>
  <inkml:trace contextRef="#ctx0" brushRef="#br0">0 1,'2964'0,"-2947"0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866CB-A5D7-4177-BED1-5C4B44FB2317}" type="datetimeFigureOut">
              <a:rPr lang="en-IN" smtClean="0"/>
              <a:t>24-05-2026</a:t>
            </a:fld>
            <a:endParaRPr lang="en-IN"/>
          </a:p>
        </p:txBody>
      </p:sp>
      <p:sp>
        <p:nvSpPr>
          <p:cNvPr id="4" name="Slide Image Placeholder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4EB3E4-5AA5-46A9-A590-298B363EF48C}" type="slidenum">
              <a:rPr lang="en-IN" smtClean="0"/>
              <a:t>‹#›</a:t>
            </a:fld>
            <a:endParaRPr lang="en-IN"/>
          </a:p>
        </p:txBody>
      </p:sp>
    </p:spTree>
    <p:extLst>
      <p:ext uri="{BB962C8B-B14F-4D97-AF65-F5344CB8AC3E}">
        <p14:creationId xmlns:p14="http://schemas.microsoft.com/office/powerpoint/2010/main" val="1597632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7388" y="1143000"/>
            <a:ext cx="5483225"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4EB3E4-5AA5-46A9-A590-298B363EF48C}" type="slidenum">
              <a:rPr lang="en-IN" smtClean="0"/>
              <a:t>1</a:t>
            </a:fld>
            <a:endParaRPr lang="en-IN"/>
          </a:p>
        </p:txBody>
      </p:sp>
    </p:spTree>
    <p:extLst>
      <p:ext uri="{BB962C8B-B14F-4D97-AF65-F5344CB8AC3E}">
        <p14:creationId xmlns:p14="http://schemas.microsoft.com/office/powerpoint/2010/main" val="3891639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4EB3E4-5AA5-46A9-A590-298B363EF48C}" type="slidenum">
              <a:rPr lang="en-IN" smtClean="0"/>
              <a:t>3</a:t>
            </a:fld>
            <a:endParaRPr lang="en-IN"/>
          </a:p>
        </p:txBody>
      </p:sp>
    </p:spTree>
    <p:extLst>
      <p:ext uri="{BB962C8B-B14F-4D97-AF65-F5344CB8AC3E}">
        <p14:creationId xmlns:p14="http://schemas.microsoft.com/office/powerpoint/2010/main" val="3629633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7388" y="1143000"/>
            <a:ext cx="5483225"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4EB3E4-5AA5-46A9-A590-298B363EF48C}" type="slidenum">
              <a:rPr lang="en-IN" smtClean="0"/>
              <a:t>8</a:t>
            </a:fld>
            <a:endParaRPr lang="en-IN"/>
          </a:p>
        </p:txBody>
      </p:sp>
    </p:spTree>
    <p:extLst>
      <p:ext uri="{BB962C8B-B14F-4D97-AF65-F5344CB8AC3E}">
        <p14:creationId xmlns:p14="http://schemas.microsoft.com/office/powerpoint/2010/main" val="2457580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7388" y="1143000"/>
            <a:ext cx="5483225"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4EB3E4-5AA5-46A9-A590-298B363EF48C}" type="slidenum">
              <a:rPr lang="en-IN" smtClean="0"/>
              <a:t>16</a:t>
            </a:fld>
            <a:endParaRPr lang="en-IN"/>
          </a:p>
        </p:txBody>
      </p:sp>
    </p:spTree>
    <p:extLst>
      <p:ext uri="{BB962C8B-B14F-4D97-AF65-F5344CB8AC3E}">
        <p14:creationId xmlns:p14="http://schemas.microsoft.com/office/powerpoint/2010/main" val="2249778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4EB3E4-5AA5-46A9-A590-298B363EF48C}" type="slidenum">
              <a:rPr lang="en-IN" smtClean="0"/>
              <a:t>18</a:t>
            </a:fld>
            <a:endParaRPr lang="en-IN"/>
          </a:p>
        </p:txBody>
      </p:sp>
    </p:spTree>
    <p:extLst>
      <p:ext uri="{BB962C8B-B14F-4D97-AF65-F5344CB8AC3E}">
        <p14:creationId xmlns:p14="http://schemas.microsoft.com/office/powerpoint/2010/main" val="4241760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4EB3E4-5AA5-46A9-A590-298B363EF48C}" type="slidenum">
              <a:rPr lang="en-IN" smtClean="0"/>
              <a:t>22</a:t>
            </a:fld>
            <a:endParaRPr lang="en-IN"/>
          </a:p>
        </p:txBody>
      </p:sp>
    </p:spTree>
    <p:extLst>
      <p:ext uri="{BB962C8B-B14F-4D97-AF65-F5344CB8AC3E}">
        <p14:creationId xmlns:p14="http://schemas.microsoft.com/office/powerpoint/2010/main" val="11858240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4EB3E4-5AA5-46A9-A590-298B363EF48C}" type="slidenum">
              <a:rPr lang="en-IN" smtClean="0"/>
              <a:t>25</a:t>
            </a:fld>
            <a:endParaRPr lang="en-IN"/>
          </a:p>
        </p:txBody>
      </p:sp>
    </p:spTree>
    <p:extLst>
      <p:ext uri="{BB962C8B-B14F-4D97-AF65-F5344CB8AC3E}">
        <p14:creationId xmlns:p14="http://schemas.microsoft.com/office/powerpoint/2010/main" val="1881725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4EB3E4-5AA5-46A9-A590-298B363EF48C}" type="slidenum">
              <a:rPr lang="en-IN" smtClean="0"/>
              <a:t>35</a:t>
            </a:fld>
            <a:endParaRPr lang="en-IN"/>
          </a:p>
        </p:txBody>
      </p:sp>
    </p:spTree>
    <p:extLst>
      <p:ext uri="{BB962C8B-B14F-4D97-AF65-F5344CB8AC3E}">
        <p14:creationId xmlns:p14="http://schemas.microsoft.com/office/powerpoint/2010/main" val="3359409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4EB3E4-5AA5-46A9-A590-298B363EF48C}" type="slidenum">
              <a:rPr lang="en-IN" smtClean="0"/>
              <a:t>36</a:t>
            </a:fld>
            <a:endParaRPr lang="en-IN"/>
          </a:p>
        </p:txBody>
      </p:sp>
    </p:spTree>
    <p:extLst>
      <p:ext uri="{BB962C8B-B14F-4D97-AF65-F5344CB8AC3E}">
        <p14:creationId xmlns:p14="http://schemas.microsoft.com/office/powerpoint/2010/main" val="2268601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4EB3E4-5AA5-46A9-A590-298B363EF48C}" type="slidenum">
              <a:rPr lang="en-IN" smtClean="0"/>
              <a:t>38</a:t>
            </a:fld>
            <a:endParaRPr lang="en-IN"/>
          </a:p>
        </p:txBody>
      </p:sp>
    </p:spTree>
    <p:extLst>
      <p:ext uri="{BB962C8B-B14F-4D97-AF65-F5344CB8AC3E}">
        <p14:creationId xmlns:p14="http://schemas.microsoft.com/office/powerpoint/2010/main" val="1040311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4EB3E4-5AA5-46A9-A590-298B363EF48C}" type="slidenum">
              <a:rPr lang="en-IN" smtClean="0"/>
              <a:t>39</a:t>
            </a:fld>
            <a:endParaRPr lang="en-IN"/>
          </a:p>
        </p:txBody>
      </p:sp>
    </p:spTree>
    <p:extLst>
      <p:ext uri="{BB962C8B-B14F-4D97-AF65-F5344CB8AC3E}">
        <p14:creationId xmlns:p14="http://schemas.microsoft.com/office/powerpoint/2010/main" val="4275685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4EB3E4-5AA5-46A9-A590-298B363EF48C}" type="slidenum">
              <a:rPr lang="en-IN" smtClean="0"/>
              <a:t>40</a:t>
            </a:fld>
            <a:endParaRPr lang="en-IN"/>
          </a:p>
        </p:txBody>
      </p:sp>
    </p:spTree>
    <p:extLst>
      <p:ext uri="{BB962C8B-B14F-4D97-AF65-F5344CB8AC3E}">
        <p14:creationId xmlns:p14="http://schemas.microsoft.com/office/powerpoint/2010/main" val="32253895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4EB3E4-5AA5-46A9-A590-298B363EF48C}" type="slidenum">
              <a:rPr lang="en-IN" smtClean="0"/>
              <a:t>44</a:t>
            </a:fld>
            <a:endParaRPr lang="en-IN"/>
          </a:p>
        </p:txBody>
      </p:sp>
    </p:spTree>
    <p:extLst>
      <p:ext uri="{BB962C8B-B14F-4D97-AF65-F5344CB8AC3E}">
        <p14:creationId xmlns:p14="http://schemas.microsoft.com/office/powerpoint/2010/main" val="2789070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64058" y="2587361"/>
            <a:ext cx="9173110" cy="2328255"/>
          </a:xfrm>
        </p:spPr>
        <p:txBody>
          <a:bodyPr anchor="b">
            <a:normAutofit/>
          </a:bodyPr>
          <a:lstStyle>
            <a:lvl1pPr>
              <a:defRPr sz="5556"/>
            </a:lvl1pPr>
          </a:lstStyle>
          <a:p>
            <a:r>
              <a:rPr lang="en-US"/>
              <a:t>Click to edit Master title style</a:t>
            </a:r>
            <a:endParaRPr lang="en-US" dirty="0"/>
          </a:p>
        </p:txBody>
      </p:sp>
      <p:sp>
        <p:nvSpPr>
          <p:cNvPr id="3" name="Subtitle 2"/>
          <p:cNvSpPr>
            <a:spLocks noGrp="1"/>
          </p:cNvSpPr>
          <p:nvPr>
            <p:ph type="subTitle" idx="1"/>
          </p:nvPr>
        </p:nvSpPr>
        <p:spPr>
          <a:xfrm>
            <a:off x="2664058" y="4915614"/>
            <a:ext cx="9173110" cy="1158872"/>
          </a:xfrm>
        </p:spPr>
        <p:txBody>
          <a:bodyPr anchor="t"/>
          <a:lstStyle>
            <a:lvl1pPr marL="0" indent="0" algn="l">
              <a:buNone/>
              <a:defRPr>
                <a:solidFill>
                  <a:schemeClr val="tx1">
                    <a:lumMod val="65000"/>
                    <a:lumOff val="35000"/>
                  </a:schemeClr>
                </a:solidFill>
              </a:defRPr>
            </a:lvl1pPr>
            <a:lvl2pPr marL="470413" indent="0" algn="ctr">
              <a:buNone/>
              <a:defRPr>
                <a:solidFill>
                  <a:schemeClr val="tx1">
                    <a:tint val="75000"/>
                  </a:schemeClr>
                </a:solidFill>
              </a:defRPr>
            </a:lvl2pPr>
            <a:lvl3pPr marL="940826" indent="0" algn="ctr">
              <a:buNone/>
              <a:defRPr>
                <a:solidFill>
                  <a:schemeClr val="tx1">
                    <a:tint val="75000"/>
                  </a:schemeClr>
                </a:solidFill>
              </a:defRPr>
            </a:lvl3pPr>
            <a:lvl4pPr marL="1411239" indent="0" algn="ctr">
              <a:buNone/>
              <a:defRPr>
                <a:solidFill>
                  <a:schemeClr val="tx1">
                    <a:tint val="75000"/>
                  </a:schemeClr>
                </a:solidFill>
              </a:defRPr>
            </a:lvl4pPr>
            <a:lvl5pPr marL="1881652" indent="0" algn="ctr">
              <a:buNone/>
              <a:defRPr>
                <a:solidFill>
                  <a:schemeClr val="tx1">
                    <a:tint val="75000"/>
                  </a:schemeClr>
                </a:solidFill>
              </a:defRPr>
            </a:lvl5pPr>
            <a:lvl6pPr marL="2352065" indent="0" algn="ctr">
              <a:buNone/>
              <a:defRPr>
                <a:solidFill>
                  <a:schemeClr val="tx1">
                    <a:tint val="75000"/>
                  </a:schemeClr>
                </a:solidFill>
              </a:defRPr>
            </a:lvl6pPr>
            <a:lvl7pPr marL="2822478" indent="0" algn="ctr">
              <a:buNone/>
              <a:defRPr>
                <a:solidFill>
                  <a:schemeClr val="tx1">
                    <a:tint val="75000"/>
                  </a:schemeClr>
                </a:solidFill>
              </a:defRPr>
            </a:lvl7pPr>
            <a:lvl8pPr marL="3292892" indent="0" algn="ctr">
              <a:buNone/>
              <a:defRPr>
                <a:solidFill>
                  <a:schemeClr val="tx1">
                    <a:tint val="75000"/>
                  </a:schemeClr>
                </a:solidFill>
              </a:defRPr>
            </a:lvl8pPr>
            <a:lvl9pPr marL="3763305"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448921"/>
            <a:ext cx="1795083" cy="801118"/>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47185" y="4660604"/>
            <a:ext cx="802307" cy="37569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22796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7877" y="642169"/>
            <a:ext cx="9169290" cy="1317953"/>
          </a:xfrm>
        </p:spPr>
        <p:txBody>
          <a:bodyPr/>
          <a:lstStyle/>
          <a:p>
            <a:r>
              <a:rPr lang="en-US"/>
              <a:t>Click to edit Master title style</a:t>
            </a:r>
            <a:endParaRPr lang="en-US" dirty="0"/>
          </a:p>
        </p:txBody>
      </p:sp>
      <p:sp>
        <p:nvSpPr>
          <p:cNvPr id="3" name="Content Placeholder 2"/>
          <p:cNvSpPr>
            <a:spLocks noGrp="1"/>
          </p:cNvSpPr>
          <p:nvPr>
            <p:ph idx="1"/>
          </p:nvPr>
        </p:nvSpPr>
        <p:spPr>
          <a:xfrm>
            <a:off x="2664056" y="2195337"/>
            <a:ext cx="9173111" cy="3886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309" y="735046"/>
            <a:ext cx="1634445" cy="52197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79792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64057" y="2118321"/>
            <a:ext cx="9173110" cy="1511300"/>
          </a:xfrm>
        </p:spPr>
        <p:txBody>
          <a:bodyPr anchor="b"/>
          <a:lstStyle>
            <a:lvl1pPr algn="l">
              <a:defRPr sz="4116" b="0" cap="none"/>
            </a:lvl1pPr>
          </a:lstStyle>
          <a:p>
            <a:r>
              <a:rPr lang="en-US"/>
              <a:t>Click to edit Master title style</a:t>
            </a:r>
            <a:endParaRPr lang="en-US" dirty="0"/>
          </a:p>
        </p:txBody>
      </p:sp>
      <p:sp>
        <p:nvSpPr>
          <p:cNvPr id="3" name="Text Placeholder 2"/>
          <p:cNvSpPr>
            <a:spLocks noGrp="1"/>
          </p:cNvSpPr>
          <p:nvPr>
            <p:ph type="body" idx="1"/>
          </p:nvPr>
        </p:nvSpPr>
        <p:spPr>
          <a:xfrm>
            <a:off x="2664057" y="3632274"/>
            <a:ext cx="9173110" cy="885296"/>
          </a:xfrm>
        </p:spPr>
        <p:txBody>
          <a:bodyPr anchor="t"/>
          <a:lstStyle>
            <a:lvl1pPr marL="0" indent="0" algn="l">
              <a:buNone/>
              <a:defRPr sz="2058">
                <a:solidFill>
                  <a:schemeClr val="tx1">
                    <a:lumMod val="65000"/>
                    <a:lumOff val="35000"/>
                  </a:schemeClr>
                </a:solidFill>
              </a:defRPr>
            </a:lvl1pPr>
            <a:lvl2pPr marL="470413" indent="0">
              <a:buNone/>
              <a:defRPr sz="1852">
                <a:solidFill>
                  <a:schemeClr val="tx1">
                    <a:tint val="75000"/>
                  </a:schemeClr>
                </a:solidFill>
              </a:defRPr>
            </a:lvl2pPr>
            <a:lvl3pPr marL="940826" indent="0">
              <a:buNone/>
              <a:defRPr sz="1646">
                <a:solidFill>
                  <a:schemeClr val="tx1">
                    <a:tint val="75000"/>
                  </a:schemeClr>
                </a:solidFill>
              </a:defRPr>
            </a:lvl3pPr>
            <a:lvl4pPr marL="1411239" indent="0">
              <a:buNone/>
              <a:defRPr sz="1440">
                <a:solidFill>
                  <a:schemeClr val="tx1">
                    <a:tint val="75000"/>
                  </a:schemeClr>
                </a:solidFill>
              </a:defRPr>
            </a:lvl4pPr>
            <a:lvl5pPr marL="1881652" indent="0">
              <a:buNone/>
              <a:defRPr sz="1440">
                <a:solidFill>
                  <a:schemeClr val="tx1">
                    <a:tint val="75000"/>
                  </a:schemeClr>
                </a:solidFill>
              </a:defRPr>
            </a:lvl5pPr>
            <a:lvl6pPr marL="2352065" indent="0">
              <a:buNone/>
              <a:defRPr sz="1440">
                <a:solidFill>
                  <a:schemeClr val="tx1">
                    <a:tint val="75000"/>
                  </a:schemeClr>
                </a:solidFill>
              </a:defRPr>
            </a:lvl6pPr>
            <a:lvl7pPr marL="2822478" indent="0">
              <a:buNone/>
              <a:defRPr sz="1440">
                <a:solidFill>
                  <a:schemeClr val="tx1">
                    <a:tint val="75000"/>
                  </a:schemeClr>
                </a:solidFill>
              </a:defRPr>
            </a:lvl7pPr>
            <a:lvl8pPr marL="3292892" indent="0">
              <a:buNone/>
              <a:defRPr sz="1440">
                <a:solidFill>
                  <a:schemeClr val="tx1">
                    <a:tint val="75000"/>
                  </a:schemeClr>
                </a:solidFill>
              </a:defRPr>
            </a:lvl8pPr>
            <a:lvl9pPr marL="3763305" indent="0">
              <a:buNone/>
              <a:defRPr sz="14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309" y="3270137"/>
            <a:ext cx="1634445" cy="52197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47185" y="3338010"/>
            <a:ext cx="802307" cy="37569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28856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64056" y="2195337"/>
            <a:ext cx="4438562" cy="38869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398604" y="2187745"/>
            <a:ext cx="4438562" cy="38869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309" y="735046"/>
            <a:ext cx="1634445" cy="52197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47185" y="810577"/>
            <a:ext cx="802307" cy="37569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55970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024339" y="2029784"/>
            <a:ext cx="4108147" cy="592936"/>
          </a:xfrm>
        </p:spPr>
        <p:txBody>
          <a:bodyPr anchor="b">
            <a:noAutofit/>
          </a:bodyPr>
          <a:lstStyle>
            <a:lvl1pPr marL="0" indent="0">
              <a:buNone/>
              <a:defRPr sz="2469" b="0"/>
            </a:lvl1pPr>
            <a:lvl2pPr marL="470413" indent="0">
              <a:buNone/>
              <a:defRPr sz="2058" b="1"/>
            </a:lvl2pPr>
            <a:lvl3pPr marL="940826" indent="0">
              <a:buNone/>
              <a:defRPr sz="1852" b="1"/>
            </a:lvl3pPr>
            <a:lvl4pPr marL="1411239" indent="0">
              <a:buNone/>
              <a:defRPr sz="1646" b="1"/>
            </a:lvl4pPr>
            <a:lvl5pPr marL="1881652" indent="0">
              <a:buNone/>
              <a:defRPr sz="1646" b="1"/>
            </a:lvl5pPr>
            <a:lvl6pPr marL="2352065" indent="0">
              <a:buNone/>
              <a:defRPr sz="1646" b="1"/>
            </a:lvl6pPr>
            <a:lvl7pPr marL="2822478" indent="0">
              <a:buNone/>
              <a:defRPr sz="1646" b="1"/>
            </a:lvl7pPr>
            <a:lvl8pPr marL="3292892" indent="0">
              <a:buNone/>
              <a:defRPr sz="1646" b="1"/>
            </a:lvl8pPr>
            <a:lvl9pPr marL="3763305" indent="0">
              <a:buNone/>
              <a:defRPr sz="1646" b="1"/>
            </a:lvl9pPr>
          </a:lstStyle>
          <a:p>
            <a:pPr lvl="0"/>
            <a:r>
              <a:rPr lang="en-US"/>
              <a:t>Click to edit Master text styles</a:t>
            </a:r>
          </a:p>
        </p:txBody>
      </p:sp>
      <p:sp>
        <p:nvSpPr>
          <p:cNvPr id="4" name="Content Placeholder 3"/>
          <p:cNvSpPr>
            <a:spLocks noGrp="1"/>
          </p:cNvSpPr>
          <p:nvPr>
            <p:ph sz="half" idx="2"/>
          </p:nvPr>
        </p:nvSpPr>
        <p:spPr>
          <a:xfrm>
            <a:off x="2664057" y="2622721"/>
            <a:ext cx="4468430" cy="34511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723618" y="2026462"/>
            <a:ext cx="4114597" cy="592936"/>
          </a:xfrm>
        </p:spPr>
        <p:txBody>
          <a:bodyPr anchor="b">
            <a:noAutofit/>
          </a:bodyPr>
          <a:lstStyle>
            <a:lvl1pPr marL="0" indent="0">
              <a:buNone/>
              <a:defRPr sz="2469" b="0"/>
            </a:lvl1pPr>
            <a:lvl2pPr marL="470413" indent="0">
              <a:buNone/>
              <a:defRPr sz="2058" b="1"/>
            </a:lvl2pPr>
            <a:lvl3pPr marL="940826" indent="0">
              <a:buNone/>
              <a:defRPr sz="1852" b="1"/>
            </a:lvl3pPr>
            <a:lvl4pPr marL="1411239" indent="0">
              <a:buNone/>
              <a:defRPr sz="1646" b="1"/>
            </a:lvl4pPr>
            <a:lvl5pPr marL="1881652" indent="0">
              <a:buNone/>
              <a:defRPr sz="1646" b="1"/>
            </a:lvl5pPr>
            <a:lvl6pPr marL="2352065" indent="0">
              <a:buNone/>
              <a:defRPr sz="1646" b="1"/>
            </a:lvl6pPr>
            <a:lvl7pPr marL="2822478" indent="0">
              <a:buNone/>
              <a:defRPr sz="1646" b="1"/>
            </a:lvl7pPr>
            <a:lvl8pPr marL="3292892" indent="0">
              <a:buNone/>
              <a:defRPr sz="1646" b="1"/>
            </a:lvl8pPr>
            <a:lvl9pPr marL="3763305" indent="0">
              <a:buNone/>
              <a:defRPr sz="1646" b="1"/>
            </a:lvl9pPr>
          </a:lstStyle>
          <a:p>
            <a:pPr lvl="0"/>
            <a:r>
              <a:rPr lang="en-US"/>
              <a:t>Click to edit Master text styles</a:t>
            </a:r>
          </a:p>
        </p:txBody>
      </p:sp>
      <p:sp>
        <p:nvSpPr>
          <p:cNvPr id="6" name="Content Placeholder 5"/>
          <p:cNvSpPr>
            <a:spLocks noGrp="1"/>
          </p:cNvSpPr>
          <p:nvPr>
            <p:ph sz="quarter" idx="4"/>
          </p:nvPr>
        </p:nvSpPr>
        <p:spPr>
          <a:xfrm>
            <a:off x="7374127" y="2619399"/>
            <a:ext cx="4464089" cy="34511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309" y="735046"/>
            <a:ext cx="1634445" cy="52197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47185" y="810577"/>
            <a:ext cx="802307" cy="37569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05552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309" y="735046"/>
            <a:ext cx="1634445" cy="52197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59075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309" y="735046"/>
            <a:ext cx="1634445" cy="52197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17471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64057" y="458996"/>
            <a:ext cx="3606521" cy="1004562"/>
          </a:xfrm>
        </p:spPr>
        <p:txBody>
          <a:bodyPr anchor="b"/>
          <a:lstStyle>
            <a:lvl1pPr algn="l">
              <a:defRPr sz="2058" b="0"/>
            </a:lvl1pPr>
          </a:lstStyle>
          <a:p>
            <a:r>
              <a:rPr lang="en-US"/>
              <a:t>Click to edit Master title style</a:t>
            </a:r>
            <a:endParaRPr lang="en-US" dirty="0"/>
          </a:p>
        </p:txBody>
      </p:sp>
      <p:sp>
        <p:nvSpPr>
          <p:cNvPr id="3" name="Content Placeholder 2"/>
          <p:cNvSpPr>
            <a:spLocks noGrp="1"/>
          </p:cNvSpPr>
          <p:nvPr>
            <p:ph idx="1"/>
          </p:nvPr>
        </p:nvSpPr>
        <p:spPr>
          <a:xfrm>
            <a:off x="6505786" y="458996"/>
            <a:ext cx="5331381" cy="5571646"/>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64057" y="1644869"/>
            <a:ext cx="3606521" cy="4385771"/>
          </a:xfrm>
        </p:spPr>
        <p:txBody>
          <a:bodyPr/>
          <a:lstStyle>
            <a:lvl1pPr marL="0" indent="0">
              <a:buNone/>
              <a:defRPr sz="1440"/>
            </a:lvl1pPr>
            <a:lvl2pPr marL="470413" indent="0">
              <a:buNone/>
              <a:defRPr sz="1235"/>
            </a:lvl2pPr>
            <a:lvl3pPr marL="940826" indent="0">
              <a:buNone/>
              <a:defRPr sz="1029"/>
            </a:lvl3pPr>
            <a:lvl4pPr marL="1411239" indent="0">
              <a:buNone/>
              <a:defRPr sz="926"/>
            </a:lvl4pPr>
            <a:lvl5pPr marL="1881652" indent="0">
              <a:buNone/>
              <a:defRPr sz="926"/>
            </a:lvl5pPr>
            <a:lvl6pPr marL="2352065" indent="0">
              <a:buNone/>
              <a:defRPr sz="926"/>
            </a:lvl6pPr>
            <a:lvl7pPr marL="2822478" indent="0">
              <a:buNone/>
              <a:defRPr sz="926"/>
            </a:lvl7pPr>
            <a:lvl8pPr marL="3292892" indent="0">
              <a:buNone/>
              <a:defRPr sz="926"/>
            </a:lvl8pPr>
            <a:lvl9pPr marL="3763305" indent="0">
              <a:buNone/>
              <a:defRPr sz="926"/>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309" y="735046"/>
            <a:ext cx="1634445" cy="52197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0076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64057" y="4939506"/>
            <a:ext cx="9173111" cy="583137"/>
          </a:xfrm>
        </p:spPr>
        <p:txBody>
          <a:bodyPr anchor="b">
            <a:normAutofit/>
          </a:bodyPr>
          <a:lstStyle>
            <a:lvl1pPr algn="l">
              <a:defRPr sz="246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664056" y="653338"/>
            <a:ext cx="9173111" cy="3966515"/>
          </a:xfrm>
        </p:spPr>
        <p:txBody>
          <a:bodyPr anchor="t">
            <a:normAutofit/>
          </a:bodyPr>
          <a:lstStyle>
            <a:lvl1pPr marL="0" indent="0" algn="ctr">
              <a:buNone/>
              <a:defRPr sz="1646"/>
            </a:lvl1pPr>
            <a:lvl2pPr marL="470413" indent="0">
              <a:buNone/>
              <a:defRPr sz="1646"/>
            </a:lvl2pPr>
            <a:lvl3pPr marL="940826" indent="0">
              <a:buNone/>
              <a:defRPr sz="1646"/>
            </a:lvl3pPr>
            <a:lvl4pPr marL="1411239" indent="0">
              <a:buNone/>
              <a:defRPr sz="1646"/>
            </a:lvl4pPr>
            <a:lvl5pPr marL="1881652" indent="0">
              <a:buNone/>
              <a:defRPr sz="1646"/>
            </a:lvl5pPr>
            <a:lvl6pPr marL="2352065" indent="0">
              <a:buNone/>
              <a:defRPr sz="1646"/>
            </a:lvl6pPr>
            <a:lvl7pPr marL="2822478" indent="0">
              <a:buNone/>
              <a:defRPr sz="1646"/>
            </a:lvl7pPr>
            <a:lvl8pPr marL="3292892" indent="0">
              <a:buNone/>
              <a:defRPr sz="1646"/>
            </a:lvl8pPr>
            <a:lvl9pPr marL="3763305" indent="0">
              <a:buNone/>
              <a:defRPr sz="1646"/>
            </a:lvl9pPr>
          </a:lstStyle>
          <a:p>
            <a:r>
              <a:rPr lang="en-US"/>
              <a:t>Click icon to add picture</a:t>
            </a:r>
            <a:endParaRPr lang="en-US" dirty="0"/>
          </a:p>
        </p:txBody>
      </p:sp>
      <p:sp>
        <p:nvSpPr>
          <p:cNvPr id="4" name="Text Placeholder 3"/>
          <p:cNvSpPr>
            <a:spLocks noGrp="1"/>
          </p:cNvSpPr>
          <p:nvPr>
            <p:ph type="body" sz="half" idx="2"/>
          </p:nvPr>
        </p:nvSpPr>
        <p:spPr>
          <a:xfrm>
            <a:off x="2664057" y="5522643"/>
            <a:ext cx="9173111" cy="507998"/>
          </a:xfrm>
        </p:spPr>
        <p:txBody>
          <a:bodyPr>
            <a:normAutofit/>
          </a:bodyPr>
          <a:lstStyle>
            <a:lvl1pPr marL="0" indent="0">
              <a:buNone/>
              <a:defRPr sz="1235"/>
            </a:lvl1pPr>
            <a:lvl2pPr marL="470413" indent="0">
              <a:buNone/>
              <a:defRPr sz="1235"/>
            </a:lvl2pPr>
            <a:lvl3pPr marL="940826" indent="0">
              <a:buNone/>
              <a:defRPr sz="1029"/>
            </a:lvl3pPr>
            <a:lvl4pPr marL="1411239" indent="0">
              <a:buNone/>
              <a:defRPr sz="926"/>
            </a:lvl4pPr>
            <a:lvl5pPr marL="1881652" indent="0">
              <a:buNone/>
              <a:defRPr sz="926"/>
            </a:lvl5pPr>
            <a:lvl6pPr marL="2352065" indent="0">
              <a:buNone/>
              <a:defRPr sz="926"/>
            </a:lvl6pPr>
            <a:lvl7pPr marL="2822478" indent="0">
              <a:buNone/>
              <a:defRPr sz="926"/>
            </a:lvl7pPr>
            <a:lvl8pPr marL="3292892" indent="0">
              <a:buNone/>
              <a:defRPr sz="926"/>
            </a:lvl8pPr>
            <a:lvl9pPr marL="3763305" indent="0">
              <a:buNone/>
              <a:defRPr sz="926"/>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309" y="5053847"/>
            <a:ext cx="1634445" cy="52197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47185" y="5127274"/>
            <a:ext cx="802307" cy="37569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59649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664057" y="627239"/>
            <a:ext cx="9173110" cy="3207232"/>
          </a:xfrm>
        </p:spPr>
        <p:txBody>
          <a:bodyPr anchor="ctr">
            <a:normAutofit/>
          </a:bodyPr>
          <a:lstStyle>
            <a:lvl1pPr algn="l">
              <a:defRPr sz="4939" b="0" cap="none"/>
            </a:lvl1pPr>
          </a:lstStyle>
          <a:p>
            <a:r>
              <a:rPr lang="en-US"/>
              <a:t>Click to edit Master title style</a:t>
            </a:r>
            <a:endParaRPr lang="en-US" dirty="0"/>
          </a:p>
        </p:txBody>
      </p:sp>
      <p:sp>
        <p:nvSpPr>
          <p:cNvPr id="3" name="Text Placeholder 2"/>
          <p:cNvSpPr>
            <a:spLocks noGrp="1"/>
          </p:cNvSpPr>
          <p:nvPr>
            <p:ph type="body" idx="1"/>
          </p:nvPr>
        </p:nvSpPr>
        <p:spPr>
          <a:xfrm>
            <a:off x="2664057" y="4480032"/>
            <a:ext cx="9173110" cy="1600883"/>
          </a:xfrm>
        </p:spPr>
        <p:txBody>
          <a:bodyPr anchor="ctr">
            <a:normAutofit/>
          </a:bodyPr>
          <a:lstStyle>
            <a:lvl1pPr marL="0" indent="0" algn="l">
              <a:buNone/>
              <a:defRPr sz="1852">
                <a:solidFill>
                  <a:schemeClr val="tx1">
                    <a:lumMod val="65000"/>
                    <a:lumOff val="35000"/>
                  </a:schemeClr>
                </a:solidFill>
              </a:defRPr>
            </a:lvl1pPr>
            <a:lvl2pPr marL="470413" indent="0">
              <a:buNone/>
              <a:defRPr sz="1852">
                <a:solidFill>
                  <a:schemeClr val="tx1">
                    <a:tint val="75000"/>
                  </a:schemeClr>
                </a:solidFill>
              </a:defRPr>
            </a:lvl2pPr>
            <a:lvl3pPr marL="940826" indent="0">
              <a:buNone/>
              <a:defRPr sz="1646">
                <a:solidFill>
                  <a:schemeClr val="tx1">
                    <a:tint val="75000"/>
                  </a:schemeClr>
                </a:solidFill>
              </a:defRPr>
            </a:lvl3pPr>
            <a:lvl4pPr marL="1411239" indent="0">
              <a:buNone/>
              <a:defRPr sz="1440">
                <a:solidFill>
                  <a:schemeClr val="tx1">
                    <a:tint val="75000"/>
                  </a:schemeClr>
                </a:solidFill>
              </a:defRPr>
            </a:lvl4pPr>
            <a:lvl5pPr marL="1881652" indent="0">
              <a:buNone/>
              <a:defRPr sz="1440">
                <a:solidFill>
                  <a:schemeClr val="tx1">
                    <a:tint val="75000"/>
                  </a:schemeClr>
                </a:solidFill>
              </a:defRPr>
            </a:lvl5pPr>
            <a:lvl6pPr marL="2352065" indent="0">
              <a:buNone/>
              <a:defRPr sz="1440">
                <a:solidFill>
                  <a:schemeClr val="tx1">
                    <a:tint val="75000"/>
                  </a:schemeClr>
                </a:solidFill>
              </a:defRPr>
            </a:lvl6pPr>
            <a:lvl7pPr marL="2822478" indent="0">
              <a:buNone/>
              <a:defRPr sz="1440">
                <a:solidFill>
                  <a:schemeClr val="tx1">
                    <a:tint val="75000"/>
                  </a:schemeClr>
                </a:solidFill>
              </a:defRPr>
            </a:lvl7pPr>
            <a:lvl8pPr marL="3292892" indent="0">
              <a:buNone/>
              <a:defRPr sz="1440">
                <a:solidFill>
                  <a:schemeClr val="tx1">
                    <a:tint val="75000"/>
                  </a:schemeClr>
                </a:solidFill>
              </a:defRPr>
            </a:lvl8pPr>
            <a:lvl9pPr marL="3763305" indent="0">
              <a:buNone/>
              <a:defRPr sz="14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309" y="3270137"/>
            <a:ext cx="1634445" cy="52197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47185" y="3338010"/>
            <a:ext cx="802307" cy="37569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37331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32330" y="627239"/>
            <a:ext cx="8636563" cy="2979385"/>
          </a:xfrm>
        </p:spPr>
        <p:txBody>
          <a:bodyPr anchor="ctr">
            <a:normAutofit/>
          </a:bodyPr>
          <a:lstStyle>
            <a:lvl1pPr algn="l">
              <a:defRPr sz="4939"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369680" y="3606624"/>
            <a:ext cx="7754408" cy="392024"/>
          </a:xfrm>
        </p:spPr>
        <p:txBody>
          <a:bodyPr anchor="ctr">
            <a:noAutofit/>
          </a:bodyPr>
          <a:lstStyle>
            <a:lvl1pPr marL="0" indent="0">
              <a:buFontTx/>
              <a:buNone/>
              <a:defRPr sz="1646">
                <a:solidFill>
                  <a:schemeClr val="tx1">
                    <a:lumMod val="50000"/>
                    <a:lumOff val="50000"/>
                  </a:schemeClr>
                </a:solidFill>
              </a:defRPr>
            </a:lvl1pPr>
            <a:lvl2pPr marL="470413" indent="0">
              <a:buFontTx/>
              <a:buNone/>
              <a:defRPr/>
            </a:lvl2pPr>
            <a:lvl3pPr marL="940826" indent="0">
              <a:buFontTx/>
              <a:buNone/>
              <a:defRPr/>
            </a:lvl3pPr>
            <a:lvl4pPr marL="1411239" indent="0">
              <a:buFontTx/>
              <a:buNone/>
              <a:defRPr/>
            </a:lvl4pPr>
            <a:lvl5pPr marL="1881652" indent="0">
              <a:buFontTx/>
              <a:buNone/>
              <a:defRPr/>
            </a:lvl5pPr>
          </a:lstStyle>
          <a:p>
            <a:pPr lvl="0"/>
            <a:r>
              <a:rPr lang="en-US"/>
              <a:t>Click to edit Master text styles</a:t>
            </a:r>
          </a:p>
        </p:txBody>
      </p:sp>
      <p:sp>
        <p:nvSpPr>
          <p:cNvPr id="3" name="Text Placeholder 2"/>
          <p:cNvSpPr>
            <a:spLocks noGrp="1"/>
          </p:cNvSpPr>
          <p:nvPr>
            <p:ph type="body" idx="1"/>
          </p:nvPr>
        </p:nvSpPr>
        <p:spPr>
          <a:xfrm>
            <a:off x="2664057" y="4480032"/>
            <a:ext cx="9173110" cy="1600883"/>
          </a:xfrm>
        </p:spPr>
        <p:txBody>
          <a:bodyPr anchor="ctr">
            <a:normAutofit/>
          </a:bodyPr>
          <a:lstStyle>
            <a:lvl1pPr marL="0" indent="0" algn="l">
              <a:buNone/>
              <a:defRPr sz="1852">
                <a:solidFill>
                  <a:schemeClr val="tx1">
                    <a:lumMod val="65000"/>
                    <a:lumOff val="35000"/>
                  </a:schemeClr>
                </a:solidFill>
              </a:defRPr>
            </a:lvl1pPr>
            <a:lvl2pPr marL="470413" indent="0">
              <a:buNone/>
              <a:defRPr sz="1852">
                <a:solidFill>
                  <a:schemeClr val="tx1">
                    <a:tint val="75000"/>
                  </a:schemeClr>
                </a:solidFill>
              </a:defRPr>
            </a:lvl2pPr>
            <a:lvl3pPr marL="940826" indent="0">
              <a:buNone/>
              <a:defRPr sz="1646">
                <a:solidFill>
                  <a:schemeClr val="tx1">
                    <a:tint val="75000"/>
                  </a:schemeClr>
                </a:solidFill>
              </a:defRPr>
            </a:lvl3pPr>
            <a:lvl4pPr marL="1411239" indent="0">
              <a:buNone/>
              <a:defRPr sz="1440">
                <a:solidFill>
                  <a:schemeClr val="tx1">
                    <a:tint val="75000"/>
                  </a:schemeClr>
                </a:solidFill>
              </a:defRPr>
            </a:lvl4pPr>
            <a:lvl5pPr marL="1881652" indent="0">
              <a:buNone/>
              <a:defRPr sz="1440">
                <a:solidFill>
                  <a:schemeClr val="tx1">
                    <a:tint val="75000"/>
                  </a:schemeClr>
                </a:solidFill>
              </a:defRPr>
            </a:lvl5pPr>
            <a:lvl6pPr marL="2352065" indent="0">
              <a:buNone/>
              <a:defRPr sz="1440">
                <a:solidFill>
                  <a:schemeClr val="tx1">
                    <a:tint val="75000"/>
                  </a:schemeClr>
                </a:solidFill>
              </a:defRPr>
            </a:lvl6pPr>
            <a:lvl7pPr marL="2822478" indent="0">
              <a:buNone/>
              <a:defRPr sz="1440">
                <a:solidFill>
                  <a:schemeClr val="tx1">
                    <a:tint val="75000"/>
                  </a:schemeClr>
                </a:solidFill>
              </a:defRPr>
            </a:lvl7pPr>
            <a:lvl8pPr marL="3292892" indent="0">
              <a:buNone/>
              <a:defRPr sz="1440">
                <a:solidFill>
                  <a:schemeClr val="tx1">
                    <a:tint val="75000"/>
                  </a:schemeClr>
                </a:solidFill>
              </a:defRPr>
            </a:lvl8pPr>
            <a:lvl9pPr marL="3763305" indent="0">
              <a:buNone/>
              <a:defRPr sz="14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309" y="3270137"/>
            <a:ext cx="1634445" cy="52197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47185" y="3338010"/>
            <a:ext cx="802307" cy="375690"/>
          </a:xfrm>
        </p:spPr>
        <p:txBody>
          <a:bodyPr/>
          <a:lstStyle/>
          <a:p>
            <a:fld id="{D57F1E4F-1CFF-5643-939E-217C01CDF565}" type="slidenum">
              <a:rPr lang="en-US" smtClean="0"/>
              <a:pPr/>
              <a:t>‹#›</a:t>
            </a:fld>
            <a:endParaRPr lang="en-US" dirty="0"/>
          </a:p>
        </p:txBody>
      </p:sp>
      <p:sp>
        <p:nvSpPr>
          <p:cNvPr id="14" name="TextBox 13"/>
          <p:cNvSpPr txBox="1"/>
          <p:nvPr/>
        </p:nvSpPr>
        <p:spPr>
          <a:xfrm>
            <a:off x="2538983" y="666755"/>
            <a:ext cx="627221" cy="601697"/>
          </a:xfrm>
          <a:prstGeom prst="rect">
            <a:avLst/>
          </a:prstGeom>
        </p:spPr>
        <p:txBody>
          <a:bodyPr vert="horz" lIns="94083" tIns="47042" rIns="94083" bIns="47042" rtlCol="0" anchor="ctr">
            <a:noAutofit/>
          </a:bodyPr>
          <a:lstStyle/>
          <a:p>
            <a:pPr lvl="0"/>
            <a:r>
              <a:rPr lang="en-US" sz="8231" baseline="0" dirty="0">
                <a:ln w="3175" cmpd="sng">
                  <a:noFill/>
                </a:ln>
                <a:solidFill>
                  <a:schemeClr val="accent1"/>
                </a:solidFill>
                <a:effectLst/>
                <a:latin typeface="Arial"/>
              </a:rPr>
              <a:t>“</a:t>
            </a:r>
          </a:p>
        </p:txBody>
      </p:sp>
      <p:sp>
        <p:nvSpPr>
          <p:cNvPr id="15" name="TextBox 14"/>
          <p:cNvSpPr txBox="1"/>
          <p:nvPr/>
        </p:nvSpPr>
        <p:spPr>
          <a:xfrm>
            <a:off x="11436141" y="2989372"/>
            <a:ext cx="627221" cy="601697"/>
          </a:xfrm>
          <a:prstGeom prst="rect">
            <a:avLst/>
          </a:prstGeom>
        </p:spPr>
        <p:txBody>
          <a:bodyPr vert="horz" lIns="94083" tIns="47042" rIns="94083" bIns="47042" rtlCol="0" anchor="ctr">
            <a:noAutofit/>
          </a:bodyPr>
          <a:lstStyle/>
          <a:p>
            <a:pPr lvl="0"/>
            <a:r>
              <a:rPr lang="en-US" sz="8231"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934216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664057" y="2508956"/>
            <a:ext cx="9173111" cy="2803689"/>
          </a:xfrm>
        </p:spPr>
        <p:txBody>
          <a:bodyPr anchor="b">
            <a:normAutofit/>
          </a:bodyPr>
          <a:lstStyle>
            <a:lvl1pPr algn="l">
              <a:defRPr sz="4939" b="0"/>
            </a:lvl1pPr>
          </a:lstStyle>
          <a:p>
            <a:r>
              <a:rPr lang="en-US"/>
              <a:t>Click to edit Master title style</a:t>
            </a:r>
            <a:endParaRPr lang="en-US" dirty="0"/>
          </a:p>
        </p:txBody>
      </p:sp>
      <p:sp>
        <p:nvSpPr>
          <p:cNvPr id="4" name="Text Placeholder 3"/>
          <p:cNvSpPr>
            <a:spLocks noGrp="1"/>
          </p:cNvSpPr>
          <p:nvPr>
            <p:ph type="body" sz="half" idx="2"/>
          </p:nvPr>
        </p:nvSpPr>
        <p:spPr>
          <a:xfrm>
            <a:off x="2664057" y="5331531"/>
            <a:ext cx="9173111" cy="750734"/>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309" y="5053847"/>
            <a:ext cx="1634445" cy="52197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47185" y="5127274"/>
            <a:ext cx="802307" cy="37569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56074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932330" y="627239"/>
            <a:ext cx="8636563" cy="2979385"/>
          </a:xfrm>
        </p:spPr>
        <p:txBody>
          <a:bodyPr anchor="ctr">
            <a:normAutofit/>
          </a:bodyPr>
          <a:lstStyle>
            <a:lvl1pPr algn="l">
              <a:defRPr sz="4939"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664056" y="4469077"/>
            <a:ext cx="9173111" cy="862454"/>
          </a:xfrm>
        </p:spPr>
        <p:txBody>
          <a:bodyPr anchor="b">
            <a:noAutofit/>
          </a:bodyPr>
          <a:lstStyle>
            <a:lvl1pPr marL="0" indent="0">
              <a:buFontTx/>
              <a:buNone/>
              <a:defRPr sz="2469">
                <a:solidFill>
                  <a:schemeClr val="accent1"/>
                </a:solidFill>
              </a:defRPr>
            </a:lvl1pPr>
            <a:lvl2pPr marL="470413" indent="0">
              <a:buFontTx/>
              <a:buNone/>
              <a:defRPr/>
            </a:lvl2pPr>
            <a:lvl3pPr marL="940826" indent="0">
              <a:buFontTx/>
              <a:buNone/>
              <a:defRPr/>
            </a:lvl3pPr>
            <a:lvl4pPr marL="1411239" indent="0">
              <a:buFontTx/>
              <a:buNone/>
              <a:defRPr/>
            </a:lvl4pPr>
            <a:lvl5pPr marL="1881652"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664057" y="5331531"/>
            <a:ext cx="9173111" cy="750734"/>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309" y="5053847"/>
            <a:ext cx="1634445" cy="52197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47185" y="5127274"/>
            <a:ext cx="802307" cy="375690"/>
          </a:xfrm>
        </p:spPr>
        <p:txBody>
          <a:bodyPr/>
          <a:lstStyle/>
          <a:p>
            <a:fld id="{D57F1E4F-1CFF-5643-939E-217C01CDF565}" type="slidenum">
              <a:rPr lang="en-US" smtClean="0"/>
              <a:pPr/>
              <a:t>‹#›</a:t>
            </a:fld>
            <a:endParaRPr lang="en-US" dirty="0"/>
          </a:p>
        </p:txBody>
      </p:sp>
      <p:sp>
        <p:nvSpPr>
          <p:cNvPr id="17" name="TextBox 16"/>
          <p:cNvSpPr txBox="1"/>
          <p:nvPr/>
        </p:nvSpPr>
        <p:spPr>
          <a:xfrm>
            <a:off x="2538983" y="666755"/>
            <a:ext cx="627221" cy="601697"/>
          </a:xfrm>
          <a:prstGeom prst="rect">
            <a:avLst/>
          </a:prstGeom>
        </p:spPr>
        <p:txBody>
          <a:bodyPr vert="horz" lIns="94083" tIns="47042" rIns="94083" bIns="47042" rtlCol="0" anchor="ctr">
            <a:noAutofit/>
          </a:bodyPr>
          <a:lstStyle/>
          <a:p>
            <a:pPr lvl="0"/>
            <a:r>
              <a:rPr lang="en-US" sz="8231" baseline="0" dirty="0">
                <a:ln w="3175" cmpd="sng">
                  <a:noFill/>
                </a:ln>
                <a:solidFill>
                  <a:schemeClr val="accent1"/>
                </a:solidFill>
                <a:effectLst/>
                <a:latin typeface="Arial"/>
              </a:rPr>
              <a:t>“</a:t>
            </a:r>
          </a:p>
        </p:txBody>
      </p:sp>
      <p:sp>
        <p:nvSpPr>
          <p:cNvPr id="18" name="TextBox 17"/>
          <p:cNvSpPr txBox="1"/>
          <p:nvPr/>
        </p:nvSpPr>
        <p:spPr>
          <a:xfrm>
            <a:off x="11436141" y="2989372"/>
            <a:ext cx="627221" cy="601697"/>
          </a:xfrm>
          <a:prstGeom prst="rect">
            <a:avLst/>
          </a:prstGeom>
        </p:spPr>
        <p:txBody>
          <a:bodyPr vert="horz" lIns="94083" tIns="47042" rIns="94083" bIns="47042" rtlCol="0" anchor="ctr">
            <a:noAutofit/>
          </a:bodyPr>
          <a:lstStyle/>
          <a:p>
            <a:pPr lvl="0"/>
            <a:r>
              <a:rPr lang="en-US" sz="8231"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42552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664057" y="645561"/>
            <a:ext cx="9173110" cy="2963354"/>
          </a:xfrm>
        </p:spPr>
        <p:txBody>
          <a:bodyPr anchor="ctr">
            <a:normAutofit/>
          </a:bodyPr>
          <a:lstStyle>
            <a:lvl1pPr algn="l">
              <a:defRPr sz="4939" b="0"/>
            </a:lvl1pPr>
          </a:lstStyle>
          <a:p>
            <a:r>
              <a:rPr lang="en-US"/>
              <a:t>Click to edit Master title style</a:t>
            </a:r>
            <a:endParaRPr lang="en-US" dirty="0"/>
          </a:p>
        </p:txBody>
      </p:sp>
      <p:sp>
        <p:nvSpPr>
          <p:cNvPr id="21" name="Text Placeholder 9"/>
          <p:cNvSpPr>
            <a:spLocks noGrp="1"/>
          </p:cNvSpPr>
          <p:nvPr>
            <p:ph type="body" sz="quarter" idx="13"/>
          </p:nvPr>
        </p:nvSpPr>
        <p:spPr>
          <a:xfrm>
            <a:off x="2664056" y="4469077"/>
            <a:ext cx="9173111" cy="862454"/>
          </a:xfrm>
        </p:spPr>
        <p:txBody>
          <a:bodyPr anchor="b">
            <a:noAutofit/>
          </a:bodyPr>
          <a:lstStyle>
            <a:lvl1pPr marL="0" indent="0">
              <a:buFontTx/>
              <a:buNone/>
              <a:defRPr sz="2469">
                <a:solidFill>
                  <a:schemeClr val="accent1"/>
                </a:solidFill>
              </a:defRPr>
            </a:lvl1pPr>
            <a:lvl2pPr marL="470413" indent="0">
              <a:buFontTx/>
              <a:buNone/>
              <a:defRPr/>
            </a:lvl2pPr>
            <a:lvl3pPr marL="940826" indent="0">
              <a:buFontTx/>
              <a:buNone/>
              <a:defRPr/>
            </a:lvl3pPr>
            <a:lvl4pPr marL="1411239" indent="0">
              <a:buFontTx/>
              <a:buNone/>
              <a:defRPr/>
            </a:lvl4pPr>
            <a:lvl5pPr marL="1881652"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664057" y="5331531"/>
            <a:ext cx="9173111" cy="750734"/>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309" y="5053847"/>
            <a:ext cx="1634445" cy="52197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47185" y="5127274"/>
            <a:ext cx="802307" cy="37569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9129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309" y="735046"/>
            <a:ext cx="1634445" cy="52197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718229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63491" y="645559"/>
            <a:ext cx="2271414" cy="5436706"/>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664056" y="645559"/>
            <a:ext cx="6664226" cy="54367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309" y="735046"/>
            <a:ext cx="1634445" cy="52197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48448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gradFill flip="none" rotWithShape="1">
          <a:gsLst>
            <a:gs pos="50000">
              <a:srgbClr val="EFF4E2"/>
            </a:gs>
            <a:gs pos="0">
              <a:schemeClr val="bg2">
                <a:tint val="90000"/>
                <a:satMod val="92000"/>
                <a:lumMod val="120000"/>
              </a:schemeClr>
            </a:gs>
            <a:gs pos="100000">
              <a:schemeClr val="bg2">
                <a:shade val="98000"/>
                <a:satMod val="120000"/>
                <a:lumMod val="98000"/>
              </a:schemeClr>
            </a:gs>
          </a:gsLst>
          <a:path path="circle">
            <a:fillToRect l="50000" t="50000" r="100000" b="100000"/>
          </a:path>
          <a:tileRect/>
        </a:gradFill>
        <a:effectLst/>
      </p:bgPr>
    </p:bg>
    <p:spTree>
      <p:nvGrpSpPr>
        <p:cNvPr id="1" name=""/>
        <p:cNvGrpSpPr/>
        <p:nvPr/>
      </p:nvGrpSpPr>
      <p:grpSpPr>
        <a:xfrm>
          <a:off x="0" y="0"/>
          <a:ext cx="0" cy="0"/>
          <a:chOff x="0" y="0"/>
          <a:chExt cx="0" cy="0"/>
        </a:xfrm>
      </p:grpSpPr>
      <p:grpSp>
        <p:nvGrpSpPr>
          <p:cNvPr id="23" name="Group 22"/>
          <p:cNvGrpSpPr/>
          <p:nvPr/>
        </p:nvGrpSpPr>
        <p:grpSpPr>
          <a:xfrm>
            <a:off x="1" y="235215"/>
            <a:ext cx="2933943" cy="683071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8008" y="-808"/>
            <a:ext cx="2424797" cy="7052362"/>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8166" cy="705643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667876" y="642169"/>
            <a:ext cx="9169290" cy="131795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664056" y="2195336"/>
            <a:ext cx="9173111" cy="399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61128" y="6307823"/>
            <a:ext cx="1179418" cy="381114"/>
          </a:xfrm>
          <a:prstGeom prst="rect">
            <a:avLst/>
          </a:prstGeom>
        </p:spPr>
        <p:txBody>
          <a:bodyPr vert="horz" lIns="91440" tIns="45720" rIns="91440" bIns="45720" rtlCol="0" anchor="ctr"/>
          <a:lstStyle>
            <a:lvl1pPr algn="r">
              <a:defRPr sz="926">
                <a:solidFill>
                  <a:schemeClr val="tx1">
                    <a:tint val="75000"/>
                  </a:schemeClr>
                </a:solidFill>
              </a:defRPr>
            </a:lvl1pPr>
          </a:lstStyle>
          <a:p>
            <a:fld id="{B61BEF0D-F0BB-DE4B-95CE-6DB70DBA9567}" type="datetimeFigureOut">
              <a:rPr lang="en-US" smtClean="0"/>
              <a:pPr/>
              <a:t>5/24/2026</a:t>
            </a:fld>
            <a:endParaRPr lang="en-US" dirty="0"/>
          </a:p>
        </p:txBody>
      </p:sp>
      <p:sp>
        <p:nvSpPr>
          <p:cNvPr id="5" name="Footer Placeholder 4"/>
          <p:cNvSpPr>
            <a:spLocks noGrp="1"/>
          </p:cNvSpPr>
          <p:nvPr>
            <p:ph type="ftr" sz="quarter" idx="3"/>
          </p:nvPr>
        </p:nvSpPr>
        <p:spPr>
          <a:xfrm>
            <a:off x="2664057" y="6313350"/>
            <a:ext cx="7840265" cy="375690"/>
          </a:xfrm>
          <a:prstGeom prst="rect">
            <a:avLst/>
          </a:prstGeom>
        </p:spPr>
        <p:txBody>
          <a:bodyPr vert="horz" lIns="91440" tIns="45720" rIns="91440" bIns="45720" rtlCol="0" anchor="ctr"/>
          <a:lstStyle>
            <a:lvl1pPr algn="l">
              <a:defRPr sz="926">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47185" y="810577"/>
            <a:ext cx="802307" cy="375690"/>
          </a:xfrm>
          <a:prstGeom prst="rect">
            <a:avLst/>
          </a:prstGeom>
        </p:spPr>
        <p:txBody>
          <a:bodyPr vert="horz" lIns="91440" tIns="45720" rIns="91440" bIns="45720" rtlCol="0" anchor="ctr"/>
          <a:lstStyle>
            <a:lvl1pPr algn="r">
              <a:defRPr sz="2058">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6663101"/>
      </p:ext>
    </p:extLst>
  </p:cSld>
  <p:clrMap bg1="lt1" tx1="dk1" bg2="lt2" tx2="dk2" accent1="accent1" accent2="accent2" accent3="accent3" accent4="accent4" accent5="accent5" accent6="accent6" hlink="hlink" folHlink="folHlink"/>
  <p:sldLayoutIdLst>
    <p:sldLayoutId id="2147483956" r:id="rId1"/>
    <p:sldLayoutId id="2147483957" r:id="rId2"/>
    <p:sldLayoutId id="2147483958" r:id="rId3"/>
    <p:sldLayoutId id="2147483959" r:id="rId4"/>
    <p:sldLayoutId id="2147483960" r:id="rId5"/>
    <p:sldLayoutId id="2147483961" r:id="rId6"/>
    <p:sldLayoutId id="2147483962" r:id="rId7"/>
    <p:sldLayoutId id="2147483963" r:id="rId8"/>
    <p:sldLayoutId id="2147483964" r:id="rId9"/>
    <p:sldLayoutId id="2147483965" r:id="rId10"/>
    <p:sldLayoutId id="2147483966" r:id="rId11"/>
    <p:sldLayoutId id="2147483967" r:id="rId12"/>
    <p:sldLayoutId id="2147483968" r:id="rId13"/>
    <p:sldLayoutId id="2147483969" r:id="rId14"/>
    <p:sldLayoutId id="2147483970" r:id="rId15"/>
    <p:sldLayoutId id="2147483971" r:id="rId16"/>
  </p:sldLayoutIdLst>
  <p:txStyles>
    <p:titleStyle>
      <a:lvl1pPr algn="l" defTabSz="470413" rtl="0" eaLnBrk="1" latinLnBrk="0" hangingPunct="1">
        <a:spcBef>
          <a:spcPct val="0"/>
        </a:spcBef>
        <a:buNone/>
        <a:defRPr sz="3704"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52810" indent="-352810" algn="l" defTabSz="470413" rtl="0" eaLnBrk="1" latinLnBrk="0" hangingPunct="1">
        <a:spcBef>
          <a:spcPts val="1029"/>
        </a:spcBef>
        <a:spcAft>
          <a:spcPts val="0"/>
        </a:spcAft>
        <a:buClr>
          <a:schemeClr val="accent1"/>
        </a:buClr>
        <a:buFont typeface="Wingdings 3" charset="2"/>
        <a:buChar char=""/>
        <a:defRPr sz="1852" kern="1200">
          <a:solidFill>
            <a:schemeClr val="tx1">
              <a:lumMod val="75000"/>
              <a:lumOff val="25000"/>
            </a:schemeClr>
          </a:solidFill>
          <a:latin typeface="+mn-lt"/>
          <a:ea typeface="+mn-ea"/>
          <a:cs typeface="+mn-cs"/>
        </a:defRPr>
      </a:lvl1pPr>
      <a:lvl2pPr marL="764421" indent="-294008" algn="l" defTabSz="470413" rtl="0" eaLnBrk="1" latinLnBrk="0" hangingPunct="1">
        <a:spcBef>
          <a:spcPts val="1029"/>
        </a:spcBef>
        <a:spcAft>
          <a:spcPts val="0"/>
        </a:spcAft>
        <a:buClr>
          <a:schemeClr val="accent1"/>
        </a:buClr>
        <a:buFont typeface="Wingdings 3" charset="2"/>
        <a:buChar char=""/>
        <a:defRPr sz="1646" kern="1200">
          <a:solidFill>
            <a:schemeClr val="tx1">
              <a:lumMod val="75000"/>
              <a:lumOff val="25000"/>
            </a:schemeClr>
          </a:solidFill>
          <a:latin typeface="+mn-lt"/>
          <a:ea typeface="+mn-ea"/>
          <a:cs typeface="+mn-cs"/>
        </a:defRPr>
      </a:lvl2pPr>
      <a:lvl3pPr marL="1176033" indent="-235207" algn="l" defTabSz="470413" rtl="0" eaLnBrk="1" latinLnBrk="0" hangingPunct="1">
        <a:spcBef>
          <a:spcPts val="1029"/>
        </a:spcBef>
        <a:spcAft>
          <a:spcPts val="0"/>
        </a:spcAft>
        <a:buClr>
          <a:schemeClr val="accent1"/>
        </a:buClr>
        <a:buFont typeface="Wingdings 3" charset="2"/>
        <a:buChar char=""/>
        <a:defRPr sz="1440" kern="1200">
          <a:solidFill>
            <a:schemeClr val="tx1">
              <a:lumMod val="75000"/>
              <a:lumOff val="25000"/>
            </a:schemeClr>
          </a:solidFill>
          <a:latin typeface="+mn-lt"/>
          <a:ea typeface="+mn-ea"/>
          <a:cs typeface="+mn-cs"/>
        </a:defRPr>
      </a:lvl3pPr>
      <a:lvl4pPr marL="1646446" indent="-235207" algn="l" defTabSz="470413" rtl="0" eaLnBrk="1" latinLnBrk="0" hangingPunct="1">
        <a:spcBef>
          <a:spcPts val="1029"/>
        </a:spcBef>
        <a:spcAft>
          <a:spcPts val="0"/>
        </a:spcAft>
        <a:buClr>
          <a:schemeClr val="accent1"/>
        </a:buClr>
        <a:buFont typeface="Wingdings 3" charset="2"/>
        <a:buChar char=""/>
        <a:defRPr sz="1235" kern="1200">
          <a:solidFill>
            <a:schemeClr val="tx1">
              <a:lumMod val="75000"/>
              <a:lumOff val="25000"/>
            </a:schemeClr>
          </a:solidFill>
          <a:latin typeface="+mn-lt"/>
          <a:ea typeface="+mn-ea"/>
          <a:cs typeface="+mn-cs"/>
        </a:defRPr>
      </a:lvl4pPr>
      <a:lvl5pPr marL="2116859" indent="-235207" algn="l" defTabSz="470413" rtl="0" eaLnBrk="1" latinLnBrk="0" hangingPunct="1">
        <a:spcBef>
          <a:spcPts val="1029"/>
        </a:spcBef>
        <a:spcAft>
          <a:spcPts val="0"/>
        </a:spcAft>
        <a:buClr>
          <a:schemeClr val="accent1"/>
        </a:buClr>
        <a:buFont typeface="Wingdings 3" charset="2"/>
        <a:buChar char=""/>
        <a:defRPr sz="1235" kern="1200">
          <a:solidFill>
            <a:schemeClr val="tx1">
              <a:lumMod val="75000"/>
              <a:lumOff val="25000"/>
            </a:schemeClr>
          </a:solidFill>
          <a:latin typeface="+mn-lt"/>
          <a:ea typeface="+mn-ea"/>
          <a:cs typeface="+mn-cs"/>
        </a:defRPr>
      </a:lvl5pPr>
      <a:lvl6pPr marL="2587272" indent="-235207" algn="l" defTabSz="470413" rtl="0" eaLnBrk="1" latinLnBrk="0" hangingPunct="1">
        <a:spcBef>
          <a:spcPts val="1029"/>
        </a:spcBef>
        <a:spcAft>
          <a:spcPts val="0"/>
        </a:spcAft>
        <a:buClr>
          <a:schemeClr val="accent1"/>
        </a:buClr>
        <a:buFont typeface="Wingdings 3" charset="2"/>
        <a:buChar char=""/>
        <a:defRPr sz="1235" kern="1200">
          <a:solidFill>
            <a:schemeClr val="tx1">
              <a:lumMod val="75000"/>
              <a:lumOff val="25000"/>
            </a:schemeClr>
          </a:solidFill>
          <a:latin typeface="+mn-lt"/>
          <a:ea typeface="+mn-ea"/>
          <a:cs typeface="+mn-cs"/>
        </a:defRPr>
      </a:lvl6pPr>
      <a:lvl7pPr marL="3057685" indent="-235207" algn="l" defTabSz="470413" rtl="0" eaLnBrk="1" latinLnBrk="0" hangingPunct="1">
        <a:spcBef>
          <a:spcPts val="1029"/>
        </a:spcBef>
        <a:spcAft>
          <a:spcPts val="0"/>
        </a:spcAft>
        <a:buClr>
          <a:schemeClr val="accent1"/>
        </a:buClr>
        <a:buFont typeface="Wingdings 3" charset="2"/>
        <a:buChar char=""/>
        <a:defRPr sz="1235" kern="1200">
          <a:solidFill>
            <a:schemeClr val="tx1">
              <a:lumMod val="75000"/>
              <a:lumOff val="25000"/>
            </a:schemeClr>
          </a:solidFill>
          <a:latin typeface="+mn-lt"/>
          <a:ea typeface="+mn-ea"/>
          <a:cs typeface="+mn-cs"/>
        </a:defRPr>
      </a:lvl7pPr>
      <a:lvl8pPr marL="3528098" indent="-235207" algn="l" defTabSz="470413" rtl="0" eaLnBrk="1" latinLnBrk="0" hangingPunct="1">
        <a:spcBef>
          <a:spcPts val="1029"/>
        </a:spcBef>
        <a:spcAft>
          <a:spcPts val="0"/>
        </a:spcAft>
        <a:buClr>
          <a:schemeClr val="accent1"/>
        </a:buClr>
        <a:buFont typeface="Wingdings 3" charset="2"/>
        <a:buChar char=""/>
        <a:defRPr sz="1235" kern="1200">
          <a:solidFill>
            <a:schemeClr val="tx1">
              <a:lumMod val="75000"/>
              <a:lumOff val="25000"/>
            </a:schemeClr>
          </a:solidFill>
          <a:latin typeface="+mn-lt"/>
          <a:ea typeface="+mn-ea"/>
          <a:cs typeface="+mn-cs"/>
        </a:defRPr>
      </a:lvl8pPr>
      <a:lvl9pPr marL="3998511" indent="-235207" algn="l" defTabSz="470413" rtl="0" eaLnBrk="1" latinLnBrk="0" hangingPunct="1">
        <a:spcBef>
          <a:spcPts val="1029"/>
        </a:spcBef>
        <a:spcAft>
          <a:spcPts val="0"/>
        </a:spcAft>
        <a:buClr>
          <a:schemeClr val="accent1"/>
        </a:buClr>
        <a:buFont typeface="Wingdings 3" charset="2"/>
        <a:buChar char=""/>
        <a:defRPr sz="1235" kern="1200">
          <a:solidFill>
            <a:schemeClr val="tx1">
              <a:lumMod val="75000"/>
              <a:lumOff val="25000"/>
            </a:schemeClr>
          </a:solidFill>
          <a:latin typeface="+mn-lt"/>
          <a:ea typeface="+mn-ea"/>
          <a:cs typeface="+mn-cs"/>
        </a:defRPr>
      </a:lvl9pPr>
    </p:bodyStyle>
    <p:otherStyle>
      <a:defPPr>
        <a:defRPr lang="en-US"/>
      </a:defPPr>
      <a:lvl1pPr marL="0" algn="l" defTabSz="470413" rtl="0" eaLnBrk="1" latinLnBrk="0" hangingPunct="1">
        <a:defRPr sz="1852" kern="1200">
          <a:solidFill>
            <a:schemeClr val="tx1"/>
          </a:solidFill>
          <a:latin typeface="+mn-lt"/>
          <a:ea typeface="+mn-ea"/>
          <a:cs typeface="+mn-cs"/>
        </a:defRPr>
      </a:lvl1pPr>
      <a:lvl2pPr marL="470413" algn="l" defTabSz="470413" rtl="0" eaLnBrk="1" latinLnBrk="0" hangingPunct="1">
        <a:defRPr sz="1852" kern="1200">
          <a:solidFill>
            <a:schemeClr val="tx1"/>
          </a:solidFill>
          <a:latin typeface="+mn-lt"/>
          <a:ea typeface="+mn-ea"/>
          <a:cs typeface="+mn-cs"/>
        </a:defRPr>
      </a:lvl2pPr>
      <a:lvl3pPr marL="940826" algn="l" defTabSz="470413" rtl="0" eaLnBrk="1" latinLnBrk="0" hangingPunct="1">
        <a:defRPr sz="1852" kern="1200">
          <a:solidFill>
            <a:schemeClr val="tx1"/>
          </a:solidFill>
          <a:latin typeface="+mn-lt"/>
          <a:ea typeface="+mn-ea"/>
          <a:cs typeface="+mn-cs"/>
        </a:defRPr>
      </a:lvl3pPr>
      <a:lvl4pPr marL="1411239" algn="l" defTabSz="470413" rtl="0" eaLnBrk="1" latinLnBrk="0" hangingPunct="1">
        <a:defRPr sz="1852" kern="1200">
          <a:solidFill>
            <a:schemeClr val="tx1"/>
          </a:solidFill>
          <a:latin typeface="+mn-lt"/>
          <a:ea typeface="+mn-ea"/>
          <a:cs typeface="+mn-cs"/>
        </a:defRPr>
      </a:lvl4pPr>
      <a:lvl5pPr marL="1881652" algn="l" defTabSz="470413" rtl="0" eaLnBrk="1" latinLnBrk="0" hangingPunct="1">
        <a:defRPr sz="1852" kern="1200">
          <a:solidFill>
            <a:schemeClr val="tx1"/>
          </a:solidFill>
          <a:latin typeface="+mn-lt"/>
          <a:ea typeface="+mn-ea"/>
          <a:cs typeface="+mn-cs"/>
        </a:defRPr>
      </a:lvl5pPr>
      <a:lvl6pPr marL="2352065" algn="l" defTabSz="470413" rtl="0" eaLnBrk="1" latinLnBrk="0" hangingPunct="1">
        <a:defRPr sz="1852" kern="1200">
          <a:solidFill>
            <a:schemeClr val="tx1"/>
          </a:solidFill>
          <a:latin typeface="+mn-lt"/>
          <a:ea typeface="+mn-ea"/>
          <a:cs typeface="+mn-cs"/>
        </a:defRPr>
      </a:lvl6pPr>
      <a:lvl7pPr marL="2822478" algn="l" defTabSz="470413" rtl="0" eaLnBrk="1" latinLnBrk="0" hangingPunct="1">
        <a:defRPr sz="1852" kern="1200">
          <a:solidFill>
            <a:schemeClr val="tx1"/>
          </a:solidFill>
          <a:latin typeface="+mn-lt"/>
          <a:ea typeface="+mn-ea"/>
          <a:cs typeface="+mn-cs"/>
        </a:defRPr>
      </a:lvl7pPr>
      <a:lvl8pPr marL="3292892" algn="l" defTabSz="470413" rtl="0" eaLnBrk="1" latinLnBrk="0" hangingPunct="1">
        <a:defRPr sz="1852" kern="1200">
          <a:solidFill>
            <a:schemeClr val="tx1"/>
          </a:solidFill>
          <a:latin typeface="+mn-lt"/>
          <a:ea typeface="+mn-ea"/>
          <a:cs typeface="+mn-cs"/>
        </a:defRPr>
      </a:lvl8pPr>
      <a:lvl9pPr marL="3763305" algn="l" defTabSz="470413" rtl="0" eaLnBrk="1" latinLnBrk="0" hangingPunct="1">
        <a:defRPr sz="18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7.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customXml" Target="../ink/ink6.xml"/><Relationship Id="rId2" Type="http://schemas.openxmlformats.org/officeDocument/2006/relationships/notesSlide" Target="../notesSlides/notesSlide6.xml"/><Relationship Id="rId16" Type="http://schemas.openxmlformats.org/officeDocument/2006/relationships/customXml" Target="../ink/ink10.xml"/><Relationship Id="rId1" Type="http://schemas.openxmlformats.org/officeDocument/2006/relationships/slideLayout" Target="../slideLayouts/slideLayout7.xml"/><Relationship Id="rId6" Type="http://schemas.openxmlformats.org/officeDocument/2006/relationships/image" Target="../media/image130.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9.xml"/><Relationship Id="rId10" Type="http://schemas.openxmlformats.org/officeDocument/2006/relationships/image" Target="../media/image140.png"/><Relationship Id="rId4" Type="http://schemas.openxmlformats.org/officeDocument/2006/relationships/image" Target="../media/image14.png"/><Relationship Id="rId14" Type="http://schemas.openxmlformats.org/officeDocument/2006/relationships/customXml" Target="../ink/ink8.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2.jpeg"/><Relationship Id="rId12" Type="http://schemas.openxmlformats.org/officeDocument/2006/relationships/customXml" Target="../ink/ink12.xml"/><Relationship Id="rId2" Type="http://schemas.openxmlformats.org/officeDocument/2006/relationships/image" Target="../media/image21.png"/><Relationship Id="rId1" Type="http://schemas.openxmlformats.org/officeDocument/2006/relationships/slideLayout" Target="../slideLayouts/slideLayout7.xml"/><Relationship Id="rId11" Type="http://schemas.openxmlformats.org/officeDocument/2006/relationships/image" Target="../media/image29.png"/><Relationship Id="rId5" Type="http://schemas.openxmlformats.org/officeDocument/2006/relationships/customXml" Target="../ink/ink11.xml"/><Relationship Id="rId4" Type="http://schemas.openxmlformats.org/officeDocument/2006/relationships/image" Target="../media/image23.jpeg"/></Relationships>
</file>

<file path=ppt/slides/_rels/slide35.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customXml" Target="../ink/ink13.xml"/><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customXml" Target="../ink/ink14.xml"/><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customXml" Target="../ink/ink15.xml"/><Relationship Id="rId7"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customXml" Target="../ink/ink21.xml"/><Relationship Id="rId3" Type="http://schemas.openxmlformats.org/officeDocument/2006/relationships/customXml" Target="../ink/ink16.xml"/><Relationship Id="rId7" Type="http://schemas.openxmlformats.org/officeDocument/2006/relationships/customXml" Target="../ink/ink18.xml"/><Relationship Id="rId12"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00.png"/><Relationship Id="rId11" Type="http://schemas.openxmlformats.org/officeDocument/2006/relationships/customXml" Target="../ink/ink20.xml"/><Relationship Id="rId5" Type="http://schemas.openxmlformats.org/officeDocument/2006/relationships/customXml" Target="../ink/ink17.xml"/><Relationship Id="rId10" Type="http://schemas.openxmlformats.org/officeDocument/2006/relationships/image" Target="../media/image37.png"/><Relationship Id="rId4" Type="http://schemas.openxmlformats.org/officeDocument/2006/relationships/image" Target="../media/image290.png"/><Relationship Id="rId9" Type="http://schemas.openxmlformats.org/officeDocument/2006/relationships/customXml" Target="../ink/ink19.xml"/><Relationship Id="rId1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93750">
              <a:srgbClr val="E1EAC8"/>
            </a:gs>
            <a:gs pos="87500">
              <a:srgbClr val="E3EBCC"/>
            </a:gs>
            <a:gs pos="75000">
              <a:srgbClr val="E7EED3"/>
            </a:gs>
            <a:gs pos="50000">
              <a:srgbClr val="EFF4E2"/>
            </a:gs>
            <a:gs pos="0">
              <a:schemeClr val="bg2">
                <a:tint val="90000"/>
                <a:satMod val="92000"/>
                <a:lumMod val="120000"/>
              </a:schemeClr>
            </a:gs>
            <a:gs pos="100000">
              <a:schemeClr val="bg2">
                <a:shade val="98000"/>
                <a:satMod val="120000"/>
                <a:lumMod val="98000"/>
              </a:schemeClr>
            </a:gs>
          </a:gsLst>
          <a:path path="circle">
            <a:fillToRect l="50000" t="50000" r="100000" b="100000"/>
          </a:path>
          <a:tileRect/>
        </a:gra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FFAA863-97D4-F96D-9E90-9C11480663EB}"/>
              </a:ext>
            </a:extLst>
          </p:cNvPr>
          <p:cNvSpPr txBox="1"/>
          <p:nvPr/>
        </p:nvSpPr>
        <p:spPr>
          <a:xfrm>
            <a:off x="1740539" y="2836035"/>
            <a:ext cx="9721929" cy="662361"/>
          </a:xfrm>
          <a:prstGeom prst="rect">
            <a:avLst/>
          </a:prstGeom>
          <a:noFill/>
        </p:spPr>
        <p:txBody>
          <a:bodyPr wrap="square" rtlCol="0">
            <a:spAutoFit/>
          </a:bodyPr>
          <a:lstStyle/>
          <a:p>
            <a:pPr algn="ctr"/>
            <a:r>
              <a:rPr lang="en-IN" sz="1852" b="1" dirty="0">
                <a:latin typeface="Times New Roman" panose="02020603050405020304" pitchFamily="18" charset="0"/>
                <a:cs typeface="Times New Roman" panose="02020603050405020304" pitchFamily="18" charset="0"/>
              </a:rPr>
              <a:t>Quantitative Estimation and Comparative Study of Caffeine Content in Selected Beverages Using UV Spectrophotometry</a:t>
            </a:r>
            <a:endParaRPr lang="en-IN" sz="1852"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6080F56-E0B4-6FAC-3785-C0A0E5F8AD47}"/>
              </a:ext>
            </a:extLst>
          </p:cNvPr>
          <p:cNvSpPr txBox="1"/>
          <p:nvPr/>
        </p:nvSpPr>
        <p:spPr>
          <a:xfrm>
            <a:off x="4009193" y="2336642"/>
            <a:ext cx="4599623" cy="377347"/>
          </a:xfrm>
          <a:prstGeom prst="rect">
            <a:avLst/>
          </a:prstGeom>
          <a:noFill/>
          <a:ln>
            <a:solidFill>
              <a:schemeClr val="tx1"/>
            </a:solidFill>
          </a:ln>
        </p:spPr>
        <p:txBody>
          <a:bodyPr wrap="square" rtlCol="0">
            <a:spAutoFit/>
          </a:bodyPr>
          <a:lstStyle/>
          <a:p>
            <a:pPr algn="ctr"/>
            <a:r>
              <a:rPr lang="en-US" sz="1852" b="1" u="sng" dirty="0">
                <a:latin typeface="Times New Roman" panose="02020603050405020304" pitchFamily="18" charset="0"/>
                <a:cs typeface="Times New Roman" panose="02020603050405020304" pitchFamily="18" charset="0"/>
              </a:rPr>
              <a:t>PRESENTATION TOPIC NAME </a:t>
            </a:r>
            <a:endParaRPr lang="en-IN" sz="1852" b="1" u="sng"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0D1216C-2652-DC15-09BB-47180469149D}"/>
              </a:ext>
            </a:extLst>
          </p:cNvPr>
          <p:cNvSpPr txBox="1"/>
          <p:nvPr/>
        </p:nvSpPr>
        <p:spPr>
          <a:xfrm>
            <a:off x="546618" y="4039395"/>
            <a:ext cx="2801588" cy="1916230"/>
          </a:xfrm>
          <a:prstGeom prst="rect">
            <a:avLst/>
          </a:prstGeom>
          <a:noFill/>
          <a:ln>
            <a:solidFill>
              <a:schemeClr val="tx1"/>
            </a:solidFill>
          </a:ln>
        </p:spPr>
        <p:txBody>
          <a:bodyPr wrap="square" rtlCol="0">
            <a:spAutoFit/>
          </a:bodyPr>
          <a:lstStyle/>
          <a:p>
            <a:pPr algn="ctr"/>
            <a:r>
              <a:rPr lang="en-IN" sz="1852" b="1" u="sng" dirty="0">
                <a:latin typeface="Times New Roman" panose="02020603050405020304" pitchFamily="18" charset="0"/>
                <a:cs typeface="Times New Roman" panose="02020603050405020304" pitchFamily="18" charset="0"/>
              </a:rPr>
              <a:t>Project Submitted By</a:t>
            </a:r>
          </a:p>
          <a:p>
            <a:pPr algn="ctr"/>
            <a:r>
              <a:rPr lang="en-IN" sz="2000" dirty="0">
                <a:latin typeface="Times New Roman" panose="02020603050405020304" pitchFamily="18" charset="0"/>
                <a:cs typeface="Times New Roman" panose="02020603050405020304" pitchFamily="18" charset="0"/>
              </a:rPr>
              <a:t>Mr. Sumit Kamble</a:t>
            </a:r>
          </a:p>
          <a:p>
            <a:pPr algn="ctr"/>
            <a:r>
              <a:rPr lang="en-IN" sz="2000" dirty="0">
                <a:latin typeface="Times New Roman" panose="02020603050405020304" pitchFamily="18" charset="0"/>
                <a:cs typeface="Times New Roman" panose="02020603050405020304" pitchFamily="18" charset="0"/>
              </a:rPr>
              <a:t>Mr. Yuvraj Jagtap</a:t>
            </a:r>
          </a:p>
          <a:p>
            <a:pPr algn="ctr"/>
            <a:r>
              <a:rPr lang="en-IN" sz="2000" dirty="0">
                <a:latin typeface="Times New Roman" panose="02020603050405020304" pitchFamily="18" charset="0"/>
                <a:cs typeface="Times New Roman" panose="02020603050405020304" pitchFamily="18" charset="0"/>
              </a:rPr>
              <a:t>Mr. Sushrut </a:t>
            </a:r>
            <a:r>
              <a:rPr lang="en-IN" sz="2000" dirty="0" err="1">
                <a:latin typeface="Times New Roman" panose="02020603050405020304" pitchFamily="18" charset="0"/>
                <a:cs typeface="Times New Roman" panose="02020603050405020304" pitchFamily="18" charset="0"/>
              </a:rPr>
              <a:t>Randive</a:t>
            </a:r>
            <a:endParaRPr lang="en-IN" sz="2000" dirty="0">
              <a:latin typeface="Times New Roman" panose="02020603050405020304" pitchFamily="18" charset="0"/>
              <a:cs typeface="Times New Roman" panose="02020603050405020304" pitchFamily="18" charset="0"/>
            </a:endParaRPr>
          </a:p>
          <a:p>
            <a:pPr algn="ctr"/>
            <a:r>
              <a:rPr lang="en-IN" sz="2000" dirty="0">
                <a:latin typeface="Times New Roman" panose="02020603050405020304" pitchFamily="18" charset="0"/>
                <a:cs typeface="Times New Roman" panose="02020603050405020304" pitchFamily="18" charset="0"/>
              </a:rPr>
              <a:t>Ms. Sayali Renge</a:t>
            </a:r>
          </a:p>
          <a:p>
            <a:pPr algn="ctr"/>
            <a:r>
              <a:rPr lang="en-IN" sz="2000" dirty="0">
                <a:latin typeface="Times New Roman" panose="02020603050405020304" pitchFamily="18" charset="0"/>
                <a:cs typeface="Times New Roman" panose="02020603050405020304" pitchFamily="18" charset="0"/>
              </a:rPr>
              <a:t>Mr. Samarth Sangale</a:t>
            </a:r>
          </a:p>
        </p:txBody>
      </p:sp>
      <p:sp>
        <p:nvSpPr>
          <p:cNvPr id="14" name="TextBox 13">
            <a:extLst>
              <a:ext uri="{FF2B5EF4-FFF2-40B4-BE49-F238E27FC236}">
                <a16:creationId xmlns:a16="http://schemas.microsoft.com/office/drawing/2014/main" id="{9757AA88-E344-EF18-1ECA-CAAE02E77A88}"/>
              </a:ext>
            </a:extLst>
          </p:cNvPr>
          <p:cNvSpPr txBox="1"/>
          <p:nvPr/>
        </p:nvSpPr>
        <p:spPr>
          <a:xfrm>
            <a:off x="9122549" y="3967274"/>
            <a:ext cx="2467070" cy="685124"/>
          </a:xfrm>
          <a:prstGeom prst="rect">
            <a:avLst/>
          </a:prstGeom>
          <a:noFill/>
          <a:ln>
            <a:solidFill>
              <a:schemeClr val="tx1"/>
            </a:solidFill>
          </a:ln>
        </p:spPr>
        <p:txBody>
          <a:bodyPr wrap="square" rtlCol="0">
            <a:spAutoFit/>
          </a:bodyPr>
          <a:lstStyle/>
          <a:p>
            <a:pPr algn="ctr"/>
            <a:r>
              <a:rPr lang="en-IN" sz="1852" b="1" u="sng" dirty="0">
                <a:latin typeface="Times New Roman" panose="02020603050405020304" pitchFamily="18" charset="0"/>
                <a:cs typeface="Times New Roman" panose="02020603050405020304" pitchFamily="18" charset="0"/>
              </a:rPr>
              <a:t>Research Guide</a:t>
            </a:r>
          </a:p>
          <a:p>
            <a:pPr algn="ctr"/>
            <a:r>
              <a:rPr lang="en-IN" sz="2000" dirty="0">
                <a:latin typeface="Times New Roman" panose="02020603050405020304" pitchFamily="18" charset="0"/>
                <a:cs typeface="Times New Roman" panose="02020603050405020304" pitchFamily="18" charset="0"/>
              </a:rPr>
              <a:t>Dr. Shraddha Tathe</a:t>
            </a:r>
          </a:p>
        </p:txBody>
      </p:sp>
      <p:sp>
        <p:nvSpPr>
          <p:cNvPr id="15" name="TextBox 14">
            <a:extLst>
              <a:ext uri="{FF2B5EF4-FFF2-40B4-BE49-F238E27FC236}">
                <a16:creationId xmlns:a16="http://schemas.microsoft.com/office/drawing/2014/main" id="{A09C98AF-9633-BB5A-4711-A7C73FCB8686}"/>
              </a:ext>
            </a:extLst>
          </p:cNvPr>
          <p:cNvSpPr txBox="1"/>
          <p:nvPr/>
        </p:nvSpPr>
        <p:spPr>
          <a:xfrm>
            <a:off x="2282758" y="514014"/>
            <a:ext cx="7028121" cy="1015663"/>
          </a:xfrm>
          <a:prstGeom prst="rect">
            <a:avLst/>
          </a:prstGeom>
          <a:noFill/>
          <a:ln>
            <a:noFill/>
          </a:ln>
        </p:spPr>
        <p:txBody>
          <a:bodyPr wrap="square" rtlCol="0">
            <a:spAutoFit/>
          </a:bodyPr>
          <a:lstStyle/>
          <a:p>
            <a:pPr lvl="2"/>
            <a:r>
              <a:rPr lang="en-IN" sz="2000" b="1" dirty="0">
                <a:solidFill>
                  <a:srgbClr val="3E21C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SINHGAD TECHNICAL EDUCATION  SOCIETY’S</a:t>
            </a:r>
          </a:p>
          <a:p>
            <a:r>
              <a:rPr lang="en-IN" sz="2000" b="1" dirty="0">
                <a:solidFill>
                  <a:srgbClr val="3E21C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SINHGAD INSTITUTE OF PHARMACY</a:t>
            </a:r>
          </a:p>
          <a:p>
            <a:pPr lvl="3"/>
            <a:r>
              <a:rPr lang="en-IN" sz="2000" b="1" dirty="0">
                <a:solidFill>
                  <a:srgbClr val="3E21C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NARHE, PUNE- 411041</a:t>
            </a:r>
          </a:p>
        </p:txBody>
      </p:sp>
      <p:pic>
        <p:nvPicPr>
          <p:cNvPr id="18" name="Picture 17">
            <a:extLst>
              <a:ext uri="{FF2B5EF4-FFF2-40B4-BE49-F238E27FC236}">
                <a16:creationId xmlns:a16="http://schemas.microsoft.com/office/drawing/2014/main" id="{F219BC4A-130C-3AA9-DA16-7F9EDA423244}"/>
              </a:ext>
            </a:extLst>
          </p:cNvPr>
          <p:cNvPicPr>
            <a:picLocks noChangeAspect="1"/>
          </p:cNvPicPr>
          <p:nvPr/>
        </p:nvPicPr>
        <p:blipFill>
          <a:blip r:embed="rId3"/>
          <a:stretch>
            <a:fillRect/>
          </a:stretch>
        </p:blipFill>
        <p:spPr>
          <a:xfrm>
            <a:off x="3866206" y="3673644"/>
            <a:ext cx="4892123" cy="3039848"/>
          </a:xfrm>
          <a:prstGeom prst="roundRect">
            <a:avLst>
              <a:gd name="adj" fmla="val 8594"/>
            </a:avLst>
          </a:prstGeom>
          <a:solidFill>
            <a:srgbClr val="FFFFFF">
              <a:shade val="85000"/>
            </a:srgb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23" name="Picture 22">
            <a:extLst>
              <a:ext uri="{FF2B5EF4-FFF2-40B4-BE49-F238E27FC236}">
                <a16:creationId xmlns:a16="http://schemas.microsoft.com/office/drawing/2014/main" id="{69B75183-4BAB-BAF1-642F-C992502EF80D}"/>
              </a:ext>
            </a:extLst>
          </p:cNvPr>
          <p:cNvPicPr>
            <a:picLocks noChangeAspect="1"/>
          </p:cNvPicPr>
          <p:nvPr/>
        </p:nvPicPr>
        <p:blipFill>
          <a:blip r:embed="rId4"/>
          <a:stretch>
            <a:fillRect/>
          </a:stretch>
        </p:blipFill>
        <p:spPr>
          <a:xfrm>
            <a:off x="9875992" y="497839"/>
            <a:ext cx="2121815" cy="1702461"/>
          </a:xfrm>
          <a:prstGeom prst="rect">
            <a:avLst/>
          </a:prstGeom>
          <a:ln>
            <a:solidFill>
              <a:schemeClr val="tx1"/>
            </a:solidFill>
          </a:ln>
        </p:spPr>
      </p:pic>
      <p:sp>
        <p:nvSpPr>
          <p:cNvPr id="2" name="Rectangle 1">
            <a:extLst>
              <a:ext uri="{FF2B5EF4-FFF2-40B4-BE49-F238E27FC236}">
                <a16:creationId xmlns:a16="http://schemas.microsoft.com/office/drawing/2014/main" id="{E3BF0BEB-A11C-4E93-E6E6-F5527C188E58}"/>
              </a:ext>
            </a:extLst>
          </p:cNvPr>
          <p:cNvSpPr/>
          <p:nvPr/>
        </p:nvSpPr>
        <p:spPr>
          <a:xfrm>
            <a:off x="125884" y="167697"/>
            <a:ext cx="12292657" cy="672104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EA08F27B-4F48-6DA9-7B68-302DB418E51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6618" y="534967"/>
            <a:ext cx="2127495" cy="1702800"/>
          </a:xfrm>
          <a:prstGeom prst="rect">
            <a:avLst/>
          </a:prstGeom>
          <a:noFill/>
          <a:ln>
            <a:solidFill>
              <a:schemeClr val="tx1"/>
            </a:solidFill>
          </a:ln>
        </p:spPr>
      </p:pic>
      <p:sp>
        <p:nvSpPr>
          <p:cNvPr id="4" name="TextBox 3">
            <a:extLst>
              <a:ext uri="{FF2B5EF4-FFF2-40B4-BE49-F238E27FC236}">
                <a16:creationId xmlns:a16="http://schemas.microsoft.com/office/drawing/2014/main" id="{8C2CAB36-D086-CE07-D930-898E305A323D}"/>
              </a:ext>
            </a:extLst>
          </p:cNvPr>
          <p:cNvSpPr txBox="1"/>
          <p:nvPr/>
        </p:nvSpPr>
        <p:spPr>
          <a:xfrm>
            <a:off x="3463043" y="1651723"/>
            <a:ext cx="5438273" cy="372872"/>
          </a:xfrm>
          <a:prstGeom prst="rect">
            <a:avLst/>
          </a:prstGeom>
          <a:noFill/>
        </p:spPr>
        <p:txBody>
          <a:bodyPr wrap="square" rtlCol="0">
            <a:spAutoFit/>
          </a:bodyPr>
          <a:lstStyle/>
          <a:p>
            <a:pPr algn="ctr"/>
            <a:r>
              <a:rPr lang="en-US" b="1" u="sng" dirty="0">
                <a:solidFill>
                  <a:srgbClr val="993300"/>
                </a:solidFill>
                <a:latin typeface="Times New Roman" panose="02020603050405020304" pitchFamily="18" charset="0"/>
                <a:cs typeface="Times New Roman" panose="02020603050405020304" pitchFamily="18" charset="0"/>
              </a:rPr>
              <a:t>Affiliated To – Savitribai Phule Pune University</a:t>
            </a:r>
            <a:endParaRPr lang="en-IN" b="1" u="sng" dirty="0">
              <a:solidFill>
                <a:srgbClr val="9933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13D4596-9890-EFF2-CD71-887813695CAD}"/>
              </a:ext>
            </a:extLst>
          </p:cNvPr>
          <p:cNvSpPr txBox="1"/>
          <p:nvPr/>
        </p:nvSpPr>
        <p:spPr>
          <a:xfrm>
            <a:off x="9122549" y="4917718"/>
            <a:ext cx="3138297" cy="695304"/>
          </a:xfrm>
          <a:prstGeom prst="rect">
            <a:avLst/>
          </a:prstGeom>
          <a:noFill/>
          <a:ln>
            <a:solidFill>
              <a:schemeClr val="tx1"/>
            </a:solidFill>
          </a:ln>
        </p:spPr>
        <p:txBody>
          <a:bodyPr wrap="square">
            <a:spAutoFit/>
          </a:bodyPr>
          <a:lstStyle/>
          <a:p>
            <a:pPr algn="ctr"/>
            <a:r>
              <a:rPr lang="en-US" b="1" u="sng" dirty="0">
                <a:latin typeface="Times New Roman" panose="02020603050405020304" pitchFamily="18" charset="0"/>
                <a:cs typeface="Times New Roman" panose="02020603050405020304" pitchFamily="18" charset="0"/>
              </a:rPr>
              <a:t>Department</a:t>
            </a:r>
          </a:p>
          <a:p>
            <a:r>
              <a:rPr lang="en-US" sz="2000" dirty="0">
                <a:latin typeface="Times New Roman" panose="02020603050405020304" pitchFamily="18" charset="0"/>
                <a:cs typeface="Times New Roman" panose="02020603050405020304" pitchFamily="18" charset="0"/>
              </a:rPr>
              <a:t>Pharmaceutical Chemistry</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012E225-E011-0F16-2166-E3415CF51272}"/>
              </a:ext>
            </a:extLst>
          </p:cNvPr>
          <p:cNvSpPr txBox="1"/>
          <p:nvPr/>
        </p:nvSpPr>
        <p:spPr>
          <a:xfrm>
            <a:off x="792417" y="6099998"/>
            <a:ext cx="1896244" cy="707886"/>
          </a:xfrm>
          <a:prstGeom prst="rect">
            <a:avLst/>
          </a:prstGeom>
          <a:noFill/>
          <a:ln>
            <a:solidFill>
              <a:schemeClr val="tx1"/>
            </a:solidFill>
          </a:ln>
        </p:spPr>
        <p:txBody>
          <a:bodyPr wrap="square" rtlCol="0">
            <a:spAutoFit/>
          </a:bodyPr>
          <a:lstStyle/>
          <a:p>
            <a:pPr algn="ctr"/>
            <a:r>
              <a:rPr lang="en-US" sz="2000" b="1" u="sng" dirty="0">
                <a:latin typeface="Times New Roman" panose="02020603050405020304" pitchFamily="18" charset="0"/>
                <a:cs typeface="Times New Roman" panose="02020603050405020304" pitchFamily="18" charset="0"/>
              </a:rPr>
              <a:t>Date </a:t>
            </a:r>
          </a:p>
          <a:p>
            <a:pPr algn="ctr"/>
            <a:r>
              <a:rPr lang="en-US" sz="2000" dirty="0">
                <a:latin typeface="Times New Roman" panose="02020603050405020304" pitchFamily="18" charset="0"/>
                <a:cs typeface="Times New Roman" panose="02020603050405020304" pitchFamily="18" charset="0"/>
              </a:rPr>
              <a:t> 25/05/2026</a:t>
            </a: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389725F-4167-BF16-D41B-15B40C2C8341}"/>
              </a:ext>
            </a:extLst>
          </p:cNvPr>
          <p:cNvSpPr txBox="1"/>
          <p:nvPr/>
        </p:nvSpPr>
        <p:spPr>
          <a:xfrm>
            <a:off x="9353192" y="5959572"/>
            <a:ext cx="2398816" cy="707886"/>
          </a:xfrm>
          <a:prstGeom prst="rect">
            <a:avLst/>
          </a:prstGeom>
          <a:noFill/>
          <a:ln>
            <a:solidFill>
              <a:schemeClr val="tx1"/>
            </a:solidFill>
          </a:ln>
        </p:spPr>
        <p:txBody>
          <a:bodyPr wrap="square" rtlCol="0">
            <a:spAutoFit/>
          </a:bodyPr>
          <a:lstStyle/>
          <a:p>
            <a:pPr algn="ctr"/>
            <a:r>
              <a:rPr lang="en-US" sz="2000" b="1" u="sng" dirty="0">
                <a:latin typeface="Times New Roman" panose="02020603050405020304" pitchFamily="18" charset="0"/>
                <a:cs typeface="Times New Roman" panose="02020603050405020304" pitchFamily="18" charset="0"/>
              </a:rPr>
              <a:t>Academic Year</a:t>
            </a:r>
          </a:p>
          <a:p>
            <a:pPr algn="ctr"/>
            <a:r>
              <a:rPr lang="en-US" sz="2000" dirty="0">
                <a:latin typeface="Times New Roman" panose="02020603050405020304" pitchFamily="18" charset="0"/>
                <a:cs typeface="Times New Roman" panose="02020603050405020304" pitchFamily="18" charset="0"/>
              </a:rPr>
              <a:t>2025 - 2026</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5333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63106-F897-EF8D-F9F3-6E3BC9CAB222}"/>
              </a:ext>
            </a:extLst>
          </p:cNvPr>
          <p:cNvSpPr txBox="1"/>
          <p:nvPr/>
        </p:nvSpPr>
        <p:spPr>
          <a:xfrm>
            <a:off x="716062" y="1057100"/>
            <a:ext cx="2212522" cy="461665"/>
          </a:xfrm>
          <a:prstGeom prst="rect">
            <a:avLst/>
          </a:prstGeom>
          <a:noFill/>
          <a:ln>
            <a:solidFill>
              <a:schemeClr val="tx1"/>
            </a:solidFill>
          </a:ln>
        </p:spPr>
        <p:txBody>
          <a:bodyPr wrap="square" rtlCol="0">
            <a:spAutoFit/>
          </a:bodyPr>
          <a:lstStyle/>
          <a:p>
            <a:r>
              <a:rPr lang="en-US" sz="2400" dirty="0">
                <a:solidFill>
                  <a:srgbClr val="993300"/>
                </a:solidFill>
                <a:latin typeface="Arial Black" panose="020B0A04020102020204" pitchFamily="34" charset="0"/>
              </a:rPr>
              <a:t>CONTENTS</a:t>
            </a:r>
            <a:endParaRPr lang="en-IN" sz="2400" dirty="0">
              <a:solidFill>
                <a:srgbClr val="993300"/>
              </a:solidFill>
              <a:latin typeface="Arial Black" panose="020B0A04020102020204" pitchFamily="34" charset="0"/>
            </a:endParaRPr>
          </a:p>
        </p:txBody>
      </p:sp>
      <p:sp>
        <p:nvSpPr>
          <p:cNvPr id="4" name="TextBox 3">
            <a:extLst>
              <a:ext uri="{FF2B5EF4-FFF2-40B4-BE49-F238E27FC236}">
                <a16:creationId xmlns:a16="http://schemas.microsoft.com/office/drawing/2014/main" id="{A053B9FA-4CC9-CD4F-D4FE-91BF2D21A6DE}"/>
              </a:ext>
            </a:extLst>
          </p:cNvPr>
          <p:cNvSpPr txBox="1"/>
          <p:nvPr/>
        </p:nvSpPr>
        <p:spPr>
          <a:xfrm>
            <a:off x="739812" y="1541435"/>
            <a:ext cx="6258098" cy="521681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u="sng" dirty="0"/>
              <a:t> </a:t>
            </a:r>
            <a:r>
              <a:rPr lang="en-US" b="1" u="sng" dirty="0">
                <a:latin typeface="Times New Roman" panose="02020603050405020304" pitchFamily="18" charset="0"/>
                <a:cs typeface="Times New Roman" panose="02020603050405020304" pitchFamily="18" charset="0"/>
              </a:rPr>
              <a:t>Introduction </a:t>
            </a:r>
          </a:p>
          <a:p>
            <a:pPr marL="285750" indent="-285750" algn="just">
              <a:lnSpc>
                <a:spcPct val="150000"/>
              </a:lnSpc>
              <a:buFont typeface="Arial" panose="020B0604020202020204" pitchFamily="34" charset="0"/>
              <a:buChar char="•"/>
            </a:pPr>
            <a:r>
              <a:rPr lang="en-US" b="1" u="sng" dirty="0">
                <a:latin typeface="Times New Roman" panose="02020603050405020304" pitchFamily="18" charset="0"/>
                <a:cs typeface="Times New Roman" panose="02020603050405020304" pitchFamily="18" charset="0"/>
              </a:rPr>
              <a:t> Aim &amp; Objectives </a:t>
            </a:r>
          </a:p>
          <a:p>
            <a:pPr marL="285750" indent="-285750" algn="just">
              <a:lnSpc>
                <a:spcPct val="150000"/>
              </a:lnSpc>
              <a:buFont typeface="Arial" panose="020B0604020202020204" pitchFamily="34" charset="0"/>
              <a:buChar char="•"/>
            </a:pPr>
            <a:r>
              <a:rPr lang="en-US" b="1" u="sng" dirty="0">
                <a:latin typeface="Times New Roman" panose="02020603050405020304" pitchFamily="18" charset="0"/>
                <a:cs typeface="Times New Roman" panose="02020603050405020304" pitchFamily="18" charset="0"/>
              </a:rPr>
              <a:t> Principle Of UV Spectrophotometry</a:t>
            </a:r>
          </a:p>
          <a:p>
            <a:pPr marL="285750" indent="-285750" algn="just">
              <a:lnSpc>
                <a:spcPct val="150000"/>
              </a:lnSpc>
              <a:buFont typeface="Arial" panose="020B0604020202020204" pitchFamily="34" charset="0"/>
              <a:buChar char="•"/>
            </a:pPr>
            <a:r>
              <a:rPr lang="en-US" b="1" u="sng" dirty="0">
                <a:latin typeface="Times New Roman" panose="02020603050405020304" pitchFamily="18" charset="0"/>
                <a:cs typeface="Times New Roman" panose="02020603050405020304" pitchFamily="18" charset="0"/>
              </a:rPr>
              <a:t> Parts Of UV Spectrometry </a:t>
            </a:r>
          </a:p>
          <a:p>
            <a:pPr marL="285750" indent="-285750" algn="just">
              <a:lnSpc>
                <a:spcPct val="150000"/>
              </a:lnSpc>
              <a:buFont typeface="Arial" panose="020B0604020202020204" pitchFamily="34" charset="0"/>
              <a:buChar char="•"/>
            </a:pPr>
            <a:r>
              <a:rPr lang="en-US" b="1" u="sng" dirty="0">
                <a:latin typeface="Times New Roman" panose="02020603050405020304" pitchFamily="18" charset="0"/>
                <a:cs typeface="Times New Roman" panose="02020603050405020304" pitchFamily="18" charset="0"/>
              </a:rPr>
              <a:t> Applications Of UV Spectrophotometry</a:t>
            </a:r>
          </a:p>
          <a:p>
            <a:pPr marL="285750" indent="-285750" algn="just">
              <a:lnSpc>
                <a:spcPct val="150000"/>
              </a:lnSpc>
              <a:buFont typeface="Arial" panose="020B0604020202020204" pitchFamily="34" charset="0"/>
              <a:buChar char="•"/>
            </a:pPr>
            <a:r>
              <a:rPr lang="en-US" b="1" u="sng" dirty="0">
                <a:latin typeface="Times New Roman" panose="02020603050405020304" pitchFamily="18" charset="0"/>
                <a:cs typeface="Times New Roman" panose="02020603050405020304" pitchFamily="18" charset="0"/>
              </a:rPr>
              <a:t> Drug Profile Of Caffeine</a:t>
            </a:r>
          </a:p>
          <a:p>
            <a:pPr marL="285750" indent="-285750" algn="just">
              <a:lnSpc>
                <a:spcPct val="150000"/>
              </a:lnSpc>
              <a:buFont typeface="Arial" panose="020B0604020202020204" pitchFamily="34" charset="0"/>
              <a:buChar char="•"/>
            </a:pPr>
            <a:r>
              <a:rPr lang="en-US" b="1" u="sng" dirty="0">
                <a:latin typeface="Times New Roman" panose="02020603050405020304" pitchFamily="18" charset="0"/>
                <a:cs typeface="Times New Roman" panose="02020603050405020304" pitchFamily="18" charset="0"/>
              </a:rPr>
              <a:t>Materials &amp; Instruments</a:t>
            </a:r>
          </a:p>
          <a:p>
            <a:pPr marL="285750" indent="-285750" algn="just">
              <a:lnSpc>
                <a:spcPct val="150000"/>
              </a:lnSpc>
              <a:buFont typeface="Arial" panose="020B0604020202020204" pitchFamily="34" charset="0"/>
              <a:buChar char="•"/>
            </a:pPr>
            <a:r>
              <a:rPr lang="en-US" b="1" u="sng" dirty="0">
                <a:latin typeface="Times New Roman" panose="02020603050405020304" pitchFamily="18" charset="0"/>
                <a:cs typeface="Times New Roman" panose="02020603050405020304" pitchFamily="18" charset="0"/>
              </a:rPr>
              <a:t> Experimental Methodology</a:t>
            </a:r>
          </a:p>
          <a:p>
            <a:pPr marL="285750" indent="-285750" algn="just">
              <a:lnSpc>
                <a:spcPct val="150000"/>
              </a:lnSpc>
              <a:buFont typeface="Arial" panose="020B0604020202020204" pitchFamily="34" charset="0"/>
              <a:buChar char="•"/>
            </a:pPr>
            <a:r>
              <a:rPr lang="en-US" b="1" u="sng" dirty="0">
                <a:latin typeface="Times New Roman" panose="02020603050405020304" pitchFamily="18" charset="0"/>
                <a:cs typeface="Times New Roman" panose="02020603050405020304" pitchFamily="18" charset="0"/>
              </a:rPr>
              <a:t>Result &amp; Discussion</a:t>
            </a:r>
          </a:p>
          <a:p>
            <a:pPr marL="285750" indent="-285750" algn="just">
              <a:lnSpc>
                <a:spcPct val="150000"/>
              </a:lnSpc>
              <a:buFont typeface="Arial" panose="020B0604020202020204" pitchFamily="34" charset="0"/>
              <a:buChar char="•"/>
            </a:pPr>
            <a:r>
              <a:rPr lang="en-US" b="1" u="sng" dirty="0">
                <a:latin typeface="Times New Roman" panose="02020603050405020304" pitchFamily="18" charset="0"/>
                <a:cs typeface="Times New Roman" panose="02020603050405020304" pitchFamily="18" charset="0"/>
              </a:rPr>
              <a:t>Conclusion Of Project</a:t>
            </a:r>
          </a:p>
          <a:p>
            <a:pPr marL="285750" indent="-285750" algn="just">
              <a:lnSpc>
                <a:spcPct val="150000"/>
              </a:lnSpc>
              <a:buFont typeface="Arial" panose="020B0604020202020204" pitchFamily="34" charset="0"/>
              <a:buChar char="•"/>
            </a:pPr>
            <a:r>
              <a:rPr lang="en-US" b="1" u="sng" dirty="0">
                <a:latin typeface="Times New Roman" panose="02020603050405020304" pitchFamily="18" charset="0"/>
                <a:cs typeface="Times New Roman" panose="02020603050405020304" pitchFamily="18" charset="0"/>
              </a:rPr>
              <a:t> References &amp; Acknowledgement </a:t>
            </a:r>
          </a:p>
          <a:p>
            <a:pPr marL="285750" indent="-285750" algn="just">
              <a:buFont typeface="Arial" panose="020B0604020202020204" pitchFamily="34" charset="0"/>
              <a:buChar char="•"/>
            </a:pPr>
            <a:endParaRPr lang="en-US" dirty="0"/>
          </a:p>
          <a:p>
            <a:endParaRPr lang="en-US" dirty="0"/>
          </a:p>
        </p:txBody>
      </p:sp>
      <p:sp>
        <p:nvSpPr>
          <p:cNvPr id="5" name="Rectangle 4">
            <a:extLst>
              <a:ext uri="{FF2B5EF4-FFF2-40B4-BE49-F238E27FC236}">
                <a16:creationId xmlns:a16="http://schemas.microsoft.com/office/drawing/2014/main" id="{C42BDFA6-0DD5-5117-304C-B0913EA70799}"/>
              </a:ext>
            </a:extLst>
          </p:cNvPr>
          <p:cNvSpPr/>
          <p:nvPr/>
        </p:nvSpPr>
        <p:spPr>
          <a:xfrm>
            <a:off x="205740" y="125730"/>
            <a:ext cx="12047220" cy="67779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287EF173-4AD9-2827-6C7A-B90C93628DD5}"/>
              </a:ext>
            </a:extLst>
          </p:cNvPr>
          <p:cNvPicPr>
            <a:picLocks noChangeAspect="1"/>
          </p:cNvPicPr>
          <p:nvPr/>
        </p:nvPicPr>
        <p:blipFill>
          <a:blip r:embed="rId2"/>
          <a:stretch>
            <a:fillRect/>
          </a:stretch>
        </p:blipFill>
        <p:spPr>
          <a:xfrm>
            <a:off x="6112228" y="1724297"/>
            <a:ext cx="5716135" cy="3370217"/>
          </a:xfrm>
          <a:prstGeom prst="roundRect">
            <a:avLst>
              <a:gd name="adj" fmla="val 8594"/>
            </a:avLst>
          </a:prstGeom>
          <a:solidFill>
            <a:srgbClr val="FFFFFF">
              <a:shade val="85000"/>
            </a:srgbClr>
          </a:solidFill>
          <a:ln>
            <a:solidFill>
              <a:schemeClr val="tx1"/>
            </a:solidFill>
          </a:ln>
          <a:effectLst>
            <a:reflection blurRad="12700" stA="38000" endPos="28000" dist="5000" dir="5400000" sy="-100000" algn="bl" rotWithShape="0"/>
          </a:effectLst>
        </p:spPr>
      </p:pic>
    </p:spTree>
    <p:extLst>
      <p:ext uri="{BB962C8B-B14F-4D97-AF65-F5344CB8AC3E}">
        <p14:creationId xmlns:p14="http://schemas.microsoft.com/office/powerpoint/2010/main" val="1193154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 name="TextBox 1">
            <a:extLst>
              <a:ext uri="{FF2B5EF4-FFF2-40B4-BE49-F238E27FC236}">
                <a16:creationId xmlns:a16="http://schemas.microsoft.com/office/drawing/2014/main" id="{8F24DF1A-787A-341F-02EF-1338F056767F}"/>
              </a:ext>
            </a:extLst>
          </p:cNvPr>
          <p:cNvSpPr txBox="1"/>
          <p:nvPr/>
        </p:nvSpPr>
        <p:spPr>
          <a:xfrm>
            <a:off x="4597817" y="3004999"/>
            <a:ext cx="3348790" cy="523220"/>
          </a:xfrm>
          <a:prstGeom prst="rect">
            <a:avLst/>
          </a:prstGeom>
          <a:ln>
            <a:solidFill>
              <a:schemeClr val="tx1"/>
            </a:solidFill>
          </a:ln>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 INTRODUCTION</a:t>
            </a:r>
            <a:endParaRPr lang="en-IN" sz="2800" b="1"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30F42CD8-E45C-53DA-C23A-BFDF9EC8B350}"/>
              </a:ext>
            </a:extLst>
          </p:cNvPr>
          <p:cNvSpPr/>
          <p:nvPr/>
        </p:nvSpPr>
        <p:spPr>
          <a:xfrm>
            <a:off x="348916" y="276726"/>
            <a:ext cx="11899231" cy="65331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ED6E29B-F94F-113E-750E-73F64114B6DF}"/>
              </a:ext>
            </a:extLst>
          </p:cNvPr>
          <p:cNvSpPr txBox="1"/>
          <p:nvPr/>
        </p:nvSpPr>
        <p:spPr>
          <a:xfrm>
            <a:off x="11020301" y="6410380"/>
            <a:ext cx="141316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no- 1</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562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DA013E-A062-2D86-FCDF-DB96ED3215A3}"/>
              </a:ext>
            </a:extLst>
          </p:cNvPr>
          <p:cNvSpPr txBox="1"/>
          <p:nvPr/>
        </p:nvSpPr>
        <p:spPr>
          <a:xfrm>
            <a:off x="286828" y="997023"/>
            <a:ext cx="8002150" cy="5148157"/>
          </a:xfrm>
          <a:prstGeom prst="rect">
            <a:avLst/>
          </a:prstGeom>
          <a:noFill/>
        </p:spPr>
        <p:txBody>
          <a:bodyPr wrap="square" rtlCol="0">
            <a:spAutoFit/>
          </a:bodyPr>
          <a:lstStyle/>
          <a:p>
            <a:pPr algn="ctr"/>
            <a:endParaRPr lang="en-US" sz="2880" b="1" dirty="0">
              <a:latin typeface="Times New Roman" panose="02020603050405020304" pitchFamily="18" charset="0"/>
              <a:cs typeface="Times New Roman" panose="02020603050405020304" pitchFamily="18" charset="0"/>
            </a:endParaRPr>
          </a:p>
          <a:p>
            <a:pPr marL="352793" indent="-352793"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UV Spectrophotometry is an important analytical technique used for identification and quantitative estimation of chemical compounds based on absorption of ultraviolet light.</a:t>
            </a:r>
          </a:p>
          <a:p>
            <a:pPr marL="352793" indent="-352793"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Caffeine is a naturally occurring alkaloid widely present in energy drinks, soft drinks, tea, and coffee.</a:t>
            </a:r>
          </a:p>
          <a:p>
            <a:pPr marL="352793" indent="-352793"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 Excessive caffeine intake may affect human health by causing insomnia, anxiety, and increased heart rate.</a:t>
            </a:r>
          </a:p>
          <a:p>
            <a:pPr marL="352793" indent="-352793"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In the present study, UV Spectrophotometry was used for quantitative estimation and comparative analysis of caffeine content in selected commercially available beverages.</a:t>
            </a:r>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5B31D02-1887-7B71-2592-F3CD60565756}"/>
              </a:ext>
            </a:extLst>
          </p:cNvPr>
          <p:cNvSpPr txBox="1"/>
          <p:nvPr/>
        </p:nvSpPr>
        <p:spPr>
          <a:xfrm>
            <a:off x="4458462" y="519077"/>
            <a:ext cx="2812042" cy="472309"/>
          </a:xfrm>
          <a:prstGeom prst="rect">
            <a:avLst/>
          </a:prstGeom>
          <a:noFill/>
          <a:ln>
            <a:solidFill>
              <a:schemeClr val="tx1"/>
            </a:solidFill>
          </a:ln>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INTRODUCTION</a:t>
            </a:r>
            <a:endParaRPr lang="en-IN" sz="24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C40BCF92-BBAB-B423-0E74-8D6627595F85}"/>
              </a:ext>
            </a:extLst>
          </p:cNvPr>
          <p:cNvSpPr/>
          <p:nvPr/>
        </p:nvSpPr>
        <p:spPr>
          <a:xfrm>
            <a:off x="163661" y="247135"/>
            <a:ext cx="12243229" cy="664793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descr="A white and black machine&#10;&#10;Description automatically generated">
            <a:extLst>
              <a:ext uri="{FF2B5EF4-FFF2-40B4-BE49-F238E27FC236}">
                <a16:creationId xmlns:a16="http://schemas.microsoft.com/office/drawing/2014/main" id="{0D9DBF47-AABA-FB12-C3FA-6209071F0822}"/>
              </a:ext>
            </a:extLst>
          </p:cNvPr>
          <p:cNvPicPr>
            <a:picLocks noChangeAspect="1"/>
          </p:cNvPicPr>
          <p:nvPr/>
        </p:nvPicPr>
        <p:blipFill>
          <a:blip r:embed="rId2"/>
          <a:stretch>
            <a:fillRect/>
          </a:stretch>
        </p:blipFill>
        <p:spPr>
          <a:xfrm>
            <a:off x="8412145" y="2426826"/>
            <a:ext cx="3613620" cy="1784225"/>
          </a:xfrm>
          <a:prstGeom prst="rect">
            <a:avLst/>
          </a:prstGeom>
          <a:ln>
            <a:solidFill>
              <a:schemeClr val="tx1"/>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7" name="TextBox 6">
            <a:extLst>
              <a:ext uri="{FF2B5EF4-FFF2-40B4-BE49-F238E27FC236}">
                <a16:creationId xmlns:a16="http://schemas.microsoft.com/office/drawing/2014/main" id="{49250B68-C3CB-30CE-0C0D-B8BFD1FA09D3}"/>
              </a:ext>
            </a:extLst>
          </p:cNvPr>
          <p:cNvSpPr txBox="1"/>
          <p:nvPr/>
        </p:nvSpPr>
        <p:spPr>
          <a:xfrm>
            <a:off x="9096650" y="4401733"/>
            <a:ext cx="2815389"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UV-Spectrophotometer</a:t>
            </a:r>
          </a:p>
        </p:txBody>
      </p:sp>
      <p:sp>
        <p:nvSpPr>
          <p:cNvPr id="5" name="TextBox 4">
            <a:extLst>
              <a:ext uri="{FF2B5EF4-FFF2-40B4-BE49-F238E27FC236}">
                <a16:creationId xmlns:a16="http://schemas.microsoft.com/office/drawing/2014/main" id="{991DD106-2432-C957-B20A-468FA6C8D255}"/>
              </a:ext>
            </a:extLst>
          </p:cNvPr>
          <p:cNvSpPr txBox="1"/>
          <p:nvPr/>
        </p:nvSpPr>
        <p:spPr>
          <a:xfrm flipH="1">
            <a:off x="11152562" y="6525738"/>
            <a:ext cx="139186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- 2</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4069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FF9A0C-60E7-1CED-BFB0-8450B64EB1ED}"/>
              </a:ext>
            </a:extLst>
          </p:cNvPr>
          <p:cNvSpPr txBox="1"/>
          <p:nvPr/>
        </p:nvSpPr>
        <p:spPr>
          <a:xfrm>
            <a:off x="4698999" y="3004999"/>
            <a:ext cx="3868153" cy="523220"/>
          </a:xfrm>
          <a:prstGeom prst="rect">
            <a:avLst/>
          </a:prstGeom>
          <a:noFill/>
          <a:ln>
            <a:solidFill>
              <a:schemeClr val="tx1"/>
            </a:solidFill>
          </a:ln>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 AIM &amp; OBJECTIVES</a:t>
            </a:r>
            <a:endParaRPr lang="en-IN" sz="2800" b="1"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9782BC9-8D71-E02F-DBF7-4770661BB508}"/>
              </a:ext>
            </a:extLst>
          </p:cNvPr>
          <p:cNvSpPr/>
          <p:nvPr/>
        </p:nvSpPr>
        <p:spPr>
          <a:xfrm>
            <a:off x="168442" y="156411"/>
            <a:ext cx="12212053" cy="673768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65CF348-1AC5-1741-8E0D-5589BBAEDD5A}"/>
              </a:ext>
            </a:extLst>
          </p:cNvPr>
          <p:cNvSpPr txBox="1"/>
          <p:nvPr/>
        </p:nvSpPr>
        <p:spPr>
          <a:xfrm>
            <a:off x="11164993" y="6524763"/>
            <a:ext cx="137943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-3</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4913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1A8C416-E79C-06B2-9B82-DB3D83721FF9}"/>
              </a:ext>
            </a:extLst>
          </p:cNvPr>
          <p:cNvSpPr txBox="1"/>
          <p:nvPr/>
        </p:nvSpPr>
        <p:spPr>
          <a:xfrm>
            <a:off x="932954" y="2001565"/>
            <a:ext cx="11232562" cy="960071"/>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To quantitatively estimate and compare the caffeine content present in selected commercially available beverages using UV Spectrophotometry</a:t>
            </a:r>
            <a:r>
              <a:rPr lang="en-US" sz="2000" dirty="0"/>
              <a:t>.</a:t>
            </a:r>
            <a:endParaRPr lang="en-IN" sz="2000" dirty="0"/>
          </a:p>
        </p:txBody>
      </p:sp>
      <p:sp>
        <p:nvSpPr>
          <p:cNvPr id="5" name="TextBox 4">
            <a:extLst>
              <a:ext uri="{FF2B5EF4-FFF2-40B4-BE49-F238E27FC236}">
                <a16:creationId xmlns:a16="http://schemas.microsoft.com/office/drawing/2014/main" id="{BA23E290-5DB4-704F-04EC-87BD4214DFC9}"/>
              </a:ext>
            </a:extLst>
          </p:cNvPr>
          <p:cNvSpPr txBox="1"/>
          <p:nvPr/>
        </p:nvSpPr>
        <p:spPr>
          <a:xfrm>
            <a:off x="4881872" y="439157"/>
            <a:ext cx="3334726" cy="472309"/>
          </a:xfrm>
          <a:prstGeom prst="rect">
            <a:avLst/>
          </a:prstGeom>
          <a:noFill/>
          <a:ln>
            <a:solidFill>
              <a:schemeClr val="tx1"/>
            </a:solidFill>
          </a:ln>
        </p:spPr>
        <p:txBody>
          <a:bodyPr wrap="square" rtlCol="0">
            <a:spAutoFit/>
          </a:bodyPr>
          <a:lstStyle/>
          <a:p>
            <a:r>
              <a:rPr lang="en-US" sz="2400" b="1" u="sng" dirty="0">
                <a:latin typeface="Times New Roman" panose="02020603050405020304" pitchFamily="18" charset="0"/>
                <a:cs typeface="Times New Roman" panose="02020603050405020304" pitchFamily="18" charset="0"/>
              </a:rPr>
              <a:t>AIM &amp; OBJECTIVES</a:t>
            </a:r>
            <a:endParaRPr lang="en-IN" sz="2400" b="1" u="sng"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2B6C48A-C31C-737D-BD8F-DF8C842CF6BB}"/>
              </a:ext>
            </a:extLst>
          </p:cNvPr>
          <p:cNvSpPr txBox="1"/>
          <p:nvPr/>
        </p:nvSpPr>
        <p:spPr>
          <a:xfrm>
            <a:off x="1003554" y="1433193"/>
            <a:ext cx="2015119" cy="430887"/>
          </a:xfrm>
          <a:prstGeom prst="rect">
            <a:avLst/>
          </a:prstGeom>
          <a:noFill/>
          <a:ln>
            <a:solidFill>
              <a:schemeClr val="tx1"/>
            </a:solidFill>
          </a:ln>
        </p:spPr>
        <p:txBody>
          <a:bodyPr wrap="square" rtlCol="0">
            <a:spAutoFit/>
          </a:bodyPr>
          <a:lstStyle/>
          <a:p>
            <a:pPr algn="just"/>
            <a:r>
              <a:rPr lang="en-US" sz="2200" b="1" dirty="0">
                <a:latin typeface="Times New Roman" panose="02020603050405020304" pitchFamily="18" charset="0"/>
                <a:cs typeface="Times New Roman" panose="02020603050405020304" pitchFamily="18" charset="0"/>
              </a:rPr>
              <a:t>Aim Of Project</a:t>
            </a:r>
            <a:endParaRPr lang="en-IN" sz="2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FFF69FB-22F2-98E3-1DB2-673A91D16A65}"/>
              </a:ext>
            </a:extLst>
          </p:cNvPr>
          <p:cNvSpPr txBox="1"/>
          <p:nvPr/>
        </p:nvSpPr>
        <p:spPr>
          <a:xfrm>
            <a:off x="1003554" y="3391285"/>
            <a:ext cx="2870144" cy="430887"/>
          </a:xfrm>
          <a:prstGeom prst="rect">
            <a:avLst/>
          </a:prstGeom>
          <a:noFill/>
          <a:ln>
            <a:solidFill>
              <a:schemeClr val="tx1"/>
            </a:solidFill>
          </a:ln>
        </p:spPr>
        <p:txBody>
          <a:bodyPr wrap="square" rtlCol="0">
            <a:spAutoFit/>
          </a:bodyPr>
          <a:lstStyle/>
          <a:p>
            <a:pPr algn="just"/>
            <a:r>
              <a:rPr lang="en-US" sz="2200" b="1" dirty="0">
                <a:latin typeface="Times New Roman" panose="02020603050405020304" pitchFamily="18" charset="0"/>
                <a:cs typeface="Times New Roman" panose="02020603050405020304" pitchFamily="18" charset="0"/>
              </a:rPr>
              <a:t>Objectives Of Project</a:t>
            </a:r>
            <a:endParaRPr lang="en-IN" sz="22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2DC0518-F02E-63C1-6878-7AD0FADA84F6}"/>
              </a:ext>
            </a:extLst>
          </p:cNvPr>
          <p:cNvSpPr txBox="1"/>
          <p:nvPr/>
        </p:nvSpPr>
        <p:spPr>
          <a:xfrm>
            <a:off x="932954" y="3933447"/>
            <a:ext cx="11232562" cy="2345322"/>
          </a:xfrm>
          <a:prstGeom prst="rect">
            <a:avLst/>
          </a:prstGeom>
          <a:noFill/>
        </p:spPr>
        <p:txBody>
          <a:bodyPr wrap="square" rtlCol="0">
            <a:spAutoFit/>
          </a:bodyPr>
          <a:lstStyle/>
          <a:p>
            <a:pPr marL="293994" indent="-293994" algn="just">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To determine the </a:t>
            </a:r>
            <a:r>
              <a:rPr lang="el-GR" sz="2000" dirty="0">
                <a:latin typeface="Times New Roman" panose="02020603050405020304" pitchFamily="18" charset="0"/>
                <a:cs typeface="Times New Roman" panose="02020603050405020304" pitchFamily="18" charset="0"/>
              </a:rPr>
              <a:t>λ</a:t>
            </a:r>
            <a:r>
              <a:rPr lang="en-IN" sz="2000" dirty="0">
                <a:latin typeface="Times New Roman" panose="02020603050405020304" pitchFamily="18" charset="0"/>
                <a:cs typeface="Times New Roman" panose="02020603050405020304" pitchFamily="18" charset="0"/>
              </a:rPr>
              <a:t>max of caffeine.</a:t>
            </a:r>
          </a:p>
          <a:p>
            <a:pPr marL="293994" indent="-293994" algn="just">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To prepare calibration curve of caffeine using UV Spectrophotometry.</a:t>
            </a:r>
          </a:p>
          <a:p>
            <a:pPr marL="293994" indent="-293994" algn="just">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To estimate caffeine content in selected beverages.</a:t>
            </a:r>
          </a:p>
          <a:p>
            <a:pPr marL="293994" indent="-293994" algn="just">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To compare experimental values with label claims.</a:t>
            </a:r>
          </a:p>
          <a:p>
            <a:pPr marL="293994" indent="-293994" algn="just">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To evaluate the suitability of UV Spectrophotometric method for caffeine analysis.</a:t>
            </a:r>
          </a:p>
        </p:txBody>
      </p:sp>
      <p:sp>
        <p:nvSpPr>
          <p:cNvPr id="2" name="Rectangle 1">
            <a:extLst>
              <a:ext uri="{FF2B5EF4-FFF2-40B4-BE49-F238E27FC236}">
                <a16:creationId xmlns:a16="http://schemas.microsoft.com/office/drawing/2014/main" id="{068C50FC-960D-1A26-FBF6-40F7D8B78A76}"/>
              </a:ext>
            </a:extLst>
          </p:cNvPr>
          <p:cNvSpPr/>
          <p:nvPr/>
        </p:nvSpPr>
        <p:spPr>
          <a:xfrm>
            <a:off x="135924" y="185351"/>
            <a:ext cx="12294973" cy="66355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0DCA615-5442-6D8E-9838-07F237927485}"/>
              </a:ext>
            </a:extLst>
          </p:cNvPr>
          <p:cNvSpPr txBox="1"/>
          <p:nvPr/>
        </p:nvSpPr>
        <p:spPr>
          <a:xfrm>
            <a:off x="11255239" y="6479844"/>
            <a:ext cx="133411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- 4</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0068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138300-F708-E514-B9C3-11E169A58DC5}"/>
              </a:ext>
            </a:extLst>
          </p:cNvPr>
          <p:cNvSpPr txBox="1"/>
          <p:nvPr/>
        </p:nvSpPr>
        <p:spPr>
          <a:xfrm>
            <a:off x="2425699" y="3004999"/>
            <a:ext cx="7942943" cy="523220"/>
          </a:xfrm>
          <a:prstGeom prst="rect">
            <a:avLst/>
          </a:prstGeom>
          <a:noFill/>
          <a:ln>
            <a:solidFill>
              <a:schemeClr val="tx1"/>
            </a:solidFill>
          </a:ln>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PRINCIPLE OF UV SPECTROPHOTOMETRY</a:t>
            </a:r>
            <a:endParaRPr lang="en-IN" sz="2800" b="1" u="sng"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E4586099-66BC-87A1-0320-5F5342845678}"/>
              </a:ext>
            </a:extLst>
          </p:cNvPr>
          <p:cNvSpPr/>
          <p:nvPr/>
        </p:nvSpPr>
        <p:spPr>
          <a:xfrm>
            <a:off x="228600" y="252663"/>
            <a:ext cx="12115800" cy="660533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274A3A03-298B-EFDC-8D6A-3C4E6E1AE292}"/>
              </a:ext>
            </a:extLst>
          </p:cNvPr>
          <p:cNvSpPr txBox="1"/>
          <p:nvPr/>
        </p:nvSpPr>
        <p:spPr>
          <a:xfrm>
            <a:off x="11118273" y="6488668"/>
            <a:ext cx="142615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- 5</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5633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DF8956-82A3-6B69-D355-A1624302AE8B}"/>
              </a:ext>
            </a:extLst>
          </p:cNvPr>
          <p:cNvSpPr txBox="1"/>
          <p:nvPr/>
        </p:nvSpPr>
        <p:spPr>
          <a:xfrm>
            <a:off x="2725205" y="247777"/>
            <a:ext cx="7091695" cy="472309"/>
          </a:xfrm>
          <a:prstGeom prst="rect">
            <a:avLst/>
          </a:prstGeom>
          <a:noFill/>
          <a:ln>
            <a:solidFill>
              <a:schemeClr val="tx1"/>
            </a:solidFill>
          </a:ln>
        </p:spPr>
        <p:txBody>
          <a:bodyPr wrap="square" rtlCol="0">
            <a:spAutoFit/>
          </a:bodyPr>
          <a:lstStyle/>
          <a:p>
            <a:pPr algn="ctr"/>
            <a:r>
              <a:rPr lang="en-US" sz="2400" b="1" u="sng" dirty="0">
                <a:latin typeface="Times New Roman" panose="02020603050405020304" pitchFamily="18" charset="0"/>
                <a:cs typeface="Times New Roman" panose="02020603050405020304" pitchFamily="18" charset="0"/>
              </a:rPr>
              <a:t>PRINCIPLE OF UV SPECTROPHOTOMETRY</a:t>
            </a:r>
            <a:endParaRPr lang="en-IN" sz="2400"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22B660-EF9B-5EBB-7801-9D81F41D81EA}"/>
              </a:ext>
            </a:extLst>
          </p:cNvPr>
          <p:cNvSpPr txBox="1"/>
          <p:nvPr/>
        </p:nvSpPr>
        <p:spPr>
          <a:xfrm>
            <a:off x="470415" y="720086"/>
            <a:ext cx="10673215" cy="6192529"/>
          </a:xfrm>
          <a:prstGeom prst="rect">
            <a:avLst/>
          </a:prstGeom>
          <a:noFill/>
        </p:spPr>
        <p:txBody>
          <a:bodyPr wrap="square" rtlCol="0">
            <a:spAutoFit/>
          </a:bodyPr>
          <a:lstStyle/>
          <a:p>
            <a:pPr marL="293994" indent="-293994"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UV Spectrophotometry is based on the absorption of ultraviolet radiation by molecules containing chromophores.</a:t>
            </a:r>
          </a:p>
          <a:p>
            <a:pPr marL="293994" indent="-293994"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When UV light passes through a sample solution, caffeine absorbs radiation at a specific wavelength, resulting in electronic transitions.</a:t>
            </a:r>
          </a:p>
          <a:p>
            <a:pPr algn="just"/>
            <a:endParaRPr lang="en-IN" sz="2000" dirty="0">
              <a:latin typeface="Times New Roman" panose="02020603050405020304" pitchFamily="18" charset="0"/>
              <a:cs typeface="Times New Roman" panose="02020603050405020304" pitchFamily="18" charset="0"/>
            </a:endParaRPr>
          </a:p>
          <a:p>
            <a:pPr marL="293994" indent="-293994" algn="just">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The concentration of caffeine is determined using Beer–Lambert’s Law.</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Where:</a:t>
            </a:r>
          </a:p>
          <a:p>
            <a:pPr marL="293994" indent="-293994"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 = Absorbance</a:t>
            </a:r>
          </a:p>
          <a:p>
            <a:pPr marL="293994" indent="-293994"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a:t>
            </a:r>
            <a:r>
              <a:rPr lang="el-GR" sz="2000" dirty="0">
                <a:latin typeface="Times New Roman" panose="02020603050405020304" pitchFamily="18" charset="0"/>
                <a:cs typeface="Times New Roman" panose="02020603050405020304" pitchFamily="18" charset="0"/>
              </a:rPr>
              <a:t> = </a:t>
            </a:r>
            <a:r>
              <a:rPr lang="en-IN" sz="2000" dirty="0">
                <a:latin typeface="Times New Roman" panose="02020603050405020304" pitchFamily="18" charset="0"/>
                <a:cs typeface="Times New Roman" panose="02020603050405020304" pitchFamily="18" charset="0"/>
              </a:rPr>
              <a:t>Molar absorptivity</a:t>
            </a:r>
          </a:p>
          <a:p>
            <a:pPr marL="293994" indent="-293994"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 = Path length of cuvette</a:t>
            </a:r>
          </a:p>
          <a:p>
            <a:pPr marL="293994" indent="-293994"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 = Concentration of solution</a:t>
            </a:r>
          </a:p>
          <a:p>
            <a:pPr algn="just">
              <a:lnSpc>
                <a:spcPct val="150000"/>
              </a:lnSpc>
            </a:pPr>
            <a:r>
              <a:rPr lang="en-IN" sz="2000" dirty="0">
                <a:latin typeface="Times New Roman" panose="02020603050405020304" pitchFamily="18" charset="0"/>
                <a:cs typeface="Times New Roman" panose="02020603050405020304" pitchFamily="18" charset="0"/>
              </a:rPr>
              <a:t>The absorbance is directly proportional to concentration of caffeine.</a:t>
            </a:r>
          </a:p>
        </p:txBody>
      </p:sp>
      <p:sp>
        <p:nvSpPr>
          <p:cNvPr id="5" name="TextBox 4">
            <a:extLst>
              <a:ext uri="{FF2B5EF4-FFF2-40B4-BE49-F238E27FC236}">
                <a16:creationId xmlns:a16="http://schemas.microsoft.com/office/drawing/2014/main" id="{97C4573D-36FB-460A-05BE-7735ED1E5419}"/>
              </a:ext>
            </a:extLst>
          </p:cNvPr>
          <p:cNvSpPr txBox="1"/>
          <p:nvPr/>
        </p:nvSpPr>
        <p:spPr>
          <a:xfrm>
            <a:off x="1400795" y="3493777"/>
            <a:ext cx="1024461" cy="400110"/>
          </a:xfrm>
          <a:prstGeom prst="rect">
            <a:avLst/>
          </a:prstGeom>
          <a:noFill/>
          <a:ln>
            <a:solidFill>
              <a:schemeClr val="tx1"/>
            </a:solidFill>
          </a:ln>
        </p:spPr>
        <p:txBody>
          <a:bodyPr wrap="square" rtlCol="0">
            <a:spAutoFit/>
          </a:bodyPr>
          <a:lstStyle/>
          <a:p>
            <a:r>
              <a:rPr lang="en-US" sz="2000" dirty="0">
                <a:solidFill>
                  <a:prstClr val="black"/>
                </a:solidFill>
                <a:latin typeface="Times New Roman" panose="02020603050405020304" pitchFamily="18" charset="0"/>
                <a:cs typeface="Times New Roman" panose="02020603050405020304" pitchFamily="18" charset="0"/>
              </a:rPr>
              <a:t>A = </a:t>
            </a:r>
            <a:r>
              <a:rPr lang="en-US" sz="2000" dirty="0" err="1">
                <a:solidFill>
                  <a:prstClr val="black"/>
                </a:solidFill>
                <a:latin typeface="Times New Roman" panose="02020603050405020304" pitchFamily="18" charset="0"/>
                <a:cs typeface="Times New Roman" panose="02020603050405020304" pitchFamily="18" charset="0"/>
              </a:rPr>
              <a:t>abc</a:t>
            </a:r>
            <a:endParaRPr lang="en-IN" sz="2000" dirty="0"/>
          </a:p>
        </p:txBody>
      </p:sp>
      <p:sp>
        <p:nvSpPr>
          <p:cNvPr id="4" name="Rectangle 3">
            <a:extLst>
              <a:ext uri="{FF2B5EF4-FFF2-40B4-BE49-F238E27FC236}">
                <a16:creationId xmlns:a16="http://schemas.microsoft.com/office/drawing/2014/main" id="{FDE7D8D5-643C-77F6-F453-C271B0F17021}"/>
              </a:ext>
            </a:extLst>
          </p:cNvPr>
          <p:cNvSpPr/>
          <p:nvPr/>
        </p:nvSpPr>
        <p:spPr>
          <a:xfrm>
            <a:off x="148280" y="143823"/>
            <a:ext cx="12245546" cy="67519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8DA2D24C-4F18-4D6B-0F8F-4E43DEB9D8D1}"/>
              </a:ext>
            </a:extLst>
          </p:cNvPr>
          <p:cNvSpPr txBox="1"/>
          <p:nvPr/>
        </p:nvSpPr>
        <p:spPr>
          <a:xfrm>
            <a:off x="11028527" y="6526468"/>
            <a:ext cx="148040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- 6</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7290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CB35C9-52D3-E0F6-7E1F-40E36588E13F}"/>
              </a:ext>
            </a:extLst>
          </p:cNvPr>
          <p:cNvSpPr txBox="1"/>
          <p:nvPr/>
        </p:nvSpPr>
        <p:spPr>
          <a:xfrm>
            <a:off x="2938646" y="3032111"/>
            <a:ext cx="7187281" cy="523220"/>
          </a:xfrm>
          <a:prstGeom prst="rect">
            <a:avLst/>
          </a:prstGeom>
          <a:noFill/>
          <a:ln>
            <a:solidFill>
              <a:schemeClr val="tx1"/>
            </a:solidFill>
          </a:ln>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 PARTS OF UV SPECTROPHOTOMETRY</a:t>
            </a:r>
            <a:endParaRPr lang="en-IN" sz="2800" b="1"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DF8FDA2E-66F0-7196-1FAC-7F5C4CCC21DB}"/>
              </a:ext>
            </a:extLst>
          </p:cNvPr>
          <p:cNvSpPr/>
          <p:nvPr/>
        </p:nvSpPr>
        <p:spPr>
          <a:xfrm>
            <a:off x="276726" y="216568"/>
            <a:ext cx="12061736" cy="66775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0829D61-C93B-1FC6-B7D8-CADB41D9771A}"/>
              </a:ext>
            </a:extLst>
          </p:cNvPr>
          <p:cNvSpPr txBox="1"/>
          <p:nvPr/>
        </p:nvSpPr>
        <p:spPr>
          <a:xfrm>
            <a:off x="11127177" y="6524763"/>
            <a:ext cx="133003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- 7</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6001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8DC09E-FFD7-0BFC-0BE1-D8AD60CB03AF}"/>
              </a:ext>
            </a:extLst>
          </p:cNvPr>
          <p:cNvSpPr txBox="1"/>
          <p:nvPr/>
        </p:nvSpPr>
        <p:spPr>
          <a:xfrm>
            <a:off x="471871" y="1358730"/>
            <a:ext cx="9596485" cy="4653646"/>
          </a:xfrm>
          <a:prstGeom prst="rect">
            <a:avLst/>
          </a:prstGeom>
          <a:noFill/>
        </p:spPr>
        <p:txBody>
          <a:bodyPr wrap="square" rtlCol="0">
            <a:spAutoFit/>
          </a:bodyPr>
          <a:lstStyle/>
          <a:p>
            <a:pPr marL="352793" indent="-352793" algn="just">
              <a:lnSpc>
                <a:spcPct val="150000"/>
              </a:lnSpc>
              <a:buFont typeface="Wingdings" panose="05000000000000000000" pitchFamily="2" charset="2"/>
              <a:buChar char="q"/>
            </a:pPr>
            <a:r>
              <a:rPr lang="en-IN" sz="2000" b="1" u="sng" dirty="0">
                <a:latin typeface="Times New Roman" panose="02020603050405020304" pitchFamily="18" charset="0"/>
                <a:cs typeface="Times New Roman" panose="02020603050405020304" pitchFamily="18" charset="0"/>
              </a:rPr>
              <a:t>Light Source</a:t>
            </a:r>
          </a:p>
          <a:p>
            <a:pPr marL="293994" indent="-293994"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 Produces ultraviolet radiation in the range of 200–400 nm.</a:t>
            </a:r>
          </a:p>
          <a:p>
            <a:pPr marL="352793" indent="-352793" algn="just">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 </a:t>
            </a:r>
            <a:r>
              <a:rPr lang="en-IN" sz="2000" b="1" u="sng" dirty="0">
                <a:latin typeface="Times New Roman" panose="02020603050405020304" pitchFamily="18" charset="0"/>
                <a:cs typeface="Times New Roman" panose="02020603050405020304" pitchFamily="18" charset="0"/>
              </a:rPr>
              <a:t>Monochromator</a:t>
            </a:r>
          </a:p>
          <a:p>
            <a:pPr marL="293994" indent="-293994"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 Separates light into individual wavelengths.</a:t>
            </a:r>
          </a:p>
          <a:p>
            <a:pPr marL="352793" indent="-352793" algn="just">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 </a:t>
            </a:r>
            <a:r>
              <a:rPr lang="en-IN" sz="2000" b="1" u="sng" dirty="0">
                <a:latin typeface="Times New Roman" panose="02020603050405020304" pitchFamily="18" charset="0"/>
                <a:cs typeface="Times New Roman" panose="02020603050405020304" pitchFamily="18" charset="0"/>
              </a:rPr>
              <a:t>Quartz Cuvette</a:t>
            </a:r>
          </a:p>
          <a:p>
            <a:pPr marL="293994" indent="-293994"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 Holds the sample solution and allows UV light transmission.</a:t>
            </a:r>
          </a:p>
          <a:p>
            <a:pPr marL="352793" indent="-352793" algn="just">
              <a:lnSpc>
                <a:spcPct val="150000"/>
              </a:lnSpc>
              <a:buFont typeface="Wingdings" panose="05000000000000000000" pitchFamily="2" charset="2"/>
              <a:buChar char="q"/>
            </a:pPr>
            <a:r>
              <a:rPr lang="en-IN" sz="2000" b="1" u="sng" dirty="0">
                <a:latin typeface="Times New Roman" panose="02020603050405020304" pitchFamily="18" charset="0"/>
                <a:cs typeface="Times New Roman" panose="02020603050405020304" pitchFamily="18" charset="0"/>
              </a:rPr>
              <a:t>Detector</a:t>
            </a:r>
          </a:p>
          <a:p>
            <a:pPr marL="293994" indent="-293994"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 Converts transmitted light into electrical signals.</a:t>
            </a:r>
          </a:p>
          <a:p>
            <a:pPr marL="352793" indent="-352793" algn="just">
              <a:lnSpc>
                <a:spcPct val="150000"/>
              </a:lnSpc>
              <a:buFont typeface="Wingdings" panose="05000000000000000000" pitchFamily="2" charset="2"/>
              <a:buChar char="q"/>
            </a:pPr>
            <a:r>
              <a:rPr lang="en-IN" sz="2000" b="1" u="sng" dirty="0">
                <a:latin typeface="Times New Roman" panose="02020603050405020304" pitchFamily="18" charset="0"/>
                <a:cs typeface="Times New Roman" panose="02020603050405020304" pitchFamily="18" charset="0"/>
              </a:rPr>
              <a:t> Display System</a:t>
            </a:r>
          </a:p>
          <a:p>
            <a:pPr marL="293994" indent="-293994"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  Displays absorbance values and spectra.</a:t>
            </a:r>
          </a:p>
        </p:txBody>
      </p:sp>
      <p:sp>
        <p:nvSpPr>
          <p:cNvPr id="3" name="TextBox 2">
            <a:extLst>
              <a:ext uri="{FF2B5EF4-FFF2-40B4-BE49-F238E27FC236}">
                <a16:creationId xmlns:a16="http://schemas.microsoft.com/office/drawing/2014/main" id="{C7EB7B4C-6DE9-3801-DA76-0023D73E5508}"/>
              </a:ext>
            </a:extLst>
          </p:cNvPr>
          <p:cNvSpPr txBox="1"/>
          <p:nvPr/>
        </p:nvSpPr>
        <p:spPr>
          <a:xfrm>
            <a:off x="2257606" y="523529"/>
            <a:ext cx="7577948" cy="472309"/>
          </a:xfrm>
          <a:prstGeom prst="rect">
            <a:avLst/>
          </a:prstGeom>
          <a:noFill/>
          <a:ln>
            <a:solidFill>
              <a:schemeClr val="tx1"/>
            </a:solidFill>
          </a:ln>
        </p:spPr>
        <p:txBody>
          <a:bodyPr wrap="square" rtlCol="0">
            <a:spAutoFit/>
          </a:bodyPr>
          <a:lstStyle/>
          <a:p>
            <a:pPr algn="ctr"/>
            <a:r>
              <a:rPr lang="en-US" sz="2400" b="1" u="sng" dirty="0">
                <a:latin typeface="Times New Roman" panose="02020603050405020304" pitchFamily="18" charset="0"/>
                <a:cs typeface="Times New Roman" panose="02020603050405020304" pitchFamily="18" charset="0"/>
              </a:rPr>
              <a:t>PARTS OF UV VISIBLE SPECTROPHOTOMETRY</a:t>
            </a:r>
            <a:endParaRPr lang="en-IN" sz="2400" b="1" u="sng"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D1A6197D-E82A-BE9C-6C2F-39BA28BB0638}"/>
              </a:ext>
            </a:extLst>
          </p:cNvPr>
          <p:cNvSpPr/>
          <p:nvPr/>
        </p:nvSpPr>
        <p:spPr>
          <a:xfrm>
            <a:off x="187668" y="160637"/>
            <a:ext cx="12169089" cy="66850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descr="Diagram of a process of a monochromatic device&#10;&#10;Description automatically generated">
            <a:extLst>
              <a:ext uri="{FF2B5EF4-FFF2-40B4-BE49-F238E27FC236}">
                <a16:creationId xmlns:a16="http://schemas.microsoft.com/office/drawing/2014/main" id="{5F34B44C-1B16-BCE1-1F54-363F3C545AF6}"/>
              </a:ext>
            </a:extLst>
          </p:cNvPr>
          <p:cNvPicPr>
            <a:picLocks noChangeAspect="1"/>
          </p:cNvPicPr>
          <p:nvPr/>
        </p:nvPicPr>
        <p:blipFill>
          <a:blip r:embed="rId2"/>
          <a:stretch>
            <a:fillRect/>
          </a:stretch>
        </p:blipFill>
        <p:spPr>
          <a:xfrm>
            <a:off x="7344699" y="2113445"/>
            <a:ext cx="4401518" cy="2829547"/>
          </a:xfrm>
          <a:prstGeom prst="rect">
            <a:avLst/>
          </a:prstGeom>
          <a:ln>
            <a:solidFill>
              <a:schemeClr val="tx1"/>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7" name="TextBox 6">
            <a:extLst>
              <a:ext uri="{FF2B5EF4-FFF2-40B4-BE49-F238E27FC236}">
                <a16:creationId xmlns:a16="http://schemas.microsoft.com/office/drawing/2014/main" id="{AF57B0C1-C5BB-DE89-8262-48FD77238C8A}"/>
              </a:ext>
            </a:extLst>
          </p:cNvPr>
          <p:cNvSpPr txBox="1"/>
          <p:nvPr/>
        </p:nvSpPr>
        <p:spPr>
          <a:xfrm>
            <a:off x="8002484" y="5105829"/>
            <a:ext cx="4070070"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Parts of UV-Spectrophotometer</a:t>
            </a:r>
          </a:p>
        </p:txBody>
      </p:sp>
      <p:sp>
        <p:nvSpPr>
          <p:cNvPr id="5" name="TextBox 4">
            <a:extLst>
              <a:ext uri="{FF2B5EF4-FFF2-40B4-BE49-F238E27FC236}">
                <a16:creationId xmlns:a16="http://schemas.microsoft.com/office/drawing/2014/main" id="{AAF0180B-6BF0-115C-8136-ECECF3613CB3}"/>
              </a:ext>
            </a:extLst>
          </p:cNvPr>
          <p:cNvSpPr txBox="1"/>
          <p:nvPr/>
        </p:nvSpPr>
        <p:spPr>
          <a:xfrm>
            <a:off x="11115304" y="6476311"/>
            <a:ext cx="153833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- 8</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8882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31C8AC-B8F3-A89E-EC5A-422EE9DD769E}"/>
              </a:ext>
            </a:extLst>
          </p:cNvPr>
          <p:cNvSpPr txBox="1"/>
          <p:nvPr/>
        </p:nvSpPr>
        <p:spPr>
          <a:xfrm>
            <a:off x="1841500" y="2954338"/>
            <a:ext cx="9593262" cy="523220"/>
          </a:xfrm>
          <a:prstGeom prst="rect">
            <a:avLst/>
          </a:prstGeom>
          <a:noFill/>
          <a:ln>
            <a:solidFill>
              <a:schemeClr val="tx1"/>
            </a:solidFill>
          </a:ln>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APPLICATION OF UV SPECTROPHOTOMETER</a:t>
            </a:r>
            <a:endParaRPr lang="en-IN" sz="2800" b="1"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36EE4B1A-7C36-A42F-3EFC-CA59419DE1DB}"/>
              </a:ext>
            </a:extLst>
          </p:cNvPr>
          <p:cNvSpPr/>
          <p:nvPr/>
        </p:nvSpPr>
        <p:spPr>
          <a:xfrm>
            <a:off x="254000" y="173038"/>
            <a:ext cx="12077700" cy="67103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AEBCD7C-4D21-921A-A7C1-4308205A1D7B}"/>
              </a:ext>
            </a:extLst>
          </p:cNvPr>
          <p:cNvSpPr txBox="1"/>
          <p:nvPr/>
        </p:nvSpPr>
        <p:spPr>
          <a:xfrm>
            <a:off x="11115304" y="6514068"/>
            <a:ext cx="152412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- 9</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0468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E1C801B2-CF74-24CA-C8AF-8D5396D02EF7}"/>
              </a:ext>
            </a:extLst>
          </p:cNvPr>
          <p:cNvSpPr txBox="1"/>
          <p:nvPr/>
        </p:nvSpPr>
        <p:spPr>
          <a:xfrm>
            <a:off x="2413167" y="544298"/>
            <a:ext cx="7111833" cy="461665"/>
          </a:xfrm>
          <a:prstGeom prst="rect">
            <a:avLst/>
          </a:prstGeom>
          <a:noFill/>
          <a:ln>
            <a:solidFill>
              <a:schemeClr val="tx1"/>
            </a:solidFill>
          </a:ln>
        </p:spPr>
        <p:txBody>
          <a:bodyPr wrap="square" rtlCol="0">
            <a:spAutoFit/>
          </a:bodyPr>
          <a:lstStyle/>
          <a:p>
            <a:r>
              <a:rPr lang="en-US" sz="2400" b="1" dirty="0">
                <a:latin typeface="Times New Roman" panose="02020603050405020304" pitchFamily="18" charset="0"/>
                <a:cs typeface="Times New Roman" panose="02020603050405020304" pitchFamily="18" charset="0"/>
              </a:rPr>
              <a:t>APPLICATION OF UV SPECTROPHOTOMETER</a:t>
            </a:r>
            <a:endParaRPr lang="en-IN" sz="2400" b="1" dirty="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6CCA5940-CA24-6428-46CA-444026BFD185}"/>
              </a:ext>
            </a:extLst>
          </p:cNvPr>
          <p:cNvSpPr/>
          <p:nvPr/>
        </p:nvSpPr>
        <p:spPr>
          <a:xfrm>
            <a:off x="225425" y="165100"/>
            <a:ext cx="12093575" cy="6769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2">
            <a:extLst>
              <a:ext uri="{FF2B5EF4-FFF2-40B4-BE49-F238E27FC236}">
                <a16:creationId xmlns:a16="http://schemas.microsoft.com/office/drawing/2014/main" id="{A25DA9FD-C348-5AC3-7080-0AC1DDADED0C}"/>
              </a:ext>
            </a:extLst>
          </p:cNvPr>
          <p:cNvGrpSpPr/>
          <p:nvPr/>
        </p:nvGrpSpPr>
        <p:grpSpPr>
          <a:xfrm>
            <a:off x="2963865" y="1199519"/>
            <a:ext cx="7440085" cy="5517111"/>
            <a:chOff x="2552169" y="697804"/>
            <a:chExt cx="7440085" cy="5517111"/>
          </a:xfrm>
          <a:scene3d>
            <a:camera prst="orthographicFront">
              <a:rot lat="0" lon="0" rev="0"/>
            </a:camera>
            <a:lightRig rig="glow" dir="t">
              <a:rot lat="0" lon="0" rev="4800000"/>
            </a:lightRig>
          </a:scene3d>
        </p:grpSpPr>
        <p:sp>
          <p:nvSpPr>
            <p:cNvPr id="14" name="Freeform: Shape 13">
              <a:extLst>
                <a:ext uri="{FF2B5EF4-FFF2-40B4-BE49-F238E27FC236}">
                  <a16:creationId xmlns:a16="http://schemas.microsoft.com/office/drawing/2014/main" id="{F35C5372-D7DC-632D-E43C-FDBD420F0C82}"/>
                </a:ext>
              </a:extLst>
            </p:cNvPr>
            <p:cNvSpPr/>
            <p:nvPr/>
          </p:nvSpPr>
          <p:spPr>
            <a:xfrm>
              <a:off x="5803119" y="697804"/>
              <a:ext cx="1798020" cy="2052000"/>
            </a:xfrm>
            <a:custGeom>
              <a:avLst/>
              <a:gdLst>
                <a:gd name="connsiteX0" fmla="*/ 0 w 2066690"/>
                <a:gd name="connsiteY0" fmla="*/ 899010 h 1798020"/>
                <a:gd name="connsiteX1" fmla="*/ 449505 w 2066690"/>
                <a:gd name="connsiteY1" fmla="*/ 0 h 1798020"/>
                <a:gd name="connsiteX2" fmla="*/ 1617185 w 2066690"/>
                <a:gd name="connsiteY2" fmla="*/ 0 h 1798020"/>
                <a:gd name="connsiteX3" fmla="*/ 2066690 w 2066690"/>
                <a:gd name="connsiteY3" fmla="*/ 899010 h 1798020"/>
                <a:gd name="connsiteX4" fmla="*/ 1617185 w 2066690"/>
                <a:gd name="connsiteY4" fmla="*/ 1798020 h 1798020"/>
                <a:gd name="connsiteX5" fmla="*/ 449505 w 2066690"/>
                <a:gd name="connsiteY5" fmla="*/ 1798020 h 1798020"/>
                <a:gd name="connsiteX6" fmla="*/ 0 w 2066690"/>
                <a:gd name="connsiteY6" fmla="*/ 899010 h 179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90" h="1798020">
                  <a:moveTo>
                    <a:pt x="1033345" y="0"/>
                  </a:moveTo>
                  <a:lnTo>
                    <a:pt x="2066689" y="391069"/>
                  </a:lnTo>
                  <a:lnTo>
                    <a:pt x="2066689" y="1406951"/>
                  </a:lnTo>
                  <a:lnTo>
                    <a:pt x="1033345" y="1798020"/>
                  </a:lnTo>
                  <a:lnTo>
                    <a:pt x="1" y="1406951"/>
                  </a:lnTo>
                  <a:lnTo>
                    <a:pt x="1" y="391069"/>
                  </a:lnTo>
                  <a:lnTo>
                    <a:pt x="1033345" y="0"/>
                  </a:lnTo>
                  <a:close/>
                </a:path>
              </a:pathLst>
            </a:custGeom>
            <a:solidFill>
              <a:schemeClr val="accent1">
                <a:lumMod val="60000"/>
                <a:lumOff val="40000"/>
              </a:schemeClr>
            </a:solidFill>
            <a:ln>
              <a:solidFill>
                <a:schemeClr val="tx1"/>
              </a:solidFill>
            </a:ln>
            <a:effectLst>
              <a:outerShdw blurRad="190500" dist="228600" dir="2700000" algn="ctr">
                <a:srgbClr val="000000">
                  <a:alpha val="30000"/>
                </a:srgbClr>
              </a:outerShdw>
            </a:effectLst>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9731" tIns="451599" rIns="409731" bIns="451599" numCol="1" spcCol="1270" anchor="ctr" anchorCtr="0">
              <a:noAutofit/>
            </a:bodyPr>
            <a:lstStyle/>
            <a:p>
              <a:pPr marL="0" lvl="0" indent="0" algn="ctr" defTabSz="1511300">
                <a:lnSpc>
                  <a:spcPct val="90000"/>
                </a:lnSpc>
                <a:spcBef>
                  <a:spcPct val="0"/>
                </a:spcBef>
                <a:spcAft>
                  <a:spcPct val="35000"/>
                </a:spcAft>
                <a:buNone/>
              </a:pPr>
              <a:r>
                <a:rPr lang="en-US" sz="2000" b="1" dirty="0">
                  <a:solidFill>
                    <a:schemeClr val="tx1"/>
                  </a:solidFill>
                  <a:latin typeface="Times New Roman" panose="02020603050405020304" pitchFamily="18" charset="0"/>
                  <a:cs typeface="Times New Roman" panose="02020603050405020304" pitchFamily="18" charset="0"/>
                </a:rPr>
                <a:t>Quality Control</a:t>
              </a:r>
              <a:endParaRPr lang="en-IN" sz="2000" b="1" kern="1200" dirty="0">
                <a:solidFill>
                  <a:schemeClr val="tx1"/>
                </a:solidFill>
                <a:latin typeface="Times New Roman" panose="02020603050405020304" pitchFamily="18" charset="0"/>
                <a:cs typeface="Times New Roman" panose="02020603050405020304" pitchFamily="18" charset="0"/>
              </a:endParaRPr>
            </a:p>
          </p:txBody>
        </p:sp>
        <p:sp>
          <p:nvSpPr>
            <p:cNvPr id="16" name="Freeform: Shape 15">
              <a:extLst>
                <a:ext uri="{FF2B5EF4-FFF2-40B4-BE49-F238E27FC236}">
                  <a16:creationId xmlns:a16="http://schemas.microsoft.com/office/drawing/2014/main" id="{D234B74B-4CE8-5EEE-695D-E796479A0D49}"/>
                </a:ext>
              </a:extLst>
            </p:cNvPr>
            <p:cNvSpPr/>
            <p:nvPr/>
          </p:nvSpPr>
          <p:spPr>
            <a:xfrm>
              <a:off x="3780142" y="713824"/>
              <a:ext cx="1798020" cy="2052000"/>
            </a:xfrm>
            <a:custGeom>
              <a:avLst/>
              <a:gdLst>
                <a:gd name="connsiteX0" fmla="*/ 0 w 2066690"/>
                <a:gd name="connsiteY0" fmla="*/ 899010 h 1798020"/>
                <a:gd name="connsiteX1" fmla="*/ 449505 w 2066690"/>
                <a:gd name="connsiteY1" fmla="*/ 0 h 1798020"/>
                <a:gd name="connsiteX2" fmla="*/ 1617185 w 2066690"/>
                <a:gd name="connsiteY2" fmla="*/ 0 h 1798020"/>
                <a:gd name="connsiteX3" fmla="*/ 2066690 w 2066690"/>
                <a:gd name="connsiteY3" fmla="*/ 899010 h 1798020"/>
                <a:gd name="connsiteX4" fmla="*/ 1617185 w 2066690"/>
                <a:gd name="connsiteY4" fmla="*/ 1798020 h 1798020"/>
                <a:gd name="connsiteX5" fmla="*/ 449505 w 2066690"/>
                <a:gd name="connsiteY5" fmla="*/ 1798020 h 1798020"/>
                <a:gd name="connsiteX6" fmla="*/ 0 w 2066690"/>
                <a:gd name="connsiteY6" fmla="*/ 899010 h 179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90" h="1798020">
                  <a:moveTo>
                    <a:pt x="1033345" y="0"/>
                  </a:moveTo>
                  <a:lnTo>
                    <a:pt x="2066689" y="391069"/>
                  </a:lnTo>
                  <a:lnTo>
                    <a:pt x="2066689" y="1406951"/>
                  </a:lnTo>
                  <a:lnTo>
                    <a:pt x="1033345" y="1798020"/>
                  </a:lnTo>
                  <a:lnTo>
                    <a:pt x="1" y="1406951"/>
                  </a:lnTo>
                  <a:lnTo>
                    <a:pt x="1" y="391069"/>
                  </a:lnTo>
                  <a:lnTo>
                    <a:pt x="1033345" y="0"/>
                  </a:lnTo>
                  <a:close/>
                </a:path>
              </a:pathLst>
            </a:custGeom>
            <a:solidFill>
              <a:srgbClr val="6D9206"/>
            </a:solidFill>
            <a:ln>
              <a:solidFill>
                <a:schemeClr val="tx1"/>
              </a:solidFill>
            </a:ln>
            <a:effectLst>
              <a:outerShdw blurRad="190500" dist="228600" dir="2700000" algn="ctr">
                <a:srgbClr val="000000">
                  <a:alpha val="30000"/>
                </a:srgbClr>
              </a:outerShdw>
            </a:effectLst>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0191" tIns="322059" rIns="280191" bIns="322059" numCol="1" spcCol="1270" anchor="ctr" anchorCtr="0">
              <a:noAutofit/>
            </a:bodyPr>
            <a:lstStyle/>
            <a:p>
              <a:pPr marL="0" lvl="0" indent="0" algn="ctr" defTabSz="1600200">
                <a:lnSpc>
                  <a:spcPct val="90000"/>
                </a:lnSpc>
                <a:spcBef>
                  <a:spcPct val="0"/>
                </a:spcBef>
                <a:spcAft>
                  <a:spcPct val="35000"/>
                </a:spcAft>
                <a:buNone/>
              </a:pPr>
              <a:r>
                <a:rPr lang="en-US" sz="2000" b="1" dirty="0">
                  <a:solidFill>
                    <a:schemeClr val="tx1"/>
                  </a:solidFill>
                  <a:latin typeface="Times New Roman" panose="02020603050405020304" pitchFamily="18" charset="0"/>
                  <a:cs typeface="Times New Roman" panose="02020603050405020304" pitchFamily="18" charset="0"/>
                </a:rPr>
                <a:t>Drug Analysis</a:t>
              </a:r>
              <a:endParaRPr lang="en-IN" sz="2000" b="1" kern="1200" dirty="0">
                <a:solidFill>
                  <a:schemeClr val="tx1"/>
                </a:solidFill>
                <a:latin typeface="Times New Roman" panose="02020603050405020304" pitchFamily="18" charset="0"/>
                <a:cs typeface="Times New Roman" panose="02020603050405020304" pitchFamily="18" charset="0"/>
              </a:endParaRPr>
            </a:p>
          </p:txBody>
        </p:sp>
        <p:sp>
          <p:nvSpPr>
            <p:cNvPr id="17" name="Freeform: Shape 16">
              <a:extLst>
                <a:ext uri="{FF2B5EF4-FFF2-40B4-BE49-F238E27FC236}">
                  <a16:creationId xmlns:a16="http://schemas.microsoft.com/office/drawing/2014/main" id="{B1C52B54-0462-31A3-7D32-60B423353CBB}"/>
                </a:ext>
              </a:extLst>
            </p:cNvPr>
            <p:cNvSpPr/>
            <p:nvPr/>
          </p:nvSpPr>
          <p:spPr>
            <a:xfrm>
              <a:off x="4710632" y="2427529"/>
              <a:ext cx="1944000" cy="1944000"/>
            </a:xfrm>
            <a:custGeom>
              <a:avLst/>
              <a:gdLst>
                <a:gd name="connsiteX0" fmla="*/ 0 w 2066690"/>
                <a:gd name="connsiteY0" fmla="*/ 899010 h 1798020"/>
                <a:gd name="connsiteX1" fmla="*/ 449505 w 2066690"/>
                <a:gd name="connsiteY1" fmla="*/ 0 h 1798020"/>
                <a:gd name="connsiteX2" fmla="*/ 1617185 w 2066690"/>
                <a:gd name="connsiteY2" fmla="*/ 0 h 1798020"/>
                <a:gd name="connsiteX3" fmla="*/ 2066690 w 2066690"/>
                <a:gd name="connsiteY3" fmla="*/ 899010 h 1798020"/>
                <a:gd name="connsiteX4" fmla="*/ 1617185 w 2066690"/>
                <a:gd name="connsiteY4" fmla="*/ 1798020 h 1798020"/>
                <a:gd name="connsiteX5" fmla="*/ 449505 w 2066690"/>
                <a:gd name="connsiteY5" fmla="*/ 1798020 h 1798020"/>
                <a:gd name="connsiteX6" fmla="*/ 0 w 2066690"/>
                <a:gd name="connsiteY6" fmla="*/ 899010 h 179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90" h="1798020">
                  <a:moveTo>
                    <a:pt x="1033345" y="0"/>
                  </a:moveTo>
                  <a:lnTo>
                    <a:pt x="2066689" y="391069"/>
                  </a:lnTo>
                  <a:lnTo>
                    <a:pt x="2066689" y="1406951"/>
                  </a:lnTo>
                  <a:lnTo>
                    <a:pt x="1033345" y="1798020"/>
                  </a:lnTo>
                  <a:lnTo>
                    <a:pt x="1" y="1406951"/>
                  </a:lnTo>
                  <a:lnTo>
                    <a:pt x="1" y="391069"/>
                  </a:lnTo>
                  <a:lnTo>
                    <a:pt x="1033345" y="0"/>
                  </a:lnTo>
                  <a:close/>
                </a:path>
              </a:pathLst>
            </a:custGeom>
            <a:solidFill>
              <a:srgbClr val="00B050"/>
            </a:solidFill>
            <a:ln>
              <a:solidFill>
                <a:schemeClr val="tx1"/>
              </a:solidFill>
            </a:ln>
            <a:effectLst>
              <a:outerShdw blurRad="190500" dist="228600" dir="2700000" algn="ctr">
                <a:srgbClr val="000000">
                  <a:alpha val="30000"/>
                </a:srgbClr>
              </a:outerShdw>
            </a:effectLst>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9731" tIns="451599" rIns="409731" bIns="451599" numCol="1" spcCol="1270" anchor="ctr" anchorCtr="0">
              <a:noAutofit/>
            </a:bodyPr>
            <a:lstStyle/>
            <a:p>
              <a:pPr marL="0" lvl="0" indent="0" algn="ctr" defTabSz="1511300">
                <a:lnSpc>
                  <a:spcPct val="90000"/>
                </a:lnSpc>
                <a:spcBef>
                  <a:spcPct val="0"/>
                </a:spcBef>
                <a:spcAft>
                  <a:spcPct val="35000"/>
                </a:spcAft>
                <a:buNone/>
              </a:pPr>
              <a:r>
                <a:rPr lang="en-US" sz="2000" b="1" kern="1200" dirty="0">
                  <a:solidFill>
                    <a:schemeClr val="tx1"/>
                  </a:solidFill>
                  <a:latin typeface="Times New Roman" panose="02020603050405020304" pitchFamily="18" charset="0"/>
                  <a:cs typeface="Times New Roman" panose="02020603050405020304" pitchFamily="18" charset="0"/>
                </a:rPr>
                <a:t>Cosmetics Analysis</a:t>
              </a:r>
              <a:endParaRPr lang="en-IN" sz="2000" b="1" kern="1200" dirty="0">
                <a:solidFill>
                  <a:schemeClr val="tx1"/>
                </a:solidFill>
                <a:latin typeface="Times New Roman" panose="02020603050405020304" pitchFamily="18" charset="0"/>
                <a:cs typeface="Times New Roman" panose="02020603050405020304" pitchFamily="18" charset="0"/>
              </a:endParaRPr>
            </a:p>
          </p:txBody>
        </p:sp>
        <p:sp>
          <p:nvSpPr>
            <p:cNvPr id="18" name="Freeform: Shape 17">
              <a:extLst>
                <a:ext uri="{FF2B5EF4-FFF2-40B4-BE49-F238E27FC236}">
                  <a16:creationId xmlns:a16="http://schemas.microsoft.com/office/drawing/2014/main" id="{17998638-3C2E-15A6-378E-7697F54C27E0}"/>
                </a:ext>
              </a:extLst>
            </p:cNvPr>
            <p:cNvSpPr/>
            <p:nvPr/>
          </p:nvSpPr>
          <p:spPr>
            <a:xfrm>
              <a:off x="2552169" y="2908211"/>
              <a:ext cx="2232025" cy="1240014"/>
            </a:xfrm>
            <a:custGeom>
              <a:avLst/>
              <a:gdLst>
                <a:gd name="connsiteX0" fmla="*/ 0 w 2232025"/>
                <a:gd name="connsiteY0" fmla="*/ 0 h 1240014"/>
                <a:gd name="connsiteX1" fmla="*/ 2232025 w 2232025"/>
                <a:gd name="connsiteY1" fmla="*/ 0 h 1240014"/>
                <a:gd name="connsiteX2" fmla="*/ 2232025 w 2232025"/>
                <a:gd name="connsiteY2" fmla="*/ 1240014 h 1240014"/>
                <a:gd name="connsiteX3" fmla="*/ 0 w 2232025"/>
                <a:gd name="connsiteY3" fmla="*/ 1240014 h 1240014"/>
                <a:gd name="connsiteX4" fmla="*/ 0 w 2232025"/>
                <a:gd name="connsiteY4" fmla="*/ 0 h 1240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2025" h="1240014">
                  <a:moveTo>
                    <a:pt x="0" y="0"/>
                  </a:moveTo>
                  <a:lnTo>
                    <a:pt x="2232025" y="0"/>
                  </a:lnTo>
                  <a:lnTo>
                    <a:pt x="2232025" y="1240014"/>
                  </a:lnTo>
                  <a:lnTo>
                    <a:pt x="0" y="1240014"/>
                  </a:lnTo>
                  <a:lnTo>
                    <a:pt x="0" y="0"/>
                  </a:lnTo>
                  <a:close/>
                </a:path>
              </a:pathLst>
            </a:custGeom>
            <a:ln>
              <a:noFill/>
            </a:ln>
            <a:effectLst>
              <a:outerShdw blurRad="190500" dist="228600" dir="2700000" algn="ctr">
                <a:srgbClr val="000000">
                  <a:alpha val="30000"/>
                </a:srgbClr>
              </a:outerShdw>
            </a:effectLst>
            <a:sp3d prstMaterial="matte">
              <a:bevelT w="127000" h="63500"/>
            </a:sp3d>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7160" tIns="137160" rIns="137160" bIns="137160" numCol="1" spcCol="1270" anchor="ctr" anchorCtr="0">
              <a:noAutofit/>
            </a:bodyPr>
            <a:lstStyle/>
            <a:p>
              <a:pPr marL="0" lvl="0" indent="0" algn="r" defTabSz="1600200">
                <a:lnSpc>
                  <a:spcPct val="90000"/>
                </a:lnSpc>
                <a:spcBef>
                  <a:spcPct val="0"/>
                </a:spcBef>
                <a:spcAft>
                  <a:spcPct val="35000"/>
                </a:spcAft>
                <a:buNone/>
              </a:pPr>
              <a:endParaRPr lang="en-IN" sz="3600" kern="1200"/>
            </a:p>
          </p:txBody>
        </p:sp>
        <p:sp>
          <p:nvSpPr>
            <p:cNvPr id="19" name="Freeform: Shape 18">
              <a:extLst>
                <a:ext uri="{FF2B5EF4-FFF2-40B4-BE49-F238E27FC236}">
                  <a16:creationId xmlns:a16="http://schemas.microsoft.com/office/drawing/2014/main" id="{C5DA2BD1-0C2B-4BF1-A797-450E7EC9D52B}"/>
                </a:ext>
              </a:extLst>
            </p:cNvPr>
            <p:cNvSpPr/>
            <p:nvPr/>
          </p:nvSpPr>
          <p:spPr>
            <a:xfrm>
              <a:off x="6782082" y="2415670"/>
              <a:ext cx="2016000" cy="2066690"/>
            </a:xfrm>
            <a:custGeom>
              <a:avLst/>
              <a:gdLst>
                <a:gd name="connsiteX0" fmla="*/ 0 w 2066690"/>
                <a:gd name="connsiteY0" fmla="*/ 899010 h 1798020"/>
                <a:gd name="connsiteX1" fmla="*/ 449505 w 2066690"/>
                <a:gd name="connsiteY1" fmla="*/ 0 h 1798020"/>
                <a:gd name="connsiteX2" fmla="*/ 1617185 w 2066690"/>
                <a:gd name="connsiteY2" fmla="*/ 0 h 1798020"/>
                <a:gd name="connsiteX3" fmla="*/ 2066690 w 2066690"/>
                <a:gd name="connsiteY3" fmla="*/ 899010 h 1798020"/>
                <a:gd name="connsiteX4" fmla="*/ 1617185 w 2066690"/>
                <a:gd name="connsiteY4" fmla="*/ 1798020 h 1798020"/>
                <a:gd name="connsiteX5" fmla="*/ 449505 w 2066690"/>
                <a:gd name="connsiteY5" fmla="*/ 1798020 h 1798020"/>
                <a:gd name="connsiteX6" fmla="*/ 0 w 2066690"/>
                <a:gd name="connsiteY6" fmla="*/ 899010 h 179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90" h="1798020">
                  <a:moveTo>
                    <a:pt x="1033345" y="0"/>
                  </a:moveTo>
                  <a:lnTo>
                    <a:pt x="2066689" y="391069"/>
                  </a:lnTo>
                  <a:lnTo>
                    <a:pt x="2066689" y="1406951"/>
                  </a:lnTo>
                  <a:lnTo>
                    <a:pt x="1033345" y="1798020"/>
                  </a:lnTo>
                  <a:lnTo>
                    <a:pt x="1" y="1406951"/>
                  </a:lnTo>
                  <a:lnTo>
                    <a:pt x="1" y="391069"/>
                  </a:lnTo>
                  <a:lnTo>
                    <a:pt x="1033345" y="0"/>
                  </a:lnTo>
                  <a:close/>
                </a:path>
              </a:pathLst>
            </a:custGeom>
            <a:solidFill>
              <a:srgbClr val="FFC000"/>
            </a:solidFill>
            <a:ln>
              <a:solidFill>
                <a:schemeClr val="tx1"/>
              </a:solidFill>
            </a:ln>
            <a:effectLst>
              <a:outerShdw blurRad="190500" dist="228600" dir="2700000" algn="ctr">
                <a:srgbClr val="000000">
                  <a:alpha val="30000"/>
                </a:srgbClr>
              </a:outerShdw>
            </a:effectLst>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0191" tIns="322059" rIns="280191" bIns="322059" numCol="1" spcCol="1270" anchor="ctr" anchorCtr="0">
              <a:noAutofit/>
            </a:bodyPr>
            <a:lstStyle/>
            <a:p>
              <a:pPr marL="0" lvl="0" indent="0" algn="ctr" defTabSz="1600200">
                <a:lnSpc>
                  <a:spcPct val="90000"/>
                </a:lnSpc>
                <a:spcBef>
                  <a:spcPct val="0"/>
                </a:spcBef>
                <a:spcAft>
                  <a:spcPct val="35000"/>
                </a:spcAft>
                <a:buNone/>
              </a:pPr>
              <a:r>
                <a:rPr lang="en-US" sz="2000" b="1" kern="1200" dirty="0">
                  <a:solidFill>
                    <a:schemeClr val="tx1"/>
                  </a:solidFill>
                  <a:latin typeface="Times New Roman" panose="02020603050405020304" pitchFamily="18" charset="0"/>
                  <a:cs typeface="Times New Roman" panose="02020603050405020304" pitchFamily="18" charset="0"/>
                </a:rPr>
                <a:t>Agricultural Analysis</a:t>
              </a:r>
              <a:endParaRPr lang="en-IN" sz="2000" b="1" kern="1200" dirty="0">
                <a:solidFill>
                  <a:schemeClr val="tx1"/>
                </a:solidFill>
                <a:latin typeface="Times New Roman" panose="02020603050405020304" pitchFamily="18" charset="0"/>
                <a:cs typeface="Times New Roman" panose="02020603050405020304" pitchFamily="18" charset="0"/>
              </a:endParaRPr>
            </a:p>
          </p:txBody>
        </p:sp>
        <p:sp>
          <p:nvSpPr>
            <p:cNvPr id="20" name="Freeform: Shape 19">
              <a:extLst>
                <a:ext uri="{FF2B5EF4-FFF2-40B4-BE49-F238E27FC236}">
                  <a16:creationId xmlns:a16="http://schemas.microsoft.com/office/drawing/2014/main" id="{D8114950-65EE-413C-578B-A154DC3CD167}"/>
                </a:ext>
              </a:extLst>
            </p:cNvPr>
            <p:cNvSpPr/>
            <p:nvPr/>
          </p:nvSpPr>
          <p:spPr>
            <a:xfrm>
              <a:off x="5744019" y="4148225"/>
              <a:ext cx="1872000" cy="2066690"/>
            </a:xfrm>
            <a:custGeom>
              <a:avLst/>
              <a:gdLst>
                <a:gd name="connsiteX0" fmla="*/ 0 w 2066690"/>
                <a:gd name="connsiteY0" fmla="*/ 899010 h 1798020"/>
                <a:gd name="connsiteX1" fmla="*/ 449505 w 2066690"/>
                <a:gd name="connsiteY1" fmla="*/ 0 h 1798020"/>
                <a:gd name="connsiteX2" fmla="*/ 1617185 w 2066690"/>
                <a:gd name="connsiteY2" fmla="*/ 0 h 1798020"/>
                <a:gd name="connsiteX3" fmla="*/ 2066690 w 2066690"/>
                <a:gd name="connsiteY3" fmla="*/ 899010 h 1798020"/>
                <a:gd name="connsiteX4" fmla="*/ 1617185 w 2066690"/>
                <a:gd name="connsiteY4" fmla="*/ 1798020 h 1798020"/>
                <a:gd name="connsiteX5" fmla="*/ 449505 w 2066690"/>
                <a:gd name="connsiteY5" fmla="*/ 1798020 h 1798020"/>
                <a:gd name="connsiteX6" fmla="*/ 0 w 2066690"/>
                <a:gd name="connsiteY6" fmla="*/ 899010 h 179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90" h="1798020">
                  <a:moveTo>
                    <a:pt x="1033345" y="0"/>
                  </a:moveTo>
                  <a:lnTo>
                    <a:pt x="2066689" y="391069"/>
                  </a:lnTo>
                  <a:lnTo>
                    <a:pt x="2066689" y="1406951"/>
                  </a:lnTo>
                  <a:lnTo>
                    <a:pt x="1033345" y="1798020"/>
                  </a:lnTo>
                  <a:lnTo>
                    <a:pt x="1" y="1406951"/>
                  </a:lnTo>
                  <a:lnTo>
                    <a:pt x="1" y="391069"/>
                  </a:lnTo>
                  <a:lnTo>
                    <a:pt x="1033345" y="0"/>
                  </a:lnTo>
                  <a:close/>
                </a:path>
              </a:pathLst>
            </a:custGeom>
            <a:ln>
              <a:solidFill>
                <a:schemeClr val="tx1"/>
              </a:solidFill>
            </a:ln>
            <a:effectLst>
              <a:outerShdw blurRad="190500" dist="228600" dir="2700000" algn="ctr">
                <a:srgbClr val="000000">
                  <a:alpha val="30000"/>
                </a:srgbClr>
              </a:outerShdw>
            </a:effectLst>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9731" tIns="451599" rIns="409731" bIns="451599" numCol="1" spcCol="1270" anchor="ctr" anchorCtr="0">
              <a:noAutofit/>
            </a:bodyPr>
            <a:lstStyle/>
            <a:p>
              <a:pPr marL="0" lvl="0" indent="0" algn="ctr" defTabSz="1511300">
                <a:lnSpc>
                  <a:spcPct val="90000"/>
                </a:lnSpc>
                <a:spcBef>
                  <a:spcPct val="0"/>
                </a:spcBef>
                <a:spcAft>
                  <a:spcPct val="35000"/>
                </a:spcAft>
                <a:buNone/>
              </a:pPr>
              <a:r>
                <a:rPr lang="en-US" sz="2000" b="1" kern="1200" dirty="0">
                  <a:solidFill>
                    <a:schemeClr val="tx1"/>
                  </a:solidFill>
                  <a:latin typeface="Times New Roman" panose="02020603050405020304" pitchFamily="18" charset="0"/>
                  <a:cs typeface="Times New Roman" panose="02020603050405020304" pitchFamily="18" charset="0"/>
                </a:rPr>
                <a:t>Forensic Analysis</a:t>
              </a:r>
              <a:endParaRPr lang="en-IN" sz="2000" b="1" kern="1200" dirty="0">
                <a:solidFill>
                  <a:schemeClr val="tx1"/>
                </a:solidFill>
                <a:latin typeface="Times New Roman" panose="02020603050405020304" pitchFamily="18" charset="0"/>
                <a:cs typeface="Times New Roman" panose="02020603050405020304" pitchFamily="18" charset="0"/>
              </a:endParaRPr>
            </a:p>
          </p:txBody>
        </p:sp>
        <p:sp>
          <p:nvSpPr>
            <p:cNvPr id="21" name="Freeform: Shape 20">
              <a:extLst>
                <a:ext uri="{FF2B5EF4-FFF2-40B4-BE49-F238E27FC236}">
                  <a16:creationId xmlns:a16="http://schemas.microsoft.com/office/drawing/2014/main" id="{37D44EC5-7A55-32DF-EA85-DD0D0E325444}"/>
                </a:ext>
              </a:extLst>
            </p:cNvPr>
            <p:cNvSpPr/>
            <p:nvPr/>
          </p:nvSpPr>
          <p:spPr>
            <a:xfrm>
              <a:off x="7685828" y="4662418"/>
              <a:ext cx="2306426" cy="1240014"/>
            </a:xfrm>
            <a:custGeom>
              <a:avLst/>
              <a:gdLst>
                <a:gd name="connsiteX0" fmla="*/ 0 w 2306426"/>
                <a:gd name="connsiteY0" fmla="*/ 0 h 1240014"/>
                <a:gd name="connsiteX1" fmla="*/ 2306426 w 2306426"/>
                <a:gd name="connsiteY1" fmla="*/ 0 h 1240014"/>
                <a:gd name="connsiteX2" fmla="*/ 2306426 w 2306426"/>
                <a:gd name="connsiteY2" fmla="*/ 1240014 h 1240014"/>
                <a:gd name="connsiteX3" fmla="*/ 0 w 2306426"/>
                <a:gd name="connsiteY3" fmla="*/ 1240014 h 1240014"/>
                <a:gd name="connsiteX4" fmla="*/ 0 w 2306426"/>
                <a:gd name="connsiteY4" fmla="*/ 0 h 1240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6426" h="1240014">
                  <a:moveTo>
                    <a:pt x="0" y="0"/>
                  </a:moveTo>
                  <a:lnTo>
                    <a:pt x="2306426" y="0"/>
                  </a:lnTo>
                  <a:lnTo>
                    <a:pt x="2306426" y="1240014"/>
                  </a:lnTo>
                  <a:lnTo>
                    <a:pt x="0" y="1240014"/>
                  </a:lnTo>
                  <a:lnTo>
                    <a:pt x="0" y="0"/>
                  </a:lnTo>
                  <a:close/>
                </a:path>
              </a:pathLst>
            </a:custGeom>
            <a:ln>
              <a:noFill/>
            </a:ln>
            <a:effectLst>
              <a:outerShdw blurRad="190500" dist="228600" dir="2700000" algn="ctr">
                <a:srgbClr val="000000">
                  <a:alpha val="30000"/>
                </a:srgbClr>
              </a:outerShdw>
            </a:effectLst>
            <a:sp3d prstMaterial="matte">
              <a:bevelT w="127000" h="63500"/>
            </a:sp3d>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endParaRPr lang="en-IN" sz="3600" kern="1200"/>
            </a:p>
          </p:txBody>
        </p:sp>
        <p:sp>
          <p:nvSpPr>
            <p:cNvPr id="22" name="Freeform: Shape 21">
              <a:extLst>
                <a:ext uri="{FF2B5EF4-FFF2-40B4-BE49-F238E27FC236}">
                  <a16:creationId xmlns:a16="http://schemas.microsoft.com/office/drawing/2014/main" id="{23E1D109-4AE0-E361-C67D-733DE0B2C373}"/>
                </a:ext>
              </a:extLst>
            </p:cNvPr>
            <p:cNvSpPr/>
            <p:nvPr/>
          </p:nvSpPr>
          <p:spPr>
            <a:xfrm>
              <a:off x="2567182" y="2427529"/>
              <a:ext cx="2016000" cy="2066690"/>
            </a:xfrm>
            <a:custGeom>
              <a:avLst/>
              <a:gdLst>
                <a:gd name="connsiteX0" fmla="*/ 0 w 2066690"/>
                <a:gd name="connsiteY0" fmla="*/ 899010 h 1798020"/>
                <a:gd name="connsiteX1" fmla="*/ 449505 w 2066690"/>
                <a:gd name="connsiteY1" fmla="*/ 0 h 1798020"/>
                <a:gd name="connsiteX2" fmla="*/ 1617185 w 2066690"/>
                <a:gd name="connsiteY2" fmla="*/ 0 h 1798020"/>
                <a:gd name="connsiteX3" fmla="*/ 2066690 w 2066690"/>
                <a:gd name="connsiteY3" fmla="*/ 899010 h 1798020"/>
                <a:gd name="connsiteX4" fmla="*/ 1617185 w 2066690"/>
                <a:gd name="connsiteY4" fmla="*/ 1798020 h 1798020"/>
                <a:gd name="connsiteX5" fmla="*/ 449505 w 2066690"/>
                <a:gd name="connsiteY5" fmla="*/ 1798020 h 1798020"/>
                <a:gd name="connsiteX6" fmla="*/ 0 w 2066690"/>
                <a:gd name="connsiteY6" fmla="*/ 899010 h 179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90" h="1798020">
                  <a:moveTo>
                    <a:pt x="1033345" y="0"/>
                  </a:moveTo>
                  <a:lnTo>
                    <a:pt x="2066689" y="391069"/>
                  </a:lnTo>
                  <a:lnTo>
                    <a:pt x="2066689" y="1406951"/>
                  </a:lnTo>
                  <a:lnTo>
                    <a:pt x="1033345" y="1798020"/>
                  </a:lnTo>
                  <a:lnTo>
                    <a:pt x="1" y="1406951"/>
                  </a:lnTo>
                  <a:lnTo>
                    <a:pt x="1" y="391069"/>
                  </a:lnTo>
                  <a:lnTo>
                    <a:pt x="1033345" y="0"/>
                  </a:lnTo>
                  <a:close/>
                </a:path>
              </a:pathLst>
            </a:custGeom>
            <a:solidFill>
              <a:schemeClr val="accent5">
                <a:lumMod val="60000"/>
                <a:lumOff val="40000"/>
              </a:schemeClr>
            </a:solidFill>
            <a:ln>
              <a:solidFill>
                <a:schemeClr val="tx1"/>
              </a:solidFill>
            </a:ln>
            <a:effectLst>
              <a:outerShdw blurRad="190500" dist="228600" dir="2700000" algn="ctr">
                <a:srgbClr val="000000">
                  <a:alpha val="30000"/>
                </a:srgbClr>
              </a:outerShdw>
            </a:effectLst>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0191" tIns="322059" rIns="280191" bIns="322059" numCol="1" spcCol="1270" anchor="ctr" anchorCtr="0">
              <a:noAutofit/>
            </a:bodyPr>
            <a:lstStyle/>
            <a:p>
              <a:pPr marL="0" lvl="0" indent="0" algn="ctr" defTabSz="1600200">
                <a:lnSpc>
                  <a:spcPct val="90000"/>
                </a:lnSpc>
                <a:spcBef>
                  <a:spcPct val="0"/>
                </a:spcBef>
                <a:spcAft>
                  <a:spcPct val="35000"/>
                </a:spcAft>
                <a:buNone/>
              </a:pPr>
              <a:r>
                <a:rPr lang="en-US" sz="2000" b="1" kern="1200" dirty="0">
                  <a:solidFill>
                    <a:schemeClr val="tx1"/>
                  </a:solidFill>
                  <a:latin typeface="Times New Roman" panose="02020603050405020304" pitchFamily="18" charset="0"/>
                  <a:cs typeface="Times New Roman" panose="02020603050405020304" pitchFamily="18" charset="0"/>
                </a:rPr>
                <a:t>Water Analysis</a:t>
              </a:r>
              <a:endParaRPr lang="en-IN" sz="2000" b="1" kern="1200" dirty="0">
                <a:solidFill>
                  <a:schemeClr val="tx1"/>
                </a:solidFill>
                <a:latin typeface="Times New Roman" panose="02020603050405020304" pitchFamily="18" charset="0"/>
                <a:cs typeface="Times New Roman" panose="02020603050405020304" pitchFamily="18" charset="0"/>
              </a:endParaRPr>
            </a:p>
          </p:txBody>
        </p:sp>
      </p:grpSp>
      <p:sp>
        <p:nvSpPr>
          <p:cNvPr id="23" name="Freeform: Shape 22">
            <a:extLst>
              <a:ext uri="{FF2B5EF4-FFF2-40B4-BE49-F238E27FC236}">
                <a16:creationId xmlns:a16="http://schemas.microsoft.com/office/drawing/2014/main" id="{575D77DE-AB9F-AE7A-56E5-28351E1C84F5}"/>
              </a:ext>
            </a:extLst>
          </p:cNvPr>
          <p:cNvSpPr/>
          <p:nvPr/>
        </p:nvSpPr>
        <p:spPr>
          <a:xfrm>
            <a:off x="4203713" y="4649940"/>
            <a:ext cx="1872000" cy="2066690"/>
          </a:xfrm>
          <a:custGeom>
            <a:avLst/>
            <a:gdLst>
              <a:gd name="connsiteX0" fmla="*/ 0 w 2066690"/>
              <a:gd name="connsiteY0" fmla="*/ 899010 h 1798020"/>
              <a:gd name="connsiteX1" fmla="*/ 449505 w 2066690"/>
              <a:gd name="connsiteY1" fmla="*/ 0 h 1798020"/>
              <a:gd name="connsiteX2" fmla="*/ 1617185 w 2066690"/>
              <a:gd name="connsiteY2" fmla="*/ 0 h 1798020"/>
              <a:gd name="connsiteX3" fmla="*/ 2066690 w 2066690"/>
              <a:gd name="connsiteY3" fmla="*/ 899010 h 1798020"/>
              <a:gd name="connsiteX4" fmla="*/ 1617185 w 2066690"/>
              <a:gd name="connsiteY4" fmla="*/ 1798020 h 1798020"/>
              <a:gd name="connsiteX5" fmla="*/ 449505 w 2066690"/>
              <a:gd name="connsiteY5" fmla="*/ 1798020 h 1798020"/>
              <a:gd name="connsiteX6" fmla="*/ 0 w 2066690"/>
              <a:gd name="connsiteY6" fmla="*/ 899010 h 179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90" h="1798020">
                <a:moveTo>
                  <a:pt x="1033345" y="0"/>
                </a:moveTo>
                <a:lnTo>
                  <a:pt x="2066689" y="391069"/>
                </a:lnTo>
                <a:lnTo>
                  <a:pt x="2066689" y="1406951"/>
                </a:lnTo>
                <a:lnTo>
                  <a:pt x="1033345" y="1798020"/>
                </a:lnTo>
                <a:lnTo>
                  <a:pt x="1" y="1406951"/>
                </a:lnTo>
                <a:lnTo>
                  <a:pt x="1" y="391069"/>
                </a:lnTo>
                <a:lnTo>
                  <a:pt x="1033345" y="0"/>
                </a:lnTo>
                <a:close/>
              </a:path>
            </a:pathLst>
          </a:custGeom>
          <a:solidFill>
            <a:srgbClr val="7030A0"/>
          </a:solidFill>
          <a:ln>
            <a:solidFill>
              <a:schemeClr val="tx1"/>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9731" tIns="451599" rIns="409731" bIns="451599" numCol="1" spcCol="1270" anchor="ctr" anchorCtr="0">
            <a:noAutofit/>
          </a:bodyPr>
          <a:lstStyle/>
          <a:p>
            <a:pPr marL="0" lvl="0" indent="0" algn="ctr" defTabSz="1511300">
              <a:lnSpc>
                <a:spcPct val="90000"/>
              </a:lnSpc>
              <a:spcBef>
                <a:spcPct val="0"/>
              </a:spcBef>
              <a:spcAft>
                <a:spcPct val="35000"/>
              </a:spcAft>
              <a:buNone/>
            </a:pPr>
            <a:r>
              <a:rPr lang="en-US" sz="2000" b="1" dirty="0">
                <a:solidFill>
                  <a:schemeClr val="tx1"/>
                </a:solidFill>
                <a:latin typeface="Times New Roman" panose="02020603050405020304" pitchFamily="18" charset="0"/>
                <a:cs typeface="Times New Roman" panose="02020603050405020304" pitchFamily="18" charset="0"/>
              </a:rPr>
              <a:t>Chemical Analysis</a:t>
            </a:r>
            <a:endParaRPr lang="en-IN" sz="2000" b="1" kern="1200" dirty="0">
              <a:solidFill>
                <a:schemeClr val="tx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F3CB6F2-AF83-3756-E95E-E4A0F06F779F}"/>
              </a:ext>
            </a:extLst>
          </p:cNvPr>
          <p:cNvSpPr txBox="1"/>
          <p:nvPr/>
        </p:nvSpPr>
        <p:spPr>
          <a:xfrm>
            <a:off x="10972800" y="6628623"/>
            <a:ext cx="1698172" cy="371785"/>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- 10</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2621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21E00A-25DC-B388-639A-B8D51273F988}"/>
              </a:ext>
            </a:extLst>
          </p:cNvPr>
          <p:cNvSpPr txBox="1"/>
          <p:nvPr/>
        </p:nvSpPr>
        <p:spPr>
          <a:xfrm>
            <a:off x="2322095" y="2622885"/>
            <a:ext cx="7664116" cy="529389"/>
          </a:xfrm>
          <a:prstGeom prst="rect">
            <a:avLst/>
          </a:prstGeom>
          <a:noFill/>
          <a:ln>
            <a:solidFill>
              <a:schemeClr val="tx1"/>
            </a:solidFill>
          </a:ln>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 DRUG PROFILE OF CAFFEINE</a:t>
            </a:r>
            <a:endParaRPr lang="en-IN" sz="2800" b="1"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07029DA5-6B8C-33A7-6D35-AF9F137F15B2}"/>
              </a:ext>
            </a:extLst>
          </p:cNvPr>
          <p:cNvSpPr/>
          <p:nvPr/>
        </p:nvSpPr>
        <p:spPr>
          <a:xfrm>
            <a:off x="264695" y="228600"/>
            <a:ext cx="12055642" cy="65692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E0770303-1A51-68AE-7B8D-39F644964C68}"/>
              </a:ext>
            </a:extLst>
          </p:cNvPr>
          <p:cNvSpPr txBox="1"/>
          <p:nvPr/>
        </p:nvSpPr>
        <p:spPr>
          <a:xfrm>
            <a:off x="10960924" y="6428510"/>
            <a:ext cx="171567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- 11</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4550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A7A7614-8A6D-AC11-BB96-A79DD854416F}"/>
              </a:ext>
            </a:extLst>
          </p:cNvPr>
          <p:cNvGraphicFramePr>
            <a:graphicFrameLocks noGrp="1"/>
          </p:cNvGraphicFramePr>
          <p:nvPr>
            <p:extLst>
              <p:ext uri="{D42A27DB-BD31-4B8C-83A1-F6EECF244321}">
                <p14:modId xmlns:p14="http://schemas.microsoft.com/office/powerpoint/2010/main" val="2247691624"/>
              </p:ext>
            </p:extLst>
          </p:nvPr>
        </p:nvGraphicFramePr>
        <p:xfrm>
          <a:off x="1182584" y="1110117"/>
          <a:ext cx="9817031" cy="5709673"/>
        </p:xfrm>
        <a:graphic>
          <a:graphicData uri="http://schemas.openxmlformats.org/drawingml/2006/table">
            <a:tbl>
              <a:tblPr firstRow="1" bandRow="1">
                <a:tableStyleId>{5C22544A-7EE6-4342-B048-85BDC9FD1C3A}</a:tableStyleId>
              </a:tblPr>
              <a:tblGrid>
                <a:gridCol w="4818720">
                  <a:extLst>
                    <a:ext uri="{9D8B030D-6E8A-4147-A177-3AD203B41FA5}">
                      <a16:colId xmlns:a16="http://schemas.microsoft.com/office/drawing/2014/main" val="1843856657"/>
                    </a:ext>
                  </a:extLst>
                </a:gridCol>
                <a:gridCol w="4998311">
                  <a:extLst>
                    <a:ext uri="{9D8B030D-6E8A-4147-A177-3AD203B41FA5}">
                      <a16:colId xmlns:a16="http://schemas.microsoft.com/office/drawing/2014/main" val="2622961454"/>
                    </a:ext>
                  </a:extLst>
                </a:gridCol>
              </a:tblGrid>
              <a:tr h="372552">
                <a:tc>
                  <a:txBody>
                    <a:bodyPr/>
                    <a:lstStyle/>
                    <a:p>
                      <a:pPr algn="ctr"/>
                      <a:r>
                        <a:rPr lang="en-US" sz="2000" dirty="0">
                          <a:latin typeface="Times New Roman" panose="02020603050405020304" pitchFamily="18" charset="0"/>
                          <a:cs typeface="Times New Roman" panose="02020603050405020304" pitchFamily="18" charset="0"/>
                        </a:rPr>
                        <a:t>Parameter</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Times New Roman" panose="02020603050405020304" pitchFamily="18" charset="0"/>
                          <a:cs typeface="Times New Roman" panose="02020603050405020304" pitchFamily="18" charset="0"/>
                        </a:rPr>
                        <a:t> Description</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4650409"/>
                  </a:ext>
                </a:extLst>
              </a:tr>
              <a:tr h="372552">
                <a:tc>
                  <a:txBody>
                    <a:bodyPr/>
                    <a:lstStyle/>
                    <a:p>
                      <a:pPr algn="just"/>
                      <a:r>
                        <a:rPr lang="en-US" sz="2000" dirty="0">
                          <a:latin typeface="Times New Roman" panose="02020603050405020304" pitchFamily="18" charset="0"/>
                          <a:cs typeface="Times New Roman" panose="02020603050405020304" pitchFamily="18" charset="0"/>
                        </a:rPr>
                        <a:t>      Drug Name</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dirty="0">
                          <a:latin typeface="Times New Roman" panose="02020603050405020304" pitchFamily="18" charset="0"/>
                          <a:cs typeface="Times New Roman" panose="02020603050405020304" pitchFamily="18" charset="0"/>
                        </a:rPr>
                        <a:t>  Caffeine</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717686"/>
                  </a:ext>
                </a:extLst>
              </a:tr>
              <a:tr h="923065">
                <a:tc>
                  <a:txBody>
                    <a:bodyPr/>
                    <a:lstStyle/>
                    <a:p>
                      <a:pPr algn="just"/>
                      <a:r>
                        <a:rPr lang="en-US" sz="2000" dirty="0">
                          <a:latin typeface="Times New Roman" panose="02020603050405020304" pitchFamily="18" charset="0"/>
                          <a:cs typeface="Times New Roman" panose="02020603050405020304" pitchFamily="18" charset="0"/>
                        </a:rPr>
                        <a:t>       Structure Formula</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6067883"/>
                  </a:ext>
                </a:extLst>
              </a:tr>
              <a:tr h="372552">
                <a:tc>
                  <a:txBody>
                    <a:bodyPr/>
                    <a:lstStyle/>
                    <a:p>
                      <a:pPr algn="just"/>
                      <a:r>
                        <a:rPr lang="en-US" sz="2000" dirty="0">
                          <a:latin typeface="Times New Roman" panose="02020603050405020304" pitchFamily="18" charset="0"/>
                          <a:cs typeface="Times New Roman" panose="02020603050405020304" pitchFamily="18" charset="0"/>
                        </a:rPr>
                        <a:t>     Chemical Formula</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2000" dirty="0">
                          <a:latin typeface="Times New Roman" panose="02020603050405020304" pitchFamily="18" charset="0"/>
                          <a:cs typeface="Times New Roman" panose="02020603050405020304" pitchFamily="18" charset="0"/>
                        </a:rPr>
                        <a:t> C₈H₁₀N₄O₂</a:t>
                      </a: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0414260"/>
                  </a:ext>
                </a:extLst>
              </a:tr>
              <a:tr h="372552">
                <a:tc>
                  <a:txBody>
                    <a:bodyPr/>
                    <a:lstStyle/>
                    <a:p>
                      <a:pPr algn="just"/>
                      <a:r>
                        <a:rPr lang="en-US" sz="2000" dirty="0">
                          <a:latin typeface="Times New Roman" panose="02020603050405020304" pitchFamily="18" charset="0"/>
                          <a:cs typeface="Times New Roman" panose="02020603050405020304" pitchFamily="18" charset="0"/>
                        </a:rPr>
                        <a:t>      Molecular Weight</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dirty="0">
                          <a:latin typeface="Times New Roman" panose="02020603050405020304" pitchFamily="18" charset="0"/>
                          <a:cs typeface="Times New Roman" panose="02020603050405020304" pitchFamily="18" charset="0"/>
                        </a:rPr>
                        <a:t> 194.19g/mol</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2568510"/>
                  </a:ext>
                </a:extLst>
              </a:tr>
              <a:tr h="372552">
                <a:tc>
                  <a:txBody>
                    <a:bodyPr/>
                    <a:lstStyle/>
                    <a:p>
                      <a:pPr algn="just"/>
                      <a:r>
                        <a:rPr lang="en-US" sz="2000" dirty="0">
                          <a:latin typeface="Times New Roman" panose="02020603050405020304" pitchFamily="18" charset="0"/>
                          <a:cs typeface="Times New Roman" panose="02020603050405020304" pitchFamily="18" charset="0"/>
                        </a:rPr>
                        <a:t>      Category</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dirty="0">
                          <a:latin typeface="Times New Roman" panose="02020603050405020304" pitchFamily="18" charset="0"/>
                          <a:cs typeface="Times New Roman" panose="02020603050405020304" pitchFamily="18" charset="0"/>
                        </a:rPr>
                        <a:t> Central Nervous System Stimulant</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5367629"/>
                  </a:ext>
                </a:extLst>
              </a:tr>
              <a:tr h="372552">
                <a:tc>
                  <a:txBody>
                    <a:bodyPr/>
                    <a:lstStyle/>
                    <a:p>
                      <a:pPr algn="just"/>
                      <a:r>
                        <a:rPr lang="en-US" sz="2000" dirty="0">
                          <a:latin typeface="Times New Roman" panose="02020603050405020304" pitchFamily="18" charset="0"/>
                          <a:cs typeface="Times New Roman" panose="02020603050405020304" pitchFamily="18" charset="0"/>
                        </a:rPr>
                        <a:t>      Drug Class </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dirty="0">
                          <a:latin typeface="Times New Roman" panose="02020603050405020304" pitchFamily="18" charset="0"/>
                          <a:cs typeface="Times New Roman" panose="02020603050405020304" pitchFamily="18" charset="0"/>
                        </a:rPr>
                        <a:t> Methylxanthine</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2893734"/>
                  </a:ext>
                </a:extLst>
              </a:tr>
              <a:tr h="372552">
                <a:tc>
                  <a:txBody>
                    <a:bodyPr/>
                    <a:lstStyle/>
                    <a:p>
                      <a:pPr algn="just"/>
                      <a:r>
                        <a:rPr lang="en-US" sz="2000" dirty="0">
                          <a:latin typeface="Times New Roman" panose="02020603050405020304" pitchFamily="18" charset="0"/>
                          <a:cs typeface="Times New Roman" panose="02020603050405020304" pitchFamily="18" charset="0"/>
                        </a:rPr>
                        <a:t>      Appearance </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dirty="0">
                          <a:latin typeface="Times New Roman" panose="02020603050405020304" pitchFamily="18" charset="0"/>
                          <a:cs typeface="Times New Roman" panose="02020603050405020304" pitchFamily="18" charset="0"/>
                        </a:rPr>
                        <a:t> White Crystalline</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492104"/>
                  </a:ext>
                </a:extLst>
              </a:tr>
              <a:tr h="372552">
                <a:tc>
                  <a:txBody>
                    <a:bodyPr/>
                    <a:lstStyle/>
                    <a:p>
                      <a:pPr algn="just"/>
                      <a:r>
                        <a:rPr lang="en-US" sz="2000" dirty="0">
                          <a:latin typeface="Times New Roman" panose="02020603050405020304" pitchFamily="18" charset="0"/>
                          <a:cs typeface="Times New Roman" panose="02020603050405020304" pitchFamily="18" charset="0"/>
                        </a:rPr>
                        <a:t>      Solubility</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dirty="0">
                          <a:latin typeface="Times New Roman" panose="02020603050405020304" pitchFamily="18" charset="0"/>
                          <a:cs typeface="Times New Roman" panose="02020603050405020304" pitchFamily="18" charset="0"/>
                        </a:rPr>
                        <a:t> Slightly Soluble In Water</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7019742"/>
                  </a:ext>
                </a:extLst>
              </a:tr>
              <a:tr h="372552">
                <a:tc>
                  <a:txBody>
                    <a:bodyPr/>
                    <a:lstStyle/>
                    <a:p>
                      <a:pPr algn="just"/>
                      <a:r>
                        <a:rPr lang="en-US" sz="2000" dirty="0">
                          <a:latin typeface="Times New Roman" panose="02020603050405020304" pitchFamily="18" charset="0"/>
                          <a:cs typeface="Times New Roman" panose="02020603050405020304" pitchFamily="18" charset="0"/>
                        </a:rPr>
                        <a:t>      Nature</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dirty="0">
                          <a:latin typeface="Times New Roman" panose="02020603050405020304" pitchFamily="18" charset="0"/>
                          <a:cs typeface="Times New Roman" panose="02020603050405020304" pitchFamily="18" charset="0"/>
                        </a:rPr>
                        <a:t> Naturally Occurring Alkaloid</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7683002"/>
                  </a:ext>
                </a:extLst>
              </a:tr>
              <a:tr h="372552">
                <a:tc>
                  <a:txBody>
                    <a:bodyPr/>
                    <a:lstStyle/>
                    <a:p>
                      <a:pPr algn="just"/>
                      <a:r>
                        <a:rPr lang="en-US" sz="2000" dirty="0">
                          <a:latin typeface="Times New Roman" panose="02020603050405020304" pitchFamily="18" charset="0"/>
                          <a:cs typeface="Times New Roman" panose="02020603050405020304" pitchFamily="18" charset="0"/>
                        </a:rPr>
                        <a:t>      Uses</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dirty="0">
                          <a:latin typeface="Times New Roman" panose="02020603050405020304" pitchFamily="18" charset="0"/>
                          <a:cs typeface="Times New Roman" panose="02020603050405020304" pitchFamily="18" charset="0"/>
                        </a:rPr>
                        <a:t> Improves Alertness &amp; Reduces Fatigue</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785399"/>
                  </a:ext>
                </a:extLst>
              </a:tr>
              <a:tr h="372552">
                <a:tc>
                  <a:txBody>
                    <a:bodyPr/>
                    <a:lstStyle/>
                    <a:p>
                      <a:pPr algn="just"/>
                      <a:r>
                        <a:rPr lang="en-US" sz="2000" dirty="0">
                          <a:latin typeface="Times New Roman" panose="02020603050405020304" pitchFamily="18" charset="0"/>
                          <a:cs typeface="Times New Roman" panose="02020603050405020304" pitchFamily="18" charset="0"/>
                        </a:rPr>
                        <a:t>      Sources</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dirty="0">
                          <a:latin typeface="Times New Roman" panose="02020603050405020304" pitchFamily="18" charset="0"/>
                          <a:cs typeface="Times New Roman" panose="02020603050405020304" pitchFamily="18" charset="0"/>
                        </a:rPr>
                        <a:t>Tea , Coffee , Soft Drinks , Energy Drinks</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5087710"/>
                  </a:ext>
                </a:extLst>
              </a:tr>
              <a:tr h="372552">
                <a:tc>
                  <a:txBody>
                    <a:bodyPr/>
                    <a:lstStyle/>
                    <a:p>
                      <a:pPr algn="just"/>
                      <a:r>
                        <a:rPr lang="en-US" sz="2000" dirty="0">
                          <a:latin typeface="Times New Roman" panose="02020603050405020304" pitchFamily="18" charset="0"/>
                          <a:cs typeface="Times New Roman" panose="02020603050405020304" pitchFamily="18" charset="0"/>
                        </a:rPr>
                        <a:t>      Melting Point</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dirty="0">
                          <a:latin typeface="Times New Roman" panose="02020603050405020304" pitchFamily="18" charset="0"/>
                          <a:cs typeface="Times New Roman" panose="02020603050405020304" pitchFamily="18" charset="0"/>
                        </a:rPr>
                        <a:t> 235–238°C</a:t>
                      </a:r>
                      <a:endParaRPr lang="en-IN" sz="2000" dirty="0">
                        <a:latin typeface="Times New Roman" panose="02020603050405020304" pitchFamily="18" charset="0"/>
                        <a:cs typeface="Times New Roman" panose="02020603050405020304" pitchFamily="18" charset="0"/>
                      </a:endParaRPr>
                    </a:p>
                  </a:txBody>
                  <a:tcPr marL="94083" marR="94083" marT="47042" marB="470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9059553"/>
                  </a:ext>
                </a:extLst>
              </a:tr>
            </a:tbl>
          </a:graphicData>
        </a:graphic>
      </p:graphicFrame>
      <p:pic>
        <p:nvPicPr>
          <p:cNvPr id="6" name="Picture 5" descr="A chemical structure with black letters&#10;&#10;Description automatically generated">
            <a:extLst>
              <a:ext uri="{FF2B5EF4-FFF2-40B4-BE49-F238E27FC236}">
                <a16:creationId xmlns:a16="http://schemas.microsoft.com/office/drawing/2014/main" id="{649D35A0-2585-2922-4F24-D6821717CD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72212" y="2045368"/>
            <a:ext cx="912722" cy="770679"/>
          </a:xfrm>
          <a:prstGeom prst="rect">
            <a:avLst/>
          </a:prstGeom>
        </p:spPr>
      </p:pic>
      <p:sp>
        <p:nvSpPr>
          <p:cNvPr id="7" name="TextBox 6">
            <a:extLst>
              <a:ext uri="{FF2B5EF4-FFF2-40B4-BE49-F238E27FC236}">
                <a16:creationId xmlns:a16="http://schemas.microsoft.com/office/drawing/2014/main" id="{443B8521-F505-BDD7-9BD1-760EFA7630C3}"/>
              </a:ext>
            </a:extLst>
          </p:cNvPr>
          <p:cNvSpPr txBox="1"/>
          <p:nvPr/>
        </p:nvSpPr>
        <p:spPr>
          <a:xfrm>
            <a:off x="3948566" y="236648"/>
            <a:ext cx="4902779" cy="472309"/>
          </a:xfrm>
          <a:prstGeom prst="rect">
            <a:avLst/>
          </a:prstGeom>
          <a:noFill/>
          <a:ln>
            <a:solidFill>
              <a:schemeClr val="tx1"/>
            </a:solidFill>
          </a:ln>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DRUG PROFILE OF CAFFEINE</a:t>
            </a:r>
            <a:endParaRPr lang="en-IN" sz="2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A80008B-10B1-4CE6-6BDA-7E8A430B316B}"/>
              </a:ext>
            </a:extLst>
          </p:cNvPr>
          <p:cNvSpPr txBox="1"/>
          <p:nvPr/>
        </p:nvSpPr>
        <p:spPr>
          <a:xfrm>
            <a:off x="997243" y="768493"/>
            <a:ext cx="4561346"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Table no 1 – Drug Profile of Caffeine</a:t>
            </a:r>
            <a:endParaRPr lang="en-IN" sz="2000"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11317D84-A87B-3731-C35A-5EF5060A7F9C}"/>
              </a:ext>
            </a:extLst>
          </p:cNvPr>
          <p:cNvSpPr/>
          <p:nvPr/>
        </p:nvSpPr>
        <p:spPr>
          <a:xfrm>
            <a:off x="148281" y="167364"/>
            <a:ext cx="12220833" cy="68034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A1A6FFD7-745A-80B4-E297-DC0BE3FF9CEA}"/>
              </a:ext>
            </a:extLst>
          </p:cNvPr>
          <p:cNvSpPr txBox="1"/>
          <p:nvPr/>
        </p:nvSpPr>
        <p:spPr>
          <a:xfrm>
            <a:off x="10999615" y="6601484"/>
            <a:ext cx="155851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- 12</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3426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F355E6-E352-88AA-198B-1EAC224277A6}"/>
              </a:ext>
            </a:extLst>
          </p:cNvPr>
          <p:cNvSpPr txBox="1"/>
          <p:nvPr/>
        </p:nvSpPr>
        <p:spPr>
          <a:xfrm>
            <a:off x="2203265" y="2692178"/>
            <a:ext cx="7740817" cy="523220"/>
          </a:xfrm>
          <a:prstGeom prst="rect">
            <a:avLst/>
          </a:prstGeom>
          <a:noFill/>
          <a:ln>
            <a:solidFill>
              <a:schemeClr val="tx1"/>
            </a:solidFill>
          </a:ln>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 MATERIALS &amp; INSTRUMENTS</a:t>
            </a:r>
            <a:endParaRPr lang="en-IN" sz="2800" b="1"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43E5007D-E798-12E6-5176-2C8ABCAC5C8F}"/>
              </a:ext>
            </a:extLst>
          </p:cNvPr>
          <p:cNvSpPr/>
          <p:nvPr/>
        </p:nvSpPr>
        <p:spPr>
          <a:xfrm>
            <a:off x="336884" y="180474"/>
            <a:ext cx="11959390" cy="65933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0163ECA-7A7B-55FE-44A2-F9F79D712D21}"/>
              </a:ext>
            </a:extLst>
          </p:cNvPr>
          <p:cNvSpPr txBox="1"/>
          <p:nvPr/>
        </p:nvSpPr>
        <p:spPr>
          <a:xfrm>
            <a:off x="10917506" y="6404447"/>
            <a:ext cx="162691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- 13</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7516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550050-F73A-2DCD-5AC3-226EBF1BC06A}"/>
              </a:ext>
            </a:extLst>
          </p:cNvPr>
          <p:cNvSpPr txBox="1"/>
          <p:nvPr/>
        </p:nvSpPr>
        <p:spPr>
          <a:xfrm>
            <a:off x="277022" y="1159894"/>
            <a:ext cx="12314444" cy="2178866"/>
          </a:xfrm>
          <a:prstGeom prst="rect">
            <a:avLst/>
          </a:prstGeom>
          <a:noFill/>
        </p:spPr>
        <p:txBody>
          <a:bodyPr wrap="square" rtlCol="0">
            <a:spAutoFit/>
          </a:bodyPr>
          <a:lstStyle/>
          <a:p>
            <a:pPr algn="just">
              <a:lnSpc>
                <a:spcPct val="150000"/>
              </a:lnSpc>
            </a:pPr>
            <a:r>
              <a:rPr lang="en-IN" sz="1852" dirty="0">
                <a:latin typeface="Times New Roman" panose="02020603050405020304" pitchFamily="18" charset="0"/>
                <a:cs typeface="Times New Roman" panose="02020603050405020304" pitchFamily="18" charset="0"/>
              </a:rPr>
              <a:t>All chemicals and reagents used in the present study were of analytical grade to ensure accuracy and reliability of results.</a:t>
            </a:r>
          </a:p>
          <a:p>
            <a:pPr marL="293994" indent="-293994" algn="just">
              <a:lnSpc>
                <a:spcPct val="150000"/>
              </a:lnSpc>
              <a:buFont typeface="Arial" panose="020B0604020202020204" pitchFamily="34" charset="0"/>
              <a:buChar char="•"/>
            </a:pPr>
            <a:r>
              <a:rPr lang="en-IN" sz="1852" dirty="0">
                <a:latin typeface="Times New Roman" panose="02020603050405020304" pitchFamily="18" charset="0"/>
                <a:cs typeface="Times New Roman" panose="02020603050405020304" pitchFamily="18" charset="0"/>
              </a:rPr>
              <a:t>Caffeine standard (pure drug)</a:t>
            </a:r>
          </a:p>
          <a:p>
            <a:pPr marL="293994" indent="-293994" algn="just">
              <a:lnSpc>
                <a:spcPct val="150000"/>
              </a:lnSpc>
              <a:buFont typeface="Arial" panose="020B0604020202020204" pitchFamily="34" charset="0"/>
              <a:buChar char="•"/>
            </a:pPr>
            <a:r>
              <a:rPr lang="en-IN" sz="1852" dirty="0">
                <a:latin typeface="Times New Roman" panose="02020603050405020304" pitchFamily="18" charset="0"/>
                <a:cs typeface="Times New Roman" panose="02020603050405020304" pitchFamily="18" charset="0"/>
              </a:rPr>
              <a:t>Distilled water </a:t>
            </a:r>
          </a:p>
          <a:p>
            <a:pPr marL="293994" indent="-293994" algn="just">
              <a:lnSpc>
                <a:spcPct val="150000"/>
              </a:lnSpc>
              <a:buFont typeface="Arial" panose="020B0604020202020204" pitchFamily="34" charset="0"/>
              <a:buChar char="•"/>
            </a:pPr>
            <a:r>
              <a:rPr lang="en-IN" sz="1852" dirty="0">
                <a:latin typeface="Times New Roman" panose="02020603050405020304" pitchFamily="18" charset="0"/>
                <a:cs typeface="Times New Roman" panose="02020603050405020304" pitchFamily="18" charset="0"/>
              </a:rPr>
              <a:t>Commercial energy drinks</a:t>
            </a:r>
          </a:p>
          <a:p>
            <a:pPr algn="just">
              <a:lnSpc>
                <a:spcPct val="150000"/>
              </a:lnSpc>
            </a:pPr>
            <a:r>
              <a:rPr lang="en-IN" sz="1852" dirty="0">
                <a:latin typeface="Times New Roman" panose="02020603050405020304" pitchFamily="18" charset="0"/>
                <a:cs typeface="Times New Roman" panose="02020603050405020304" pitchFamily="18" charset="0"/>
              </a:rPr>
              <a:t>All solutions were freshly prepared to avoid degradation and ensure precision.</a:t>
            </a:r>
          </a:p>
        </p:txBody>
      </p:sp>
      <p:sp>
        <p:nvSpPr>
          <p:cNvPr id="3" name="TextBox 2">
            <a:extLst>
              <a:ext uri="{FF2B5EF4-FFF2-40B4-BE49-F238E27FC236}">
                <a16:creationId xmlns:a16="http://schemas.microsoft.com/office/drawing/2014/main" id="{D8C11E93-E9EB-5F67-B018-82AB2F31E89E}"/>
              </a:ext>
            </a:extLst>
          </p:cNvPr>
          <p:cNvSpPr txBox="1"/>
          <p:nvPr/>
        </p:nvSpPr>
        <p:spPr>
          <a:xfrm>
            <a:off x="4107838" y="247604"/>
            <a:ext cx="4652812" cy="472309"/>
          </a:xfrm>
          <a:prstGeom prst="rect">
            <a:avLst/>
          </a:prstGeom>
          <a:noFill/>
          <a:ln>
            <a:solidFill>
              <a:schemeClr val="tx1"/>
            </a:solidFill>
          </a:ln>
        </p:spPr>
        <p:txBody>
          <a:bodyPr wrap="none" rtlCol="0">
            <a:spAutoFit/>
          </a:bodyPr>
          <a:lstStyle/>
          <a:p>
            <a:pPr algn="ctr"/>
            <a:r>
              <a:rPr lang="en-US" sz="2469" b="1" dirty="0">
                <a:latin typeface="Times New Roman" panose="02020603050405020304" pitchFamily="18" charset="0"/>
                <a:cs typeface="Times New Roman" panose="02020603050405020304" pitchFamily="18" charset="0"/>
              </a:rPr>
              <a:t>MATERIALS &amp; INSTRUMENT</a:t>
            </a:r>
          </a:p>
        </p:txBody>
      </p:sp>
      <p:sp>
        <p:nvSpPr>
          <p:cNvPr id="4" name="TextBox 3">
            <a:extLst>
              <a:ext uri="{FF2B5EF4-FFF2-40B4-BE49-F238E27FC236}">
                <a16:creationId xmlns:a16="http://schemas.microsoft.com/office/drawing/2014/main" id="{D3889C03-8580-BB73-EEE2-4BC21BE661EB}"/>
              </a:ext>
            </a:extLst>
          </p:cNvPr>
          <p:cNvSpPr txBox="1"/>
          <p:nvPr/>
        </p:nvSpPr>
        <p:spPr>
          <a:xfrm>
            <a:off x="428601" y="815101"/>
            <a:ext cx="3303365" cy="409023"/>
          </a:xfrm>
          <a:prstGeom prst="rect">
            <a:avLst/>
          </a:prstGeom>
          <a:noFill/>
          <a:ln>
            <a:solidFill>
              <a:schemeClr val="tx1"/>
            </a:solidFill>
          </a:ln>
        </p:spPr>
        <p:txBody>
          <a:bodyPr wrap="square" rtlCol="0">
            <a:spAutoFit/>
          </a:bodyPr>
          <a:lstStyle/>
          <a:p>
            <a:r>
              <a:rPr lang="en-US" sz="2058" b="1" dirty="0">
                <a:latin typeface="Times New Roman" panose="02020603050405020304" pitchFamily="18" charset="0"/>
                <a:cs typeface="Times New Roman" panose="02020603050405020304" pitchFamily="18" charset="0"/>
              </a:rPr>
              <a:t>Chemical &amp; Reagents Used </a:t>
            </a:r>
            <a:endParaRPr lang="en-IN" sz="2058"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5ECB722-EAF0-6984-A1CC-E3934A83CB5D}"/>
              </a:ext>
            </a:extLst>
          </p:cNvPr>
          <p:cNvSpPr txBox="1"/>
          <p:nvPr/>
        </p:nvSpPr>
        <p:spPr>
          <a:xfrm>
            <a:off x="7615511" y="3487060"/>
            <a:ext cx="4975955" cy="3033972"/>
          </a:xfrm>
          <a:prstGeom prst="rect">
            <a:avLst/>
          </a:prstGeom>
          <a:noFill/>
        </p:spPr>
        <p:txBody>
          <a:bodyPr wrap="square" rtlCol="0">
            <a:spAutoFit/>
          </a:bodyPr>
          <a:lstStyle/>
          <a:p>
            <a:pPr marL="293994" indent="-293994" algn="just">
              <a:lnSpc>
                <a:spcPct val="150000"/>
              </a:lnSpc>
              <a:buFont typeface="Wingdings" panose="05000000000000000000" pitchFamily="2" charset="2"/>
              <a:buChar char="v"/>
            </a:pPr>
            <a:r>
              <a:rPr lang="en-IN" sz="1852" dirty="0">
                <a:latin typeface="Times New Roman" panose="02020603050405020304" pitchFamily="18" charset="0"/>
                <a:cs typeface="Times New Roman" panose="02020603050405020304" pitchFamily="18" charset="0"/>
              </a:rPr>
              <a:t>UV-Visible Spectrophotometer</a:t>
            </a:r>
          </a:p>
          <a:p>
            <a:pPr marL="293994" indent="-293994" algn="just">
              <a:lnSpc>
                <a:spcPct val="150000"/>
              </a:lnSpc>
              <a:buFont typeface="Wingdings" panose="05000000000000000000" pitchFamily="2" charset="2"/>
              <a:buChar char="v"/>
            </a:pPr>
            <a:r>
              <a:rPr lang="en-IN" sz="1852" dirty="0">
                <a:latin typeface="Times New Roman" panose="02020603050405020304" pitchFamily="18" charset="0"/>
                <a:cs typeface="Times New Roman" panose="02020603050405020304" pitchFamily="18" charset="0"/>
              </a:rPr>
              <a:t>Quartz cuvettes &amp; Volumetric flasks</a:t>
            </a:r>
          </a:p>
          <a:p>
            <a:pPr marL="293994" indent="-293994" algn="just">
              <a:lnSpc>
                <a:spcPct val="150000"/>
              </a:lnSpc>
              <a:buFont typeface="Wingdings" panose="05000000000000000000" pitchFamily="2" charset="2"/>
              <a:buChar char="v"/>
            </a:pPr>
            <a:r>
              <a:rPr lang="en-IN" sz="1852" dirty="0">
                <a:latin typeface="Times New Roman" panose="02020603050405020304" pitchFamily="18" charset="0"/>
                <a:cs typeface="Times New Roman" panose="02020603050405020304" pitchFamily="18" charset="0"/>
              </a:rPr>
              <a:t>Analytical balance</a:t>
            </a:r>
          </a:p>
          <a:p>
            <a:pPr marL="293994" indent="-293994" algn="just">
              <a:lnSpc>
                <a:spcPct val="150000"/>
              </a:lnSpc>
              <a:buFont typeface="Wingdings" panose="05000000000000000000" pitchFamily="2" charset="2"/>
              <a:buChar char="v"/>
            </a:pPr>
            <a:r>
              <a:rPr lang="en-IN" sz="1852" dirty="0">
                <a:latin typeface="Times New Roman" panose="02020603050405020304" pitchFamily="18" charset="0"/>
                <a:cs typeface="Times New Roman" panose="02020603050405020304" pitchFamily="18" charset="0"/>
              </a:rPr>
              <a:t>Pipettes and Micropipettes</a:t>
            </a:r>
          </a:p>
          <a:p>
            <a:pPr marL="293994" indent="-293994" algn="just">
              <a:lnSpc>
                <a:spcPct val="150000"/>
              </a:lnSpc>
              <a:buFont typeface="Wingdings" panose="05000000000000000000" pitchFamily="2" charset="2"/>
              <a:buChar char="v"/>
            </a:pPr>
            <a:r>
              <a:rPr lang="en-IN" sz="1852" dirty="0">
                <a:latin typeface="Times New Roman" panose="02020603050405020304" pitchFamily="18" charset="0"/>
                <a:cs typeface="Times New Roman" panose="02020603050405020304" pitchFamily="18" charset="0"/>
              </a:rPr>
              <a:t>Beakers and Measuring cylinder</a:t>
            </a:r>
          </a:p>
          <a:p>
            <a:pPr marL="293994" indent="-293994" algn="just">
              <a:lnSpc>
                <a:spcPct val="150000"/>
              </a:lnSpc>
              <a:buFont typeface="Wingdings" panose="05000000000000000000" pitchFamily="2" charset="2"/>
              <a:buChar char="v"/>
            </a:pPr>
            <a:r>
              <a:rPr lang="en-IN" sz="1852" dirty="0">
                <a:latin typeface="Times New Roman" panose="02020603050405020304" pitchFamily="18" charset="0"/>
                <a:cs typeface="Times New Roman" panose="02020603050405020304" pitchFamily="18" charset="0"/>
              </a:rPr>
              <a:t> </a:t>
            </a:r>
            <a:r>
              <a:rPr lang="en-IN" sz="1852" dirty="0" err="1">
                <a:latin typeface="Times New Roman" panose="02020603050405020304" pitchFamily="18" charset="0"/>
                <a:cs typeface="Times New Roman" panose="02020603050405020304" pitchFamily="18" charset="0"/>
              </a:rPr>
              <a:t>Sonicator</a:t>
            </a:r>
            <a:endParaRPr lang="en-IN" sz="1852" dirty="0">
              <a:latin typeface="Times New Roman" panose="02020603050405020304" pitchFamily="18" charset="0"/>
              <a:cs typeface="Times New Roman" panose="02020603050405020304" pitchFamily="18" charset="0"/>
            </a:endParaRPr>
          </a:p>
          <a:p>
            <a:pPr algn="just">
              <a:lnSpc>
                <a:spcPct val="150000"/>
              </a:lnSpc>
            </a:pPr>
            <a:r>
              <a:rPr lang="en-IN" sz="1852" dirty="0">
                <a:latin typeface="Times New Roman" panose="02020603050405020304" pitchFamily="18" charset="0"/>
                <a:cs typeface="Times New Roman" panose="02020603050405020304" pitchFamily="18" charset="0"/>
              </a:rPr>
              <a:t>All instruments were calibrated prior to use.</a:t>
            </a:r>
          </a:p>
        </p:txBody>
      </p:sp>
      <p:sp>
        <p:nvSpPr>
          <p:cNvPr id="6" name="TextBox 5">
            <a:extLst>
              <a:ext uri="{FF2B5EF4-FFF2-40B4-BE49-F238E27FC236}">
                <a16:creationId xmlns:a16="http://schemas.microsoft.com/office/drawing/2014/main" id="{EAE16A1D-20E5-6942-62EA-A2D859BDCE76}"/>
              </a:ext>
            </a:extLst>
          </p:cNvPr>
          <p:cNvSpPr txBox="1"/>
          <p:nvPr/>
        </p:nvSpPr>
        <p:spPr>
          <a:xfrm>
            <a:off x="8403344" y="3143622"/>
            <a:ext cx="2519339" cy="409023"/>
          </a:xfrm>
          <a:prstGeom prst="rect">
            <a:avLst/>
          </a:prstGeom>
          <a:noFill/>
          <a:ln>
            <a:solidFill>
              <a:schemeClr val="tx1"/>
            </a:solidFill>
          </a:ln>
        </p:spPr>
        <p:txBody>
          <a:bodyPr wrap="square" rtlCol="0">
            <a:spAutoFit/>
          </a:bodyPr>
          <a:lstStyle/>
          <a:p>
            <a:r>
              <a:rPr lang="en-US" sz="2058" b="1" dirty="0">
                <a:latin typeface="Times New Roman" panose="02020603050405020304" pitchFamily="18" charset="0"/>
                <a:cs typeface="Times New Roman" panose="02020603050405020304" pitchFamily="18" charset="0"/>
              </a:rPr>
              <a:t>Instruments Used</a:t>
            </a:r>
            <a:endParaRPr lang="en-IN" sz="2058" b="1"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D3E83E90-C21E-7B0D-9ACD-FE4929E45673}"/>
              </a:ext>
            </a:extLst>
          </p:cNvPr>
          <p:cNvSpPr/>
          <p:nvPr/>
        </p:nvSpPr>
        <p:spPr>
          <a:xfrm>
            <a:off x="114989" y="173223"/>
            <a:ext cx="12314443" cy="67099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descr="A group of glass beakers with liquid in it&#10;&#10;Description automatically generated">
            <a:extLst>
              <a:ext uri="{FF2B5EF4-FFF2-40B4-BE49-F238E27FC236}">
                <a16:creationId xmlns:a16="http://schemas.microsoft.com/office/drawing/2014/main" id="{AFAF4BEE-77A4-56F4-1C2D-9598524CF824}"/>
              </a:ext>
            </a:extLst>
          </p:cNvPr>
          <p:cNvPicPr>
            <a:picLocks noChangeAspect="1"/>
          </p:cNvPicPr>
          <p:nvPr/>
        </p:nvPicPr>
        <p:blipFill>
          <a:blip r:embed="rId3"/>
          <a:stretch>
            <a:fillRect/>
          </a:stretch>
        </p:blipFill>
        <p:spPr>
          <a:xfrm>
            <a:off x="771592" y="3550851"/>
            <a:ext cx="5500618" cy="2690486"/>
          </a:xfrm>
          <a:prstGeom prst="rect">
            <a:avLst/>
          </a:prstGeom>
          <a:ln>
            <a:solidFill>
              <a:schemeClr val="tx1"/>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0" name="TextBox 9">
            <a:extLst>
              <a:ext uri="{FF2B5EF4-FFF2-40B4-BE49-F238E27FC236}">
                <a16:creationId xmlns:a16="http://schemas.microsoft.com/office/drawing/2014/main" id="{48DD3368-CC5F-781C-4A3D-744D5D8235E3}"/>
              </a:ext>
            </a:extLst>
          </p:cNvPr>
          <p:cNvSpPr txBox="1"/>
          <p:nvPr/>
        </p:nvSpPr>
        <p:spPr>
          <a:xfrm>
            <a:off x="2676155" y="6286782"/>
            <a:ext cx="5113421" cy="369332"/>
          </a:xfrm>
          <a:prstGeom prst="rect">
            <a:avLst/>
          </a:prstGeom>
          <a:noFill/>
        </p:spPr>
        <p:txBody>
          <a:bodyPr wrap="square" rtlCol="0">
            <a:spAutoFit/>
          </a:bodyPr>
          <a:lstStyle/>
          <a:p>
            <a:r>
              <a:rPr lang="en-IN" b="1" dirty="0" err="1">
                <a:latin typeface="Times New Roman" panose="02020603050405020304" pitchFamily="18" charset="0"/>
                <a:cs typeface="Times New Roman" panose="02020603050405020304" pitchFamily="18" charset="0"/>
              </a:rPr>
              <a:t>Glasswares</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5AA9F44-F39E-E028-A7B7-22FA4FD01B49}"/>
              </a:ext>
            </a:extLst>
          </p:cNvPr>
          <p:cNvSpPr txBox="1"/>
          <p:nvPr/>
        </p:nvSpPr>
        <p:spPr>
          <a:xfrm>
            <a:off x="11112688" y="6588035"/>
            <a:ext cx="185255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- 14</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7846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E8F908-8AFB-8CC2-2C00-9D49E76AC4CD}"/>
              </a:ext>
            </a:extLst>
          </p:cNvPr>
          <p:cNvSpPr txBox="1"/>
          <p:nvPr/>
        </p:nvSpPr>
        <p:spPr>
          <a:xfrm>
            <a:off x="2133349" y="2634917"/>
            <a:ext cx="8277726" cy="523220"/>
          </a:xfrm>
          <a:prstGeom prst="rect">
            <a:avLst/>
          </a:prstGeom>
          <a:noFill/>
          <a:ln>
            <a:solidFill>
              <a:schemeClr val="tx1"/>
            </a:solidFill>
          </a:ln>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 EXPERIMENTAL METHODOLOGY</a:t>
            </a:r>
            <a:endParaRPr lang="en-IN" sz="2800" b="1"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4AF08F29-D6B6-11B9-28AB-A70E20B65562}"/>
              </a:ext>
            </a:extLst>
          </p:cNvPr>
          <p:cNvSpPr/>
          <p:nvPr/>
        </p:nvSpPr>
        <p:spPr>
          <a:xfrm>
            <a:off x="264695" y="174376"/>
            <a:ext cx="12031579" cy="670768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C7B02DA7-EF69-8235-E002-3683CCAFA6AC}"/>
              </a:ext>
            </a:extLst>
          </p:cNvPr>
          <p:cNvSpPr txBox="1"/>
          <p:nvPr/>
        </p:nvSpPr>
        <p:spPr>
          <a:xfrm>
            <a:off x="10823734" y="6512730"/>
            <a:ext cx="147254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-15</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9455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31BA89-D00D-E809-0AE0-CEA40EA15F0F}"/>
              </a:ext>
            </a:extLst>
          </p:cNvPr>
          <p:cNvSpPr txBox="1"/>
          <p:nvPr/>
        </p:nvSpPr>
        <p:spPr>
          <a:xfrm>
            <a:off x="3141333" y="281389"/>
            <a:ext cx="5488186" cy="472309"/>
          </a:xfrm>
          <a:prstGeom prst="rect">
            <a:avLst/>
          </a:prstGeom>
          <a:noFill/>
          <a:ln>
            <a:solidFill>
              <a:schemeClr val="tx1"/>
            </a:solidFill>
          </a:ln>
        </p:spPr>
        <p:txBody>
          <a:bodyPr wrap="square" rtlCol="0">
            <a:spAutoFit/>
          </a:bodyPr>
          <a:lstStyle/>
          <a:p>
            <a:pPr algn="just"/>
            <a:r>
              <a:rPr lang="en-US" sz="2469" b="1" dirty="0">
                <a:latin typeface="Times New Roman" panose="02020603050405020304" pitchFamily="18" charset="0"/>
                <a:cs typeface="Times New Roman" panose="02020603050405020304" pitchFamily="18" charset="0"/>
              </a:rPr>
              <a:t>EXPERIMENTAL METHODOLOGY</a:t>
            </a:r>
            <a:endParaRPr lang="en-IN" sz="2469" b="1" dirty="0">
              <a:latin typeface="Times New Roman" panose="02020603050405020304" pitchFamily="18" charset="0"/>
              <a:cs typeface="Times New Roman" panose="02020603050405020304" pitchFamily="18" charset="0"/>
            </a:endParaRPr>
          </a:p>
        </p:txBody>
      </p:sp>
      <p:graphicFrame>
        <p:nvGraphicFramePr>
          <p:cNvPr id="8" name="Diagram 7">
            <a:extLst>
              <a:ext uri="{FF2B5EF4-FFF2-40B4-BE49-F238E27FC236}">
                <a16:creationId xmlns:a16="http://schemas.microsoft.com/office/drawing/2014/main" id="{4CBB3320-5595-2F78-FBEF-A16C11B2BE68}"/>
              </a:ext>
            </a:extLst>
          </p:cNvPr>
          <p:cNvGraphicFramePr/>
          <p:nvPr>
            <p:extLst>
              <p:ext uri="{D42A27DB-BD31-4B8C-83A1-F6EECF244321}">
                <p14:modId xmlns:p14="http://schemas.microsoft.com/office/powerpoint/2010/main" val="4179437666"/>
              </p:ext>
            </p:extLst>
          </p:nvPr>
        </p:nvGraphicFramePr>
        <p:xfrm>
          <a:off x="1278661" y="886806"/>
          <a:ext cx="10639612" cy="55746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DB642927-24C5-0C0A-6699-12600A8CB37D}"/>
              </a:ext>
            </a:extLst>
          </p:cNvPr>
          <p:cNvSpPr txBox="1"/>
          <p:nvPr/>
        </p:nvSpPr>
        <p:spPr>
          <a:xfrm>
            <a:off x="3781412" y="5769522"/>
            <a:ext cx="7054227" cy="400110"/>
          </a:xfrm>
          <a:prstGeom prst="rect">
            <a:avLst/>
          </a:prstGeom>
          <a:noFill/>
        </p:spPr>
        <p:txBody>
          <a:bodyPr wrap="square" rtlCol="0">
            <a:spAutoFit/>
          </a:bodyPr>
          <a:lstStyle/>
          <a:p>
            <a:r>
              <a:rPr lang="en-US" sz="2000" b="1" u="sng" dirty="0">
                <a:latin typeface="Times New Roman" panose="02020603050405020304" pitchFamily="18" charset="0"/>
                <a:cs typeface="Times New Roman" panose="02020603050405020304" pitchFamily="18" charset="0"/>
              </a:rPr>
              <a:t>Step 5</a:t>
            </a:r>
            <a:r>
              <a:rPr lang="en-US" sz="2000" b="1" dirty="0">
                <a:latin typeface="Times New Roman" panose="02020603050405020304" pitchFamily="18" charset="0"/>
                <a:cs typeface="Times New Roman" panose="02020603050405020304" pitchFamily="18" charset="0"/>
              </a:rPr>
              <a:t> : Absorbance measurement and caffeine estimation</a:t>
            </a:r>
            <a:endParaRPr lang="en-IN" sz="2000" b="1"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CAA46E45-DA6D-7391-A433-2EEF7CC67AD7}"/>
              </a:ext>
            </a:extLst>
          </p:cNvPr>
          <p:cNvSpPr/>
          <p:nvPr/>
        </p:nvSpPr>
        <p:spPr>
          <a:xfrm>
            <a:off x="213756" y="148281"/>
            <a:ext cx="12124706" cy="67394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F36DC71F-5FF5-F61A-E599-49F17C8BFF28}"/>
              </a:ext>
            </a:extLst>
          </p:cNvPr>
          <p:cNvSpPr txBox="1"/>
          <p:nvPr/>
        </p:nvSpPr>
        <p:spPr>
          <a:xfrm>
            <a:off x="11027623" y="6553982"/>
            <a:ext cx="178129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- 16</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3408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853B2B-B68E-614D-0DF1-CA98F10E30C4}"/>
              </a:ext>
            </a:extLst>
          </p:cNvPr>
          <p:cNvSpPr txBox="1"/>
          <p:nvPr/>
        </p:nvSpPr>
        <p:spPr>
          <a:xfrm>
            <a:off x="2271294" y="2737066"/>
            <a:ext cx="7812506" cy="800219"/>
          </a:xfrm>
          <a:prstGeom prst="rect">
            <a:avLst/>
          </a:prstGeom>
          <a:noFill/>
          <a:ln>
            <a:solidFill>
              <a:schemeClr val="tx1"/>
            </a:solidFill>
          </a:ln>
        </p:spPr>
        <p:txBody>
          <a:bodyPr wrap="square" rtlCol="0">
            <a:spAutoFit/>
          </a:bodyPr>
          <a:lstStyle/>
          <a:p>
            <a:r>
              <a:rPr lang="en-US" sz="2800" b="1" u="sng" dirty="0">
                <a:latin typeface="Times New Roman" panose="02020603050405020304" pitchFamily="18" charset="0"/>
                <a:cs typeface="Times New Roman" panose="02020603050405020304" pitchFamily="18" charset="0"/>
              </a:rPr>
              <a:t> </a:t>
            </a:r>
            <a:r>
              <a:rPr lang="en-IN" sz="2800" b="1" u="sng" dirty="0">
                <a:latin typeface="Times New Roman" panose="02020603050405020304" pitchFamily="18" charset="0"/>
                <a:cs typeface="Times New Roman" panose="02020603050405020304" pitchFamily="18" charset="0"/>
              </a:rPr>
              <a:t>DETERMINATION OF WAVELENGTH (</a:t>
            </a:r>
            <a:r>
              <a:rPr lang="el-GR" sz="2800" b="1" u="sng" dirty="0">
                <a:latin typeface="Times New Roman" panose="02020603050405020304" pitchFamily="18" charset="0"/>
                <a:cs typeface="Times New Roman" panose="02020603050405020304" pitchFamily="18" charset="0"/>
              </a:rPr>
              <a:t>λ</a:t>
            </a:r>
            <a:r>
              <a:rPr lang="en-IN" sz="2800" b="1" u="sng" dirty="0">
                <a:latin typeface="Times New Roman" panose="02020603050405020304" pitchFamily="18" charset="0"/>
                <a:cs typeface="Times New Roman" panose="02020603050405020304" pitchFamily="18" charset="0"/>
              </a:rPr>
              <a:t>max)</a:t>
            </a:r>
          </a:p>
          <a:p>
            <a:endParaRPr lang="en-IN" dirty="0"/>
          </a:p>
        </p:txBody>
      </p:sp>
      <p:sp>
        <p:nvSpPr>
          <p:cNvPr id="3" name="Rectangle 2">
            <a:extLst>
              <a:ext uri="{FF2B5EF4-FFF2-40B4-BE49-F238E27FC236}">
                <a16:creationId xmlns:a16="http://schemas.microsoft.com/office/drawing/2014/main" id="{B13D8399-7C3B-1309-69FE-6C071F18893D}"/>
              </a:ext>
            </a:extLst>
          </p:cNvPr>
          <p:cNvSpPr/>
          <p:nvPr/>
        </p:nvSpPr>
        <p:spPr>
          <a:xfrm>
            <a:off x="272214" y="216569"/>
            <a:ext cx="11999997" cy="664143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B09A822F-4C1D-08A4-4BF4-8F5B5B8D4E71}"/>
              </a:ext>
            </a:extLst>
          </p:cNvPr>
          <p:cNvSpPr txBox="1"/>
          <p:nvPr/>
        </p:nvSpPr>
        <p:spPr>
          <a:xfrm>
            <a:off x="10941256" y="6470537"/>
            <a:ext cx="160316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- 17</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0175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53AA60-3867-5A92-21D5-1354896D979D}"/>
              </a:ext>
            </a:extLst>
          </p:cNvPr>
          <p:cNvSpPr txBox="1"/>
          <p:nvPr/>
        </p:nvSpPr>
        <p:spPr>
          <a:xfrm>
            <a:off x="899018" y="861068"/>
            <a:ext cx="9857827" cy="1751313"/>
          </a:xfrm>
          <a:prstGeom prst="rect">
            <a:avLst/>
          </a:prstGeom>
          <a:noFill/>
        </p:spPr>
        <p:txBody>
          <a:bodyPr wrap="square" rtlCol="0">
            <a:spAutoFit/>
          </a:bodyPr>
          <a:lstStyle/>
          <a:p>
            <a:pPr marL="293994" indent="-293994" algn="just">
              <a:lnSpc>
                <a:spcPct val="150000"/>
              </a:lnSpc>
              <a:buFont typeface="Wingdings" panose="05000000000000000000" pitchFamily="2" charset="2"/>
              <a:buChar char="§"/>
            </a:pPr>
            <a:r>
              <a:rPr lang="en-IN" sz="1852" dirty="0">
                <a:latin typeface="Times New Roman" panose="02020603050405020304" pitchFamily="18" charset="0"/>
                <a:cs typeface="Times New Roman" panose="02020603050405020304" pitchFamily="18" charset="0"/>
              </a:rPr>
              <a:t>A standard caffeine solution (10 µg/ml) was prepared.</a:t>
            </a:r>
          </a:p>
          <a:p>
            <a:pPr marL="293994" indent="-293994" algn="just">
              <a:lnSpc>
                <a:spcPct val="150000"/>
              </a:lnSpc>
              <a:buFont typeface="Wingdings" panose="05000000000000000000" pitchFamily="2" charset="2"/>
              <a:buChar char="§"/>
            </a:pPr>
            <a:r>
              <a:rPr lang="en-IN" sz="1852" dirty="0">
                <a:latin typeface="Times New Roman" panose="02020603050405020304" pitchFamily="18" charset="0"/>
                <a:cs typeface="Times New Roman" panose="02020603050405020304" pitchFamily="18" charset="0"/>
              </a:rPr>
              <a:t>The solution was scanned in the UV spectrophotometer over a wavelength range of 200–400 nm.</a:t>
            </a:r>
          </a:p>
          <a:p>
            <a:pPr marL="293994" indent="-293994" algn="just">
              <a:lnSpc>
                <a:spcPct val="150000"/>
              </a:lnSpc>
              <a:buFont typeface="Wingdings" panose="05000000000000000000" pitchFamily="2" charset="2"/>
              <a:buChar char="§"/>
            </a:pPr>
            <a:r>
              <a:rPr lang="en-IN" sz="1852" dirty="0">
                <a:latin typeface="Times New Roman" panose="02020603050405020304" pitchFamily="18" charset="0"/>
                <a:cs typeface="Times New Roman" panose="02020603050405020304" pitchFamily="18" charset="0"/>
              </a:rPr>
              <a:t>The wavelength at which maximum absorbance was observed was noted as </a:t>
            </a:r>
            <a:r>
              <a:rPr lang="en-IN" sz="1852" dirty="0" err="1">
                <a:latin typeface="Times New Roman" panose="02020603050405020304" pitchFamily="18" charset="0"/>
                <a:cs typeface="Times New Roman" panose="02020603050405020304" pitchFamily="18" charset="0"/>
              </a:rPr>
              <a:t>λmax</a:t>
            </a:r>
            <a:r>
              <a:rPr lang="en-IN" sz="1852" dirty="0">
                <a:latin typeface="Times New Roman" panose="02020603050405020304" pitchFamily="18" charset="0"/>
                <a:cs typeface="Times New Roman" panose="02020603050405020304" pitchFamily="18" charset="0"/>
              </a:rPr>
              <a:t>.</a:t>
            </a:r>
          </a:p>
          <a:p>
            <a:pPr marL="293994" indent="-293994" algn="just">
              <a:lnSpc>
                <a:spcPct val="150000"/>
              </a:lnSpc>
              <a:buFont typeface="Wingdings" panose="05000000000000000000" pitchFamily="2" charset="2"/>
              <a:buChar char="§"/>
            </a:pPr>
            <a:r>
              <a:rPr lang="en-IN" sz="1852" dirty="0">
                <a:latin typeface="Times New Roman" panose="02020603050405020304" pitchFamily="18" charset="0"/>
                <a:cs typeface="Times New Roman" panose="02020603050405020304" pitchFamily="18" charset="0"/>
              </a:rPr>
              <a:t>The </a:t>
            </a:r>
            <a:r>
              <a:rPr lang="en-IN" sz="1852" dirty="0" err="1">
                <a:latin typeface="Times New Roman" panose="02020603050405020304" pitchFamily="18" charset="0"/>
                <a:cs typeface="Times New Roman" panose="02020603050405020304" pitchFamily="18" charset="0"/>
              </a:rPr>
              <a:t>λmax</a:t>
            </a:r>
            <a:r>
              <a:rPr lang="en-IN" sz="1852" dirty="0">
                <a:latin typeface="Times New Roman" panose="02020603050405020304" pitchFamily="18" charset="0"/>
                <a:cs typeface="Times New Roman" panose="02020603050405020304" pitchFamily="18" charset="0"/>
              </a:rPr>
              <a:t> for caffeine was found to be approximately 272 nm.</a:t>
            </a:r>
          </a:p>
        </p:txBody>
      </p:sp>
      <p:sp>
        <p:nvSpPr>
          <p:cNvPr id="5" name="TextBox 4">
            <a:extLst>
              <a:ext uri="{FF2B5EF4-FFF2-40B4-BE49-F238E27FC236}">
                <a16:creationId xmlns:a16="http://schemas.microsoft.com/office/drawing/2014/main" id="{A631267C-4EDC-85F0-A90A-54E72CF3B63B}"/>
              </a:ext>
            </a:extLst>
          </p:cNvPr>
          <p:cNvSpPr txBox="1"/>
          <p:nvPr/>
        </p:nvSpPr>
        <p:spPr>
          <a:xfrm>
            <a:off x="3316592" y="257099"/>
            <a:ext cx="6079194" cy="472309"/>
          </a:xfrm>
          <a:prstGeom prst="rect">
            <a:avLst/>
          </a:prstGeom>
          <a:noFill/>
          <a:ln>
            <a:solidFill>
              <a:schemeClr val="tx1"/>
            </a:solidFill>
          </a:ln>
        </p:spPr>
        <p:txBody>
          <a:bodyPr wrap="square" rtlCol="0">
            <a:spAutoFit/>
          </a:bodyPr>
          <a:lstStyle/>
          <a:p>
            <a:pPr algn="ctr"/>
            <a:r>
              <a:rPr lang="en-IN" sz="2469" b="1" dirty="0">
                <a:latin typeface="Times New Roman" panose="02020603050405020304" pitchFamily="18" charset="0"/>
                <a:cs typeface="Times New Roman" panose="02020603050405020304" pitchFamily="18" charset="0"/>
              </a:rPr>
              <a:t>Determination of </a:t>
            </a:r>
            <a:r>
              <a:rPr lang="en-IN" sz="2469" b="1" dirty="0" err="1">
                <a:latin typeface="Times New Roman" panose="02020603050405020304" pitchFamily="18" charset="0"/>
                <a:cs typeface="Times New Roman" panose="02020603050405020304" pitchFamily="18" charset="0"/>
              </a:rPr>
              <a:t>Wavelenghth</a:t>
            </a:r>
            <a:r>
              <a:rPr lang="en-IN" sz="2469" b="1" dirty="0">
                <a:latin typeface="Times New Roman" panose="02020603050405020304" pitchFamily="18" charset="0"/>
                <a:cs typeface="Times New Roman" panose="02020603050405020304" pitchFamily="18" charset="0"/>
              </a:rPr>
              <a:t> (</a:t>
            </a:r>
            <a:r>
              <a:rPr lang="el-GR" sz="2469" b="1" dirty="0">
                <a:latin typeface="Times New Roman" panose="02020603050405020304" pitchFamily="18" charset="0"/>
                <a:cs typeface="Times New Roman" panose="02020603050405020304" pitchFamily="18" charset="0"/>
              </a:rPr>
              <a:t>λ</a:t>
            </a:r>
            <a:r>
              <a:rPr lang="en-IN" sz="2469" b="1" dirty="0">
                <a:latin typeface="Times New Roman" panose="02020603050405020304" pitchFamily="18" charset="0"/>
                <a:cs typeface="Times New Roman" panose="02020603050405020304" pitchFamily="18" charset="0"/>
              </a:rPr>
              <a:t>max)</a:t>
            </a:r>
          </a:p>
        </p:txBody>
      </p:sp>
      <p:pic>
        <p:nvPicPr>
          <p:cNvPr id="7" name="Picture 6">
            <a:extLst>
              <a:ext uri="{FF2B5EF4-FFF2-40B4-BE49-F238E27FC236}">
                <a16:creationId xmlns:a16="http://schemas.microsoft.com/office/drawing/2014/main" id="{B6C31176-8646-240F-CE6E-65FD5E475A1B}"/>
              </a:ext>
            </a:extLst>
          </p:cNvPr>
          <p:cNvPicPr>
            <a:picLocks noChangeAspect="1"/>
          </p:cNvPicPr>
          <p:nvPr/>
        </p:nvPicPr>
        <p:blipFill>
          <a:blip r:embed="rId2"/>
          <a:stretch>
            <a:fillRect/>
          </a:stretch>
        </p:blipFill>
        <p:spPr>
          <a:xfrm>
            <a:off x="3146321" y="2836888"/>
            <a:ext cx="6249465" cy="2998378"/>
          </a:xfrm>
          <a:prstGeom prst="rect">
            <a:avLst/>
          </a:prstGeom>
          <a:ln>
            <a:solidFill>
              <a:schemeClr val="tx1"/>
            </a:solid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C0B5C81E-B2E5-ECFB-5628-D1D9FFCF63BC}"/>
              </a:ext>
            </a:extLst>
          </p:cNvPr>
          <p:cNvSpPr txBox="1"/>
          <p:nvPr/>
        </p:nvSpPr>
        <p:spPr>
          <a:xfrm>
            <a:off x="690290" y="6136978"/>
            <a:ext cx="11331797" cy="662361"/>
          </a:xfrm>
          <a:prstGeom prst="rect">
            <a:avLst/>
          </a:prstGeom>
          <a:noFill/>
        </p:spPr>
        <p:txBody>
          <a:bodyPr wrap="square" rtlCol="0">
            <a:spAutoFit/>
          </a:bodyPr>
          <a:lstStyle/>
          <a:p>
            <a:pPr marL="293994" indent="-293994" algn="just">
              <a:buFont typeface="Wingdings" panose="05000000000000000000" pitchFamily="2" charset="2"/>
              <a:buChar char="v"/>
            </a:pPr>
            <a:r>
              <a:rPr lang="en-IN" sz="1852" b="1" dirty="0">
                <a:latin typeface="Times New Roman" panose="02020603050405020304" pitchFamily="18" charset="0"/>
                <a:cs typeface="Times New Roman" panose="02020603050405020304" pitchFamily="18" charset="0"/>
              </a:rPr>
              <a:t>The maximum absorbance (</a:t>
            </a:r>
            <a:r>
              <a:rPr lang="en-IN" sz="1852" b="1" dirty="0" err="1">
                <a:latin typeface="Times New Roman" panose="02020603050405020304" pitchFamily="18" charset="0"/>
                <a:cs typeface="Times New Roman" panose="02020603050405020304" pitchFamily="18" charset="0"/>
              </a:rPr>
              <a:t>λmax</a:t>
            </a:r>
            <a:r>
              <a:rPr lang="en-IN" sz="1852" b="1" dirty="0">
                <a:latin typeface="Times New Roman" panose="02020603050405020304" pitchFamily="18" charset="0"/>
                <a:cs typeface="Times New Roman" panose="02020603050405020304" pitchFamily="18" charset="0"/>
              </a:rPr>
              <a:t>) of caffeine was found at 272nm which was used for further Quantitative analysis.</a:t>
            </a:r>
          </a:p>
        </p:txBody>
      </p:sp>
      <p:sp>
        <p:nvSpPr>
          <p:cNvPr id="9" name="TextBox 8">
            <a:extLst>
              <a:ext uri="{FF2B5EF4-FFF2-40B4-BE49-F238E27FC236}">
                <a16:creationId xmlns:a16="http://schemas.microsoft.com/office/drawing/2014/main" id="{E9D567A0-767E-59D7-9350-DCA5E9CBC2CF}"/>
              </a:ext>
            </a:extLst>
          </p:cNvPr>
          <p:cNvSpPr txBox="1"/>
          <p:nvPr/>
        </p:nvSpPr>
        <p:spPr>
          <a:xfrm>
            <a:off x="4126348" y="5918371"/>
            <a:ext cx="3690152" cy="276999"/>
          </a:xfrm>
          <a:prstGeom prst="rect">
            <a:avLst/>
          </a:prstGeom>
          <a:noFill/>
        </p:spPr>
        <p:txBody>
          <a:bodyPr wrap="square" rtlCol="0">
            <a:spAutoFit/>
          </a:bodyPr>
          <a:lstStyle/>
          <a:p>
            <a:pPr algn="ctr"/>
            <a:r>
              <a:rPr lang="en-US" sz="1200" b="1" dirty="0">
                <a:latin typeface="Times New Roman" panose="02020603050405020304" pitchFamily="18" charset="0"/>
                <a:cs typeface="Times New Roman" panose="02020603050405020304" pitchFamily="18" charset="0"/>
              </a:rPr>
              <a:t> Determination of </a:t>
            </a:r>
            <a:r>
              <a:rPr lang="el-GR" sz="1200" b="1" dirty="0">
                <a:latin typeface="Times New Roman" panose="02020603050405020304" pitchFamily="18" charset="0"/>
                <a:cs typeface="Times New Roman" panose="02020603050405020304" pitchFamily="18" charset="0"/>
              </a:rPr>
              <a:t>λ</a:t>
            </a:r>
            <a:r>
              <a:rPr lang="en-IN" sz="1200" b="1" dirty="0">
                <a:latin typeface="Times New Roman" panose="02020603050405020304" pitchFamily="18" charset="0"/>
                <a:cs typeface="Times New Roman" panose="02020603050405020304" pitchFamily="18" charset="0"/>
              </a:rPr>
              <a:t>max</a:t>
            </a:r>
          </a:p>
        </p:txBody>
      </p:sp>
      <p:sp>
        <p:nvSpPr>
          <p:cNvPr id="4" name="Rectangle 3">
            <a:extLst>
              <a:ext uri="{FF2B5EF4-FFF2-40B4-BE49-F238E27FC236}">
                <a16:creationId xmlns:a16="http://schemas.microsoft.com/office/drawing/2014/main" id="{AFB4BA77-85C1-C0D6-59CE-7EE5B551EAC1}"/>
              </a:ext>
            </a:extLst>
          </p:cNvPr>
          <p:cNvSpPr/>
          <p:nvPr/>
        </p:nvSpPr>
        <p:spPr>
          <a:xfrm>
            <a:off x="148281" y="125438"/>
            <a:ext cx="12245546" cy="68055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CD8FB247-8616-F1C4-DA21-8FCEA25B9C64}"/>
              </a:ext>
            </a:extLst>
          </p:cNvPr>
          <p:cNvSpPr txBox="1"/>
          <p:nvPr/>
        </p:nvSpPr>
        <p:spPr>
          <a:xfrm>
            <a:off x="11000279" y="6561668"/>
            <a:ext cx="157941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- 18</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7972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B5CB6D-03FE-757C-C7AD-71D21582D90F}"/>
              </a:ext>
            </a:extLst>
          </p:cNvPr>
          <p:cNvSpPr txBox="1"/>
          <p:nvPr/>
        </p:nvSpPr>
        <p:spPr>
          <a:xfrm>
            <a:off x="1712243" y="2779296"/>
            <a:ext cx="8887578" cy="523220"/>
          </a:xfrm>
          <a:prstGeom prst="rect">
            <a:avLst/>
          </a:prstGeom>
          <a:noFill/>
          <a:ln>
            <a:solidFill>
              <a:schemeClr val="tx1"/>
            </a:solidFill>
          </a:ln>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 CALIBRATION CURVE OF CAFFEINE</a:t>
            </a:r>
            <a:endParaRPr lang="en-IN" sz="2800" b="1"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52160F78-04AE-1B94-99FB-68B3B08465B0}"/>
              </a:ext>
            </a:extLst>
          </p:cNvPr>
          <p:cNvSpPr/>
          <p:nvPr/>
        </p:nvSpPr>
        <p:spPr>
          <a:xfrm>
            <a:off x="296278" y="204537"/>
            <a:ext cx="11951869" cy="66173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DF06306-1585-23E6-C4D5-77B52C325BD4}"/>
              </a:ext>
            </a:extLst>
          </p:cNvPr>
          <p:cNvSpPr txBox="1"/>
          <p:nvPr/>
        </p:nvSpPr>
        <p:spPr>
          <a:xfrm>
            <a:off x="10889672" y="6452573"/>
            <a:ext cx="154379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- 19</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21222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829126-1B19-FB9D-1EB6-C431A9ED3415}"/>
              </a:ext>
            </a:extLst>
          </p:cNvPr>
          <p:cNvSpPr txBox="1"/>
          <p:nvPr/>
        </p:nvSpPr>
        <p:spPr>
          <a:xfrm>
            <a:off x="160216" y="667674"/>
            <a:ext cx="12129265" cy="5115311"/>
          </a:xfrm>
          <a:prstGeom prst="rect">
            <a:avLst/>
          </a:prstGeom>
          <a:noFill/>
        </p:spPr>
        <p:txBody>
          <a:bodyPr wrap="square" lIns="91440" tIns="45720" rIns="91440" bIns="45720" rtlCol="0" anchor="t">
            <a:spAutoFit/>
          </a:bodyPr>
          <a:lstStyle/>
          <a:p>
            <a:pPr algn="just"/>
            <a:r>
              <a:rPr lang="en-IN" sz="2000" b="1" u="sng" dirty="0">
                <a:latin typeface="Times New Roman" panose="02020603050405020304" pitchFamily="18" charset="0"/>
                <a:cs typeface="Times New Roman" panose="02020603050405020304" pitchFamily="18" charset="0"/>
              </a:rPr>
              <a:t>Preparation of Standard Caffeine Solution</a:t>
            </a:r>
            <a:endParaRPr lang="en-IN" sz="2000" u="sng"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Accurately weighed 10 mg of caffeine was dissolved in 10 mL of distilled water to obtain a primary stock solution of concentration:</a:t>
            </a:r>
          </a:p>
          <a:p>
            <a:pPr algn="just">
              <a:lnSpc>
                <a:spcPct val="150000"/>
              </a:lnSpc>
            </a:pPr>
            <a:r>
              <a:rPr lang="en-IN" sz="2000" b="1" dirty="0">
                <a:latin typeface="Times New Roman" panose="02020603050405020304" pitchFamily="18" charset="0"/>
                <a:cs typeface="Times New Roman" panose="02020603050405020304" pitchFamily="18" charset="0"/>
              </a:rPr>
              <a:t>                           Concentration = 1000 ug/ml</a:t>
            </a:r>
          </a:p>
          <a:p>
            <a:pPr algn="just">
              <a:lnSpc>
                <a:spcPct val="150000"/>
              </a:lnSpc>
            </a:pPr>
            <a:r>
              <a:rPr lang="en-IN" sz="2000" dirty="0">
                <a:latin typeface="Times New Roman" panose="02020603050405020304" pitchFamily="18" charset="0"/>
                <a:cs typeface="Times New Roman" panose="02020603050405020304" pitchFamily="18" charset="0"/>
              </a:rPr>
              <a:t>From this solution, </a:t>
            </a:r>
            <a:r>
              <a:rPr lang="en-IN" sz="2000" b="1" dirty="0">
                <a:latin typeface="Times New Roman" panose="02020603050405020304" pitchFamily="18" charset="0"/>
                <a:cs typeface="Times New Roman" panose="02020603050405020304" pitchFamily="18" charset="0"/>
              </a:rPr>
              <a:t>1 mL</a:t>
            </a:r>
            <a:r>
              <a:rPr lang="en-IN" sz="2000" dirty="0">
                <a:latin typeface="Times New Roman" panose="02020603050405020304" pitchFamily="18" charset="0"/>
                <a:cs typeface="Times New Roman" panose="02020603050405020304" pitchFamily="18" charset="0"/>
              </a:rPr>
              <a:t> was further diluted to </a:t>
            </a:r>
            <a:r>
              <a:rPr lang="en-IN" sz="2000" b="1" dirty="0">
                <a:latin typeface="Times New Roman" panose="02020603050405020304" pitchFamily="18" charset="0"/>
                <a:cs typeface="Times New Roman" panose="02020603050405020304" pitchFamily="18" charset="0"/>
              </a:rPr>
              <a:t>10 mL with distilled water</a:t>
            </a:r>
            <a:r>
              <a:rPr lang="en-IN" sz="2000" dirty="0">
                <a:latin typeface="Times New Roman" panose="02020603050405020304" pitchFamily="18" charset="0"/>
                <a:cs typeface="Times New Roman" panose="02020603050405020304" pitchFamily="18" charset="0"/>
              </a:rPr>
              <a:t> to prepare a secondary stock solution of concentration:</a:t>
            </a:r>
          </a:p>
          <a:p>
            <a:pPr algn="just">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Concentration = 100 ug/ml</a:t>
            </a:r>
          </a:p>
          <a:p>
            <a:pPr algn="just"/>
            <a:endParaRPr lang="en-IN" sz="2000" b="1" dirty="0">
              <a:latin typeface="Times New Roman" panose="02020603050405020304" pitchFamily="18" charset="0"/>
              <a:cs typeface="Times New Roman" panose="02020603050405020304" pitchFamily="18" charset="0"/>
            </a:endParaRPr>
          </a:p>
          <a:p>
            <a:pPr algn="just"/>
            <a:r>
              <a:rPr lang="en-IN" sz="2000" b="1" u="sng" dirty="0">
                <a:latin typeface="Times New Roman" panose="02020603050405020304" pitchFamily="18" charset="0"/>
                <a:cs typeface="Times New Roman" panose="02020603050405020304" pitchFamily="18" charset="0"/>
              </a:rPr>
              <a:t>Preparation of Working Standard Solutions</a:t>
            </a:r>
            <a:endParaRPr lang="en-IN" sz="2000" u="sng"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a:cs typeface="Times New Roman"/>
              </a:rPr>
              <a:t>From the secondary stock solution (100 µg/mL), aliquots of 1, 2, 3, 4, 5, and 6 mL were pipetted into separate 10 mL </a:t>
            </a:r>
            <a:r>
              <a:rPr lang="en-IN" sz="2000">
                <a:latin typeface="Times New Roman"/>
                <a:cs typeface="Times New Roman"/>
              </a:rPr>
              <a:t>volumetric flasks and diluted up to the mark with distilled water to obtain working standard solutions of:10 20 30 40 50 60µg/mL</a:t>
            </a:r>
          </a:p>
        </p:txBody>
      </p:sp>
      <p:sp>
        <p:nvSpPr>
          <p:cNvPr id="5" name="Rectangle 1">
            <a:extLst>
              <a:ext uri="{FF2B5EF4-FFF2-40B4-BE49-F238E27FC236}">
                <a16:creationId xmlns:a16="http://schemas.microsoft.com/office/drawing/2014/main" id="{B6EE96CD-2D22-2BA4-5106-5F894D1DA349}"/>
              </a:ext>
            </a:extLst>
          </p:cNvPr>
          <p:cNvSpPr>
            <a:spLocks noChangeArrowheads="1"/>
          </p:cNvSpPr>
          <p:nvPr/>
        </p:nvSpPr>
        <p:spPr bwMode="auto">
          <a:xfrm>
            <a:off x="5215412" y="2911898"/>
            <a:ext cx="190068" cy="380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4083" tIns="47042" rIns="94083" bIns="47042" numCol="1" anchor="ctr" anchorCtr="0" compatLnSpc="1">
            <a:prstTxWarp prst="textNoShape">
              <a:avLst/>
            </a:prstTxWarp>
            <a:spAutoFit/>
          </a:bodyPr>
          <a:lstStyle/>
          <a:p>
            <a:endParaRPr lang="en-IN" sz="1852"/>
          </a:p>
        </p:txBody>
      </p:sp>
      <p:sp>
        <p:nvSpPr>
          <p:cNvPr id="18" name="TextBox 17">
            <a:extLst>
              <a:ext uri="{FF2B5EF4-FFF2-40B4-BE49-F238E27FC236}">
                <a16:creationId xmlns:a16="http://schemas.microsoft.com/office/drawing/2014/main" id="{AAC323FE-1A1C-BDF3-807D-8035A77AF62C}"/>
              </a:ext>
            </a:extLst>
          </p:cNvPr>
          <p:cNvSpPr txBox="1"/>
          <p:nvPr/>
        </p:nvSpPr>
        <p:spPr>
          <a:xfrm>
            <a:off x="3652232" y="96114"/>
            <a:ext cx="4273454" cy="472309"/>
          </a:xfrm>
          <a:prstGeom prst="rect">
            <a:avLst/>
          </a:prstGeom>
          <a:noFill/>
          <a:ln>
            <a:solidFill>
              <a:schemeClr val="tx1"/>
            </a:solidFill>
          </a:ln>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CALIBRATION CURVE</a:t>
            </a:r>
            <a:endParaRPr lang="en-IN" sz="24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9021ABD5-6A71-7FFC-6FF6-72B0B32295AE}"/>
                  </a:ext>
                </a:extLst>
              </p14:cNvPr>
              <p14:cNvContentPartPr/>
              <p14:nvPr/>
            </p14:nvContentPartPr>
            <p14:xfrm>
              <a:off x="3202938" y="7294438"/>
              <a:ext cx="370" cy="370"/>
            </p14:xfrm>
          </p:contentPart>
        </mc:Choice>
        <mc:Fallback xmlns="">
          <p:pic>
            <p:nvPicPr>
              <p:cNvPr id="20" name="Ink 19">
                <a:extLst>
                  <a:ext uri="{FF2B5EF4-FFF2-40B4-BE49-F238E27FC236}">
                    <a16:creationId xmlns:a16="http://schemas.microsoft.com/office/drawing/2014/main" id="{9021ABD5-6A71-7FFC-6FF6-72B0B32295AE}"/>
                  </a:ext>
                </a:extLst>
              </p:cNvPr>
              <p:cNvPicPr/>
              <p:nvPr/>
            </p:nvPicPr>
            <p:blipFill>
              <a:blip r:embed="rId4"/>
              <a:stretch>
                <a:fillRect/>
              </a:stretch>
            </p:blipFill>
            <p:spPr>
              <a:xfrm>
                <a:off x="3193688" y="7285188"/>
                <a:ext cx="18500" cy="18500"/>
              </a:xfrm>
              <a:prstGeom prst="rect">
                <a:avLst/>
              </a:prstGeom>
            </p:spPr>
          </p:pic>
        </mc:Fallback>
      </mc:AlternateContent>
      <p:grpSp>
        <p:nvGrpSpPr>
          <p:cNvPr id="24" name="Group 23">
            <a:extLst>
              <a:ext uri="{FF2B5EF4-FFF2-40B4-BE49-F238E27FC236}">
                <a16:creationId xmlns:a16="http://schemas.microsoft.com/office/drawing/2014/main" id="{67978055-DE9C-A010-89EF-9BB5F8EADEBC}"/>
              </a:ext>
            </a:extLst>
          </p:cNvPr>
          <p:cNvGrpSpPr/>
          <p:nvPr/>
        </p:nvGrpSpPr>
        <p:grpSpPr>
          <a:xfrm>
            <a:off x="3662241" y="6137519"/>
            <a:ext cx="370" cy="370"/>
            <a:chOff x="3559354" y="5964994"/>
            <a:chExt cx="360" cy="360"/>
          </a:xfrm>
        </p:grpSpPr>
        <mc:AlternateContent xmlns:mc="http://schemas.openxmlformats.org/markup-compatibility/2006" xmlns:p14="http://schemas.microsoft.com/office/powerpoint/2010/main">
          <mc:Choice Requires="p14">
            <p:contentPart p14:bwMode="auto" r:id="rId5">
              <p14:nvContentPartPr>
                <p14:cNvPr id="22" name="Ink 21">
                  <a:extLst>
                    <a:ext uri="{FF2B5EF4-FFF2-40B4-BE49-F238E27FC236}">
                      <a16:creationId xmlns:a16="http://schemas.microsoft.com/office/drawing/2014/main" id="{B3DA62C5-808D-1898-61D5-5F8E64FE7D17}"/>
                    </a:ext>
                  </a:extLst>
                </p14:cNvPr>
                <p14:cNvContentPartPr/>
                <p14:nvPr/>
              </p14:nvContentPartPr>
              <p14:xfrm>
                <a:off x="3559354" y="5964994"/>
                <a:ext cx="360" cy="360"/>
              </p14:xfrm>
            </p:contentPart>
          </mc:Choice>
          <mc:Fallback xmlns="">
            <p:pic>
              <p:nvPicPr>
                <p:cNvPr id="22" name="Ink 21">
                  <a:extLst>
                    <a:ext uri="{FF2B5EF4-FFF2-40B4-BE49-F238E27FC236}">
                      <a16:creationId xmlns:a16="http://schemas.microsoft.com/office/drawing/2014/main" id="{B3DA62C5-808D-1898-61D5-5F8E64FE7D17}"/>
                    </a:ext>
                  </a:extLst>
                </p:cNvPr>
                <p:cNvPicPr/>
                <p:nvPr/>
              </p:nvPicPr>
              <p:blipFill>
                <a:blip r:embed="rId6"/>
                <a:stretch>
                  <a:fillRect/>
                </a:stretch>
              </p:blipFill>
              <p:spPr>
                <a:xfrm>
                  <a:off x="3550714" y="595599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3" name="Ink 22">
                  <a:extLst>
                    <a:ext uri="{FF2B5EF4-FFF2-40B4-BE49-F238E27FC236}">
                      <a16:creationId xmlns:a16="http://schemas.microsoft.com/office/drawing/2014/main" id="{7D4AB7C0-05AC-B4B0-1985-69FF0DD35655}"/>
                    </a:ext>
                  </a:extLst>
                </p14:cNvPr>
                <p14:cNvContentPartPr/>
                <p14:nvPr/>
              </p14:nvContentPartPr>
              <p14:xfrm>
                <a:off x="3559354" y="5964994"/>
                <a:ext cx="360" cy="360"/>
              </p14:xfrm>
            </p:contentPart>
          </mc:Choice>
          <mc:Fallback xmlns="">
            <p:pic>
              <p:nvPicPr>
                <p:cNvPr id="23" name="Ink 22">
                  <a:extLst>
                    <a:ext uri="{FF2B5EF4-FFF2-40B4-BE49-F238E27FC236}">
                      <a16:creationId xmlns:a16="http://schemas.microsoft.com/office/drawing/2014/main" id="{7D4AB7C0-05AC-B4B0-1985-69FF0DD35655}"/>
                    </a:ext>
                  </a:extLst>
                </p:cNvPr>
                <p:cNvPicPr/>
                <p:nvPr/>
              </p:nvPicPr>
              <p:blipFill>
                <a:blip r:embed="rId6"/>
                <a:stretch>
                  <a:fillRect/>
                </a:stretch>
              </p:blipFill>
              <p:spPr>
                <a:xfrm>
                  <a:off x="3550714" y="5955994"/>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25" name="Ink 24">
                <a:extLst>
                  <a:ext uri="{FF2B5EF4-FFF2-40B4-BE49-F238E27FC236}">
                    <a16:creationId xmlns:a16="http://schemas.microsoft.com/office/drawing/2014/main" id="{24544DFF-6DCD-8443-0C09-85F57DCE1988}"/>
                  </a:ext>
                </a:extLst>
              </p14:cNvPr>
              <p14:cNvContentPartPr/>
              <p14:nvPr/>
            </p14:nvContentPartPr>
            <p14:xfrm>
              <a:off x="5812450" y="6271977"/>
              <a:ext cx="370" cy="370"/>
            </p14:xfrm>
          </p:contentPart>
        </mc:Choice>
        <mc:Fallback xmlns="">
          <p:pic>
            <p:nvPicPr>
              <p:cNvPr id="25" name="Ink 24">
                <a:extLst>
                  <a:ext uri="{FF2B5EF4-FFF2-40B4-BE49-F238E27FC236}">
                    <a16:creationId xmlns:a16="http://schemas.microsoft.com/office/drawing/2014/main" id="{24544DFF-6DCD-8443-0C09-85F57DCE1988}"/>
                  </a:ext>
                </a:extLst>
              </p:cNvPr>
              <p:cNvPicPr/>
              <p:nvPr/>
            </p:nvPicPr>
            <p:blipFill>
              <a:blip r:embed="rId10"/>
              <a:stretch>
                <a:fillRect/>
              </a:stretch>
            </p:blipFill>
            <p:spPr>
              <a:xfrm>
                <a:off x="5803200" y="6262727"/>
                <a:ext cx="18500" cy="185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6" name="Ink 25">
                <a:extLst>
                  <a:ext uri="{FF2B5EF4-FFF2-40B4-BE49-F238E27FC236}">
                    <a16:creationId xmlns:a16="http://schemas.microsoft.com/office/drawing/2014/main" id="{968E4738-0AA5-D191-8755-E22FE3CE3F04}"/>
                  </a:ext>
                </a:extLst>
              </p14:cNvPr>
              <p14:cNvContentPartPr/>
              <p14:nvPr/>
            </p14:nvContentPartPr>
            <p14:xfrm>
              <a:off x="4647892" y="6339391"/>
              <a:ext cx="370" cy="370"/>
            </p14:xfrm>
          </p:contentPart>
        </mc:Choice>
        <mc:Fallback xmlns="">
          <p:pic>
            <p:nvPicPr>
              <p:cNvPr id="26" name="Ink 25">
                <a:extLst>
                  <a:ext uri="{FF2B5EF4-FFF2-40B4-BE49-F238E27FC236}">
                    <a16:creationId xmlns:a16="http://schemas.microsoft.com/office/drawing/2014/main" id="{968E4738-0AA5-D191-8755-E22FE3CE3F04}"/>
                  </a:ext>
                </a:extLst>
              </p:cNvPr>
              <p:cNvPicPr/>
              <p:nvPr/>
            </p:nvPicPr>
            <p:blipFill>
              <a:blip r:embed="rId10"/>
              <a:stretch>
                <a:fillRect/>
              </a:stretch>
            </p:blipFill>
            <p:spPr>
              <a:xfrm>
                <a:off x="4638642" y="6330141"/>
                <a:ext cx="18500" cy="185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7" name="Ink 26">
                <a:extLst>
                  <a:ext uri="{FF2B5EF4-FFF2-40B4-BE49-F238E27FC236}">
                    <a16:creationId xmlns:a16="http://schemas.microsoft.com/office/drawing/2014/main" id="{C63DC139-B181-9FB7-6EF5-6621ABE82A30}"/>
                  </a:ext>
                </a:extLst>
              </p14:cNvPr>
              <p14:cNvContentPartPr/>
              <p14:nvPr/>
            </p14:nvContentPartPr>
            <p14:xfrm>
              <a:off x="4647892" y="6339391"/>
              <a:ext cx="370" cy="370"/>
            </p14:xfrm>
          </p:contentPart>
        </mc:Choice>
        <mc:Fallback xmlns="">
          <p:pic>
            <p:nvPicPr>
              <p:cNvPr id="27" name="Ink 26">
                <a:extLst>
                  <a:ext uri="{FF2B5EF4-FFF2-40B4-BE49-F238E27FC236}">
                    <a16:creationId xmlns:a16="http://schemas.microsoft.com/office/drawing/2014/main" id="{C63DC139-B181-9FB7-6EF5-6621ABE82A30}"/>
                  </a:ext>
                </a:extLst>
              </p:cNvPr>
              <p:cNvPicPr/>
              <p:nvPr/>
            </p:nvPicPr>
            <p:blipFill>
              <a:blip r:embed="rId10"/>
              <a:stretch>
                <a:fillRect/>
              </a:stretch>
            </p:blipFill>
            <p:spPr>
              <a:xfrm>
                <a:off x="4638642" y="6330141"/>
                <a:ext cx="18500" cy="185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8" name="Ink 27">
                <a:extLst>
                  <a:ext uri="{FF2B5EF4-FFF2-40B4-BE49-F238E27FC236}">
                    <a16:creationId xmlns:a16="http://schemas.microsoft.com/office/drawing/2014/main" id="{318FD184-BD35-163E-DBBA-E0E26517C338}"/>
                  </a:ext>
                </a:extLst>
              </p14:cNvPr>
              <p14:cNvContentPartPr/>
              <p14:nvPr/>
            </p14:nvContentPartPr>
            <p14:xfrm>
              <a:off x="4647892" y="6339391"/>
              <a:ext cx="370" cy="370"/>
            </p14:xfrm>
          </p:contentPart>
        </mc:Choice>
        <mc:Fallback xmlns="">
          <p:pic>
            <p:nvPicPr>
              <p:cNvPr id="28" name="Ink 27">
                <a:extLst>
                  <a:ext uri="{FF2B5EF4-FFF2-40B4-BE49-F238E27FC236}">
                    <a16:creationId xmlns:a16="http://schemas.microsoft.com/office/drawing/2014/main" id="{318FD184-BD35-163E-DBBA-E0E26517C338}"/>
                  </a:ext>
                </a:extLst>
              </p:cNvPr>
              <p:cNvPicPr/>
              <p:nvPr/>
            </p:nvPicPr>
            <p:blipFill>
              <a:blip r:embed="rId10"/>
              <a:stretch>
                <a:fillRect/>
              </a:stretch>
            </p:blipFill>
            <p:spPr>
              <a:xfrm>
                <a:off x="4638642" y="6330141"/>
                <a:ext cx="18500" cy="185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9" name="Ink 28">
                <a:extLst>
                  <a:ext uri="{FF2B5EF4-FFF2-40B4-BE49-F238E27FC236}">
                    <a16:creationId xmlns:a16="http://schemas.microsoft.com/office/drawing/2014/main" id="{6E58519A-4063-9C98-AA3F-E42E46144523}"/>
                  </a:ext>
                </a:extLst>
              </p14:cNvPr>
              <p14:cNvContentPartPr/>
              <p14:nvPr/>
            </p14:nvContentPartPr>
            <p14:xfrm>
              <a:off x="4647892" y="6339391"/>
              <a:ext cx="370" cy="370"/>
            </p14:xfrm>
          </p:contentPart>
        </mc:Choice>
        <mc:Fallback xmlns="">
          <p:pic>
            <p:nvPicPr>
              <p:cNvPr id="29" name="Ink 28">
                <a:extLst>
                  <a:ext uri="{FF2B5EF4-FFF2-40B4-BE49-F238E27FC236}">
                    <a16:creationId xmlns:a16="http://schemas.microsoft.com/office/drawing/2014/main" id="{6E58519A-4063-9C98-AA3F-E42E46144523}"/>
                  </a:ext>
                </a:extLst>
              </p:cNvPr>
              <p:cNvPicPr/>
              <p:nvPr/>
            </p:nvPicPr>
            <p:blipFill>
              <a:blip r:embed="rId10"/>
              <a:stretch>
                <a:fillRect/>
              </a:stretch>
            </p:blipFill>
            <p:spPr>
              <a:xfrm>
                <a:off x="4638642" y="6330141"/>
                <a:ext cx="18500" cy="185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0" name="Ink 29">
                <a:extLst>
                  <a:ext uri="{FF2B5EF4-FFF2-40B4-BE49-F238E27FC236}">
                    <a16:creationId xmlns:a16="http://schemas.microsoft.com/office/drawing/2014/main" id="{9887CBE7-EF6D-5412-69A0-8F71FADC1B0F}"/>
                  </a:ext>
                </a:extLst>
              </p14:cNvPr>
              <p14:cNvContentPartPr/>
              <p14:nvPr/>
            </p14:nvContentPartPr>
            <p14:xfrm>
              <a:off x="4647892" y="6339391"/>
              <a:ext cx="370" cy="370"/>
            </p14:xfrm>
          </p:contentPart>
        </mc:Choice>
        <mc:Fallback xmlns="">
          <p:pic>
            <p:nvPicPr>
              <p:cNvPr id="30" name="Ink 29">
                <a:extLst>
                  <a:ext uri="{FF2B5EF4-FFF2-40B4-BE49-F238E27FC236}">
                    <a16:creationId xmlns:a16="http://schemas.microsoft.com/office/drawing/2014/main" id="{9887CBE7-EF6D-5412-69A0-8F71FADC1B0F}"/>
                  </a:ext>
                </a:extLst>
              </p:cNvPr>
              <p:cNvPicPr/>
              <p:nvPr/>
            </p:nvPicPr>
            <p:blipFill>
              <a:blip r:embed="rId10"/>
              <a:stretch>
                <a:fillRect/>
              </a:stretch>
            </p:blipFill>
            <p:spPr>
              <a:xfrm>
                <a:off x="4638642" y="6330141"/>
                <a:ext cx="18500" cy="185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1" name="Ink 30">
                <a:extLst>
                  <a:ext uri="{FF2B5EF4-FFF2-40B4-BE49-F238E27FC236}">
                    <a16:creationId xmlns:a16="http://schemas.microsoft.com/office/drawing/2014/main" id="{9525CD9F-C41F-F332-2887-2DE9B90EBBAA}"/>
                  </a:ext>
                </a:extLst>
              </p14:cNvPr>
              <p14:cNvContentPartPr/>
              <p14:nvPr/>
            </p14:nvContentPartPr>
            <p14:xfrm>
              <a:off x="4647892" y="6339391"/>
              <a:ext cx="370" cy="370"/>
            </p14:xfrm>
          </p:contentPart>
        </mc:Choice>
        <mc:Fallback xmlns="">
          <p:pic>
            <p:nvPicPr>
              <p:cNvPr id="31" name="Ink 30">
                <a:extLst>
                  <a:ext uri="{FF2B5EF4-FFF2-40B4-BE49-F238E27FC236}">
                    <a16:creationId xmlns:a16="http://schemas.microsoft.com/office/drawing/2014/main" id="{9525CD9F-C41F-F332-2887-2DE9B90EBBAA}"/>
                  </a:ext>
                </a:extLst>
              </p:cNvPr>
              <p:cNvPicPr/>
              <p:nvPr/>
            </p:nvPicPr>
            <p:blipFill>
              <a:blip r:embed="rId10"/>
              <a:stretch>
                <a:fillRect/>
              </a:stretch>
            </p:blipFill>
            <p:spPr>
              <a:xfrm>
                <a:off x="4638642" y="6330141"/>
                <a:ext cx="18500" cy="18500"/>
              </a:xfrm>
              <a:prstGeom prst="rect">
                <a:avLst/>
              </a:prstGeom>
            </p:spPr>
          </p:pic>
        </mc:Fallback>
      </mc:AlternateContent>
      <p:sp>
        <p:nvSpPr>
          <p:cNvPr id="3" name="Rectangle 2">
            <a:extLst>
              <a:ext uri="{FF2B5EF4-FFF2-40B4-BE49-F238E27FC236}">
                <a16:creationId xmlns:a16="http://schemas.microsoft.com/office/drawing/2014/main" id="{0E0E8BAA-38C4-B2EE-18ED-305E86529571}"/>
              </a:ext>
            </a:extLst>
          </p:cNvPr>
          <p:cNvSpPr/>
          <p:nvPr/>
        </p:nvSpPr>
        <p:spPr>
          <a:xfrm>
            <a:off x="160956" y="35879"/>
            <a:ext cx="12223253" cy="69244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2B16C9D-3446-6B91-ACAA-264841122D41}"/>
              </a:ext>
            </a:extLst>
          </p:cNvPr>
          <p:cNvSpPr txBox="1"/>
          <p:nvPr/>
        </p:nvSpPr>
        <p:spPr>
          <a:xfrm>
            <a:off x="10951197" y="6590165"/>
            <a:ext cx="1432272" cy="37015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- 20</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9556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3698EF-D230-43B3-B7C5-77AB0CB3B60C}"/>
              </a:ext>
            </a:extLst>
          </p:cNvPr>
          <p:cNvPicPr>
            <a:picLocks noChangeAspect="1"/>
          </p:cNvPicPr>
          <p:nvPr/>
        </p:nvPicPr>
        <p:blipFill>
          <a:blip r:embed="rId2"/>
          <a:stretch>
            <a:fillRect/>
          </a:stretch>
        </p:blipFill>
        <p:spPr>
          <a:xfrm>
            <a:off x="6487403" y="1135191"/>
            <a:ext cx="4794045" cy="3745341"/>
          </a:xfrm>
          <a:prstGeom prst="rect">
            <a:avLst/>
          </a:prstGeom>
          <a:ln>
            <a:solidFill>
              <a:schemeClr val="tx1"/>
            </a:solidFill>
          </a:ln>
          <a:effectLst/>
        </p:spPr>
      </p:pic>
      <p:graphicFrame>
        <p:nvGraphicFramePr>
          <p:cNvPr id="3" name="Table 2">
            <a:extLst>
              <a:ext uri="{FF2B5EF4-FFF2-40B4-BE49-F238E27FC236}">
                <a16:creationId xmlns:a16="http://schemas.microsoft.com/office/drawing/2014/main" id="{8F6EC512-9706-F02F-FB6F-D099E304E052}"/>
              </a:ext>
            </a:extLst>
          </p:cNvPr>
          <p:cNvGraphicFramePr>
            <a:graphicFrameLocks noGrp="1"/>
          </p:cNvGraphicFramePr>
          <p:nvPr>
            <p:extLst>
              <p:ext uri="{D42A27DB-BD31-4B8C-83A1-F6EECF244321}">
                <p14:modId xmlns:p14="http://schemas.microsoft.com/office/powerpoint/2010/main" val="331592250"/>
              </p:ext>
            </p:extLst>
          </p:nvPr>
        </p:nvGraphicFramePr>
        <p:xfrm>
          <a:off x="855384" y="1213661"/>
          <a:ext cx="4510830" cy="3689708"/>
        </p:xfrm>
        <a:graphic>
          <a:graphicData uri="http://schemas.openxmlformats.org/drawingml/2006/table">
            <a:tbl>
              <a:tblPr firstRow="1" firstCol="1" bandRow="1">
                <a:tableStyleId>{1E171933-4619-4E11-9A3F-F7608DF75F80}</a:tableStyleId>
              </a:tblPr>
              <a:tblGrid>
                <a:gridCol w="2153614">
                  <a:extLst>
                    <a:ext uri="{9D8B030D-6E8A-4147-A177-3AD203B41FA5}">
                      <a16:colId xmlns:a16="http://schemas.microsoft.com/office/drawing/2014/main" val="1876649175"/>
                    </a:ext>
                  </a:extLst>
                </a:gridCol>
                <a:gridCol w="2357216">
                  <a:extLst>
                    <a:ext uri="{9D8B030D-6E8A-4147-A177-3AD203B41FA5}">
                      <a16:colId xmlns:a16="http://schemas.microsoft.com/office/drawing/2014/main" val="480029888"/>
                    </a:ext>
                  </a:extLst>
                </a:gridCol>
              </a:tblGrid>
              <a:tr h="938748">
                <a:tc>
                  <a:txBody>
                    <a:bodyPr/>
                    <a:lstStyle/>
                    <a:p>
                      <a:pPr algn="ctr">
                        <a:lnSpc>
                          <a:spcPct val="150000"/>
                        </a:lnSpc>
                        <a:spcAft>
                          <a:spcPts val="800"/>
                        </a:spcAft>
                        <a:buNone/>
                      </a:pPr>
                      <a:r>
                        <a:rPr lang="en-IN" sz="2000" u="none" dirty="0">
                          <a:effectLst/>
                          <a:latin typeface="Times New Roman" panose="02020603050405020304" pitchFamily="18" charset="0"/>
                          <a:cs typeface="Times New Roman" panose="02020603050405020304" pitchFamily="18" charset="0"/>
                        </a:rPr>
                        <a:t>Concentration</a:t>
                      </a:r>
                    </a:p>
                    <a:p>
                      <a:pPr algn="ctr">
                        <a:lnSpc>
                          <a:spcPct val="150000"/>
                        </a:lnSpc>
                        <a:spcAft>
                          <a:spcPts val="800"/>
                        </a:spcAft>
                        <a:buNone/>
                      </a:pPr>
                      <a:r>
                        <a:rPr lang="en-IN" sz="2000" dirty="0">
                          <a:effectLst/>
                          <a:latin typeface="Times New Roman" panose="02020603050405020304" pitchFamily="18" charset="0"/>
                          <a:cs typeface="Times New Roman" panose="02020603050405020304" pitchFamily="18" charset="0"/>
                        </a:rPr>
                        <a:t>(µg/mL)</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0562" marR="705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457200" algn="ctr">
                        <a:lnSpc>
                          <a:spcPct val="150000"/>
                        </a:lnSpc>
                        <a:spcAft>
                          <a:spcPts val="800"/>
                        </a:spcAft>
                        <a:buNone/>
                      </a:pPr>
                      <a:r>
                        <a:rPr lang="en-IN" sz="2000" dirty="0">
                          <a:effectLst/>
                          <a:latin typeface="Times New Roman" panose="02020603050405020304" pitchFamily="18" charset="0"/>
                          <a:cs typeface="Times New Roman" panose="02020603050405020304" pitchFamily="18" charset="0"/>
                        </a:rPr>
                        <a:t>Absorbance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0562" marR="705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6015180"/>
                  </a:ext>
                </a:extLst>
              </a:tr>
              <a:tr h="462342">
                <a:tc>
                  <a:txBody>
                    <a:bodyPr/>
                    <a:lstStyle/>
                    <a:p>
                      <a:pPr algn="ctr">
                        <a:lnSpc>
                          <a:spcPct val="150000"/>
                        </a:lnSpc>
                        <a:spcAft>
                          <a:spcPts val="800"/>
                        </a:spcAft>
                        <a:buNone/>
                      </a:pPr>
                      <a:r>
                        <a:rPr lang="en-IN" sz="2000" dirty="0">
                          <a:effectLst/>
                          <a:latin typeface="Times New Roman" panose="02020603050405020304" pitchFamily="18" charset="0"/>
                          <a:cs typeface="Times New Roman" panose="02020603050405020304" pitchFamily="18" charset="0"/>
                        </a:rPr>
                        <a:t>10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0562" marR="705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IN" sz="2000" dirty="0">
                          <a:effectLst/>
                          <a:latin typeface="Times New Roman" panose="02020603050405020304" pitchFamily="18" charset="0"/>
                          <a:cs typeface="Times New Roman" panose="02020603050405020304" pitchFamily="18" charset="0"/>
                        </a:rPr>
                        <a:t>0.8191</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0562" marR="705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6134283"/>
                  </a:ext>
                </a:extLst>
              </a:tr>
              <a:tr h="476740">
                <a:tc>
                  <a:txBody>
                    <a:bodyPr/>
                    <a:lstStyle/>
                    <a:p>
                      <a:pPr algn="ctr">
                        <a:lnSpc>
                          <a:spcPct val="150000"/>
                        </a:lnSpc>
                        <a:spcAft>
                          <a:spcPts val="800"/>
                        </a:spcAft>
                        <a:buNone/>
                      </a:pPr>
                      <a:r>
                        <a:rPr lang="en-IN" sz="2000" dirty="0">
                          <a:effectLst/>
                          <a:latin typeface="Times New Roman" panose="02020603050405020304" pitchFamily="18" charset="0"/>
                          <a:cs typeface="Times New Roman" panose="02020603050405020304" pitchFamily="18" charset="0"/>
                        </a:rPr>
                        <a:t>20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0562" marR="705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IN" sz="2000" dirty="0">
                          <a:effectLst/>
                          <a:latin typeface="Times New Roman" panose="02020603050405020304" pitchFamily="18" charset="0"/>
                          <a:cs typeface="Times New Roman" panose="02020603050405020304" pitchFamily="18" charset="0"/>
                        </a:rPr>
                        <a:t>1.1504</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0562" marR="705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811619"/>
                  </a:ext>
                </a:extLst>
              </a:tr>
              <a:tr h="393001">
                <a:tc>
                  <a:txBody>
                    <a:bodyPr/>
                    <a:lstStyle/>
                    <a:p>
                      <a:pPr algn="ctr">
                        <a:lnSpc>
                          <a:spcPct val="150000"/>
                        </a:lnSpc>
                        <a:spcAft>
                          <a:spcPts val="800"/>
                        </a:spcAft>
                        <a:buNone/>
                      </a:pPr>
                      <a:r>
                        <a:rPr lang="en-IN" sz="2000" dirty="0">
                          <a:effectLst/>
                          <a:latin typeface="Times New Roman" panose="02020603050405020304" pitchFamily="18" charset="0"/>
                          <a:cs typeface="Times New Roman" panose="02020603050405020304" pitchFamily="18" charset="0"/>
                        </a:rPr>
                        <a:t>30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0562" marR="705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IN" sz="2000" dirty="0">
                          <a:effectLst/>
                          <a:latin typeface="Times New Roman" panose="02020603050405020304" pitchFamily="18" charset="0"/>
                          <a:cs typeface="Times New Roman" panose="02020603050405020304" pitchFamily="18" charset="0"/>
                        </a:rPr>
                        <a:t>1.5771</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0562" marR="705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6001948"/>
                  </a:ext>
                </a:extLst>
              </a:tr>
              <a:tr h="462342">
                <a:tc>
                  <a:txBody>
                    <a:bodyPr/>
                    <a:lstStyle/>
                    <a:p>
                      <a:pPr algn="ctr">
                        <a:lnSpc>
                          <a:spcPct val="150000"/>
                        </a:lnSpc>
                        <a:spcAft>
                          <a:spcPts val="800"/>
                        </a:spcAft>
                        <a:buNone/>
                      </a:pPr>
                      <a:r>
                        <a:rPr lang="en-IN" sz="2000" dirty="0">
                          <a:effectLst/>
                          <a:latin typeface="Times New Roman" panose="02020603050405020304" pitchFamily="18" charset="0"/>
                          <a:cs typeface="Times New Roman" panose="02020603050405020304" pitchFamily="18" charset="0"/>
                        </a:rPr>
                        <a:t>40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0562" marR="705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IN" sz="2000" dirty="0">
                          <a:effectLst/>
                          <a:latin typeface="Times New Roman" panose="02020603050405020304" pitchFamily="18" charset="0"/>
                          <a:cs typeface="Times New Roman" panose="02020603050405020304" pitchFamily="18" charset="0"/>
                        </a:rPr>
                        <a:t>2.0600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0562" marR="705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3881756"/>
                  </a:ext>
                </a:extLst>
              </a:tr>
              <a:tr h="462342">
                <a:tc>
                  <a:txBody>
                    <a:bodyPr/>
                    <a:lstStyle/>
                    <a:p>
                      <a:pPr algn="ctr">
                        <a:lnSpc>
                          <a:spcPct val="150000"/>
                        </a:lnSpc>
                        <a:spcAft>
                          <a:spcPts val="800"/>
                        </a:spcAft>
                        <a:buNone/>
                      </a:pPr>
                      <a:r>
                        <a:rPr lang="en-IN" sz="2000" dirty="0">
                          <a:effectLst/>
                          <a:latin typeface="Times New Roman" panose="02020603050405020304" pitchFamily="18" charset="0"/>
                          <a:cs typeface="Times New Roman" panose="02020603050405020304" pitchFamily="18" charset="0"/>
                        </a:rPr>
                        <a:t>50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0562" marR="705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IN" sz="2000" dirty="0">
                          <a:effectLst/>
                          <a:latin typeface="Times New Roman" panose="02020603050405020304" pitchFamily="18" charset="0"/>
                          <a:cs typeface="Times New Roman" panose="02020603050405020304" pitchFamily="18" charset="0"/>
                        </a:rPr>
                        <a:t>2.3928</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0562" marR="705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3219993"/>
                  </a:ext>
                </a:extLst>
              </a:tr>
              <a:tr h="462342">
                <a:tc>
                  <a:txBody>
                    <a:bodyPr/>
                    <a:lstStyle/>
                    <a:p>
                      <a:pPr algn="ctr">
                        <a:lnSpc>
                          <a:spcPct val="150000"/>
                        </a:lnSpc>
                        <a:spcAft>
                          <a:spcPts val="800"/>
                        </a:spcAft>
                        <a:buNone/>
                      </a:pPr>
                      <a:r>
                        <a:rPr lang="en-IN" sz="2000" dirty="0">
                          <a:effectLst/>
                          <a:latin typeface="Times New Roman" panose="02020603050405020304" pitchFamily="18" charset="0"/>
                          <a:cs typeface="Times New Roman" panose="02020603050405020304" pitchFamily="18" charset="0"/>
                        </a:rPr>
                        <a:t>60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0562" marR="705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IN" sz="2000" dirty="0">
                          <a:effectLst/>
                          <a:latin typeface="Times New Roman" panose="02020603050405020304" pitchFamily="18" charset="0"/>
                          <a:cs typeface="Times New Roman" panose="02020603050405020304" pitchFamily="18" charset="0"/>
                        </a:rPr>
                        <a:t>2.5384</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0562" marR="705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2610776"/>
                  </a:ext>
                </a:extLst>
              </a:tr>
            </a:tbl>
          </a:graphicData>
        </a:graphic>
      </p:graphicFrame>
      <p:sp>
        <p:nvSpPr>
          <p:cNvPr id="5" name="TextBox 4">
            <a:extLst>
              <a:ext uri="{FF2B5EF4-FFF2-40B4-BE49-F238E27FC236}">
                <a16:creationId xmlns:a16="http://schemas.microsoft.com/office/drawing/2014/main" id="{8721FA62-81C6-61E9-B38F-F05C1368DECC}"/>
              </a:ext>
            </a:extLst>
          </p:cNvPr>
          <p:cNvSpPr txBox="1"/>
          <p:nvPr/>
        </p:nvSpPr>
        <p:spPr>
          <a:xfrm>
            <a:off x="4120738" y="463138"/>
            <a:ext cx="3538847" cy="461665"/>
          </a:xfrm>
          <a:prstGeom prst="rect">
            <a:avLst/>
          </a:prstGeom>
          <a:noFill/>
          <a:ln>
            <a:solidFill>
              <a:schemeClr val="tx1"/>
            </a:solidFill>
          </a:ln>
        </p:spPr>
        <p:txBody>
          <a:bodyPr wrap="square" rtlCol="0">
            <a:spAutoFit/>
          </a:bodyPr>
          <a:lstStyle/>
          <a:p>
            <a:r>
              <a:rPr lang="en-US" sz="2400" b="1" dirty="0">
                <a:latin typeface="Times New Roman" panose="02020603050405020304" pitchFamily="18" charset="0"/>
                <a:cs typeface="Times New Roman" panose="02020603050405020304" pitchFamily="18" charset="0"/>
              </a:rPr>
              <a:t>CALIBRATION CURVE</a:t>
            </a:r>
            <a:endParaRPr lang="en-IN" sz="2400" b="1"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2E069EED-279B-5704-488A-8DCC932EF567}"/>
              </a:ext>
            </a:extLst>
          </p:cNvPr>
          <p:cNvSpPr/>
          <p:nvPr/>
        </p:nvSpPr>
        <p:spPr>
          <a:xfrm>
            <a:off x="182212" y="201881"/>
            <a:ext cx="12180001" cy="66858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5D8A5C2-04B3-5AF2-25AF-7000D9E199C8}"/>
              </a:ext>
            </a:extLst>
          </p:cNvPr>
          <p:cNvSpPr txBox="1"/>
          <p:nvPr/>
        </p:nvSpPr>
        <p:spPr>
          <a:xfrm>
            <a:off x="999858" y="5013539"/>
            <a:ext cx="422761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Table no 2 – Calibration Curve Data</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C2C5F33-4E35-FB56-67CD-2D470399D49C}"/>
              </a:ext>
            </a:extLst>
          </p:cNvPr>
          <p:cNvSpPr txBox="1"/>
          <p:nvPr/>
        </p:nvSpPr>
        <p:spPr>
          <a:xfrm>
            <a:off x="7378659" y="4913917"/>
            <a:ext cx="358634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Calibration Curve Of Caffeine</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B6CC1FC-80D5-24EF-E0B4-2385CF6F987C}"/>
              </a:ext>
            </a:extLst>
          </p:cNvPr>
          <p:cNvSpPr txBox="1"/>
          <p:nvPr/>
        </p:nvSpPr>
        <p:spPr>
          <a:xfrm>
            <a:off x="10965007" y="6518354"/>
            <a:ext cx="157941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- 21 </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8425B90-803A-61BA-C43C-3F2B945FD49D}"/>
              </a:ext>
            </a:extLst>
          </p:cNvPr>
          <p:cNvSpPr txBox="1"/>
          <p:nvPr/>
        </p:nvSpPr>
        <p:spPr>
          <a:xfrm>
            <a:off x="478599" y="5595428"/>
            <a:ext cx="6274468" cy="369332"/>
          </a:xfrm>
          <a:prstGeom prst="rect">
            <a:avLst/>
          </a:prstGeom>
          <a:noFill/>
        </p:spPr>
        <p:txBody>
          <a:bodyPr wrap="square">
            <a:spAutoFit/>
          </a:bodyPr>
          <a:lstStyle/>
          <a:p>
            <a:r>
              <a:rPr lang="en-IN" sz="1800" b="1" u="sng">
                <a:latin typeface="Times New Roman" panose="02020603050405020304" pitchFamily="18" charset="0"/>
                <a:cs typeface="Times New Roman" panose="02020603050405020304" pitchFamily="18" charset="0"/>
              </a:rPr>
              <a:t>Regression Equation</a:t>
            </a:r>
            <a:endParaRPr lang="en-IN" sz="1800" b="1" u="sng"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49F0991-318D-7F49-2A60-085B561A304D}"/>
              </a:ext>
            </a:extLst>
          </p:cNvPr>
          <p:cNvSpPr txBox="1"/>
          <p:nvPr/>
        </p:nvSpPr>
        <p:spPr>
          <a:xfrm>
            <a:off x="478599" y="6072254"/>
            <a:ext cx="2509324" cy="400110"/>
          </a:xfrm>
          <a:prstGeom prst="rect">
            <a:avLst/>
          </a:prstGeom>
          <a:noFill/>
          <a:ln>
            <a:solidFill>
              <a:schemeClr val="tx1"/>
            </a:solidFill>
          </a:ln>
        </p:spPr>
        <p:txBody>
          <a:bodyPr wrap="square" rtlCol="0">
            <a:spAutoFit/>
          </a:bodyPr>
          <a:lstStyle/>
          <a:p>
            <a:r>
              <a:rPr lang="en-IN" sz="2000" b="1" dirty="0">
                <a:latin typeface="Times New Roman" panose="02020603050405020304" pitchFamily="18" charset="0"/>
                <a:cs typeface="Times New Roman" panose="02020603050405020304" pitchFamily="18" charset="0"/>
              </a:rPr>
              <a:t>Y=0.0366x + 0.4756</a:t>
            </a:r>
          </a:p>
        </p:txBody>
      </p:sp>
      <p:sp>
        <p:nvSpPr>
          <p:cNvPr id="12" name="Flowchart: Alternate Process 11">
            <a:extLst>
              <a:ext uri="{FF2B5EF4-FFF2-40B4-BE49-F238E27FC236}">
                <a16:creationId xmlns:a16="http://schemas.microsoft.com/office/drawing/2014/main" id="{7CAEF67E-D5E4-F395-6875-EF4E4B899CCE}"/>
              </a:ext>
            </a:extLst>
          </p:cNvPr>
          <p:cNvSpPr/>
          <p:nvPr/>
        </p:nvSpPr>
        <p:spPr>
          <a:xfrm>
            <a:off x="3292830" y="5318693"/>
            <a:ext cx="2509324" cy="1367311"/>
          </a:xfrm>
          <a:prstGeom prst="flowChartAlternate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7BDBD3E7-FDDC-9BAD-B45C-23ECFCCA370E}"/>
              </a:ext>
            </a:extLst>
          </p:cNvPr>
          <p:cNvSpPr txBox="1"/>
          <p:nvPr/>
        </p:nvSpPr>
        <p:spPr>
          <a:xfrm>
            <a:off x="3507432" y="5392971"/>
            <a:ext cx="6274468" cy="1200329"/>
          </a:xfrm>
          <a:prstGeom prst="rect">
            <a:avLst/>
          </a:prstGeom>
          <a:noFill/>
        </p:spPr>
        <p:txBody>
          <a:bodyPr wrap="square">
            <a:spAutoFit/>
          </a:bodyPr>
          <a:lstStyle/>
          <a:p>
            <a:r>
              <a:rPr lang="fr-FR" sz="1800" dirty="0">
                <a:latin typeface="Times New Roman" panose="02020603050405020304" pitchFamily="18" charset="0"/>
                <a:cs typeface="Times New Roman" panose="02020603050405020304" pitchFamily="18" charset="0"/>
              </a:rPr>
              <a:t>Y = Absorbance</a:t>
            </a:r>
          </a:p>
          <a:p>
            <a:r>
              <a:rPr lang="fr-FR" sz="1800" dirty="0">
                <a:latin typeface="Times New Roman" panose="02020603050405020304" pitchFamily="18" charset="0"/>
                <a:cs typeface="Times New Roman" panose="02020603050405020304" pitchFamily="18" charset="0"/>
              </a:rPr>
              <a:t>x = Concentration</a:t>
            </a:r>
          </a:p>
          <a:p>
            <a:r>
              <a:rPr lang="fr-FR" sz="1800" dirty="0">
                <a:latin typeface="Times New Roman" panose="02020603050405020304" pitchFamily="18" charset="0"/>
                <a:cs typeface="Times New Roman" panose="02020603050405020304" pitchFamily="18" charset="0"/>
              </a:rPr>
              <a:t>0.0366 = </a:t>
            </a:r>
            <a:r>
              <a:rPr lang="fr-FR" sz="1800" dirty="0" err="1">
                <a:latin typeface="Times New Roman" panose="02020603050405020304" pitchFamily="18" charset="0"/>
                <a:cs typeface="Times New Roman" panose="02020603050405020304" pitchFamily="18" charset="0"/>
              </a:rPr>
              <a:t>Slope</a:t>
            </a:r>
            <a:r>
              <a:rPr lang="fr-FR" sz="1800" dirty="0">
                <a:latin typeface="Times New Roman" panose="02020603050405020304" pitchFamily="18" charset="0"/>
                <a:cs typeface="Times New Roman" panose="02020603050405020304" pitchFamily="18" charset="0"/>
              </a:rPr>
              <a:t>(m)</a:t>
            </a:r>
          </a:p>
          <a:p>
            <a:r>
              <a:rPr lang="fr-FR" sz="1800" dirty="0">
                <a:latin typeface="Times New Roman" panose="02020603050405020304" pitchFamily="18" charset="0"/>
                <a:cs typeface="Times New Roman" panose="02020603050405020304" pitchFamily="18" charset="0"/>
              </a:rPr>
              <a:t>0.4756 = Intercept(c)</a:t>
            </a:r>
            <a:endParaRPr lang="en-IN" dirty="0"/>
          </a:p>
        </p:txBody>
      </p:sp>
    </p:spTree>
    <p:extLst>
      <p:ext uri="{BB962C8B-B14F-4D97-AF65-F5344CB8AC3E}">
        <p14:creationId xmlns:p14="http://schemas.microsoft.com/office/powerpoint/2010/main" val="3809036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E50B69-17C1-B6CD-5B73-C29A9C121E48}"/>
              </a:ext>
            </a:extLst>
          </p:cNvPr>
          <p:cNvSpPr txBox="1"/>
          <p:nvPr/>
        </p:nvSpPr>
        <p:spPr>
          <a:xfrm>
            <a:off x="2780965" y="2998830"/>
            <a:ext cx="6982493" cy="529389"/>
          </a:xfrm>
          <a:prstGeom prst="rect">
            <a:avLst/>
          </a:prstGeom>
          <a:noFill/>
          <a:ln>
            <a:solidFill>
              <a:schemeClr val="tx1"/>
            </a:solidFill>
          </a:ln>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CONFIRMATORY TEST :TLC METHOD</a:t>
            </a:r>
            <a:endParaRPr lang="en-IN" sz="2800" b="1"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5AFE69C3-66F1-2EDB-7B39-B0787612E1EB}"/>
              </a:ext>
            </a:extLst>
          </p:cNvPr>
          <p:cNvSpPr/>
          <p:nvPr/>
        </p:nvSpPr>
        <p:spPr>
          <a:xfrm>
            <a:off x="252663" y="228598"/>
            <a:ext cx="12055642" cy="66414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1615288-64DB-2B50-1C6D-347256EEC69B}"/>
              </a:ext>
            </a:extLst>
          </p:cNvPr>
          <p:cNvSpPr txBox="1"/>
          <p:nvPr/>
        </p:nvSpPr>
        <p:spPr>
          <a:xfrm>
            <a:off x="10949049" y="6537523"/>
            <a:ext cx="1793174" cy="38001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- 22</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09169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879DBAB-CF3B-6D87-88BB-79C245741B9B}"/>
              </a:ext>
            </a:extLst>
          </p:cNvPr>
          <p:cNvSpPr txBox="1"/>
          <p:nvPr/>
        </p:nvSpPr>
        <p:spPr>
          <a:xfrm>
            <a:off x="291209" y="542567"/>
            <a:ext cx="9038707" cy="1267848"/>
          </a:xfrm>
          <a:prstGeom prst="rect">
            <a:avLst/>
          </a:prstGeom>
          <a:noFill/>
        </p:spPr>
        <p:txBody>
          <a:bodyPr wrap="square" rtlCol="0">
            <a:spAutoFit/>
          </a:bodyPr>
          <a:lstStyle/>
          <a:p>
            <a:r>
              <a:rPr lang="en-US" sz="2000" b="1" u="sng" dirty="0">
                <a:latin typeface="Times New Roman" panose="02020603050405020304" pitchFamily="18" charset="0"/>
                <a:cs typeface="Times New Roman" panose="02020603050405020304" pitchFamily="18" charset="0"/>
              </a:rPr>
              <a:t>Principle</a:t>
            </a:r>
          </a:p>
          <a:p>
            <a:pPr algn="just">
              <a:lnSpc>
                <a:spcPct val="150000"/>
              </a:lnSpc>
            </a:pPr>
            <a:r>
              <a:rPr lang="en-US" sz="2000" dirty="0">
                <a:latin typeface="Times New Roman" panose="02020603050405020304" pitchFamily="18" charset="0"/>
                <a:cs typeface="Times New Roman" panose="02020603050405020304" pitchFamily="18" charset="0"/>
              </a:rPr>
              <a:t>Thin Layer Chromatography (TLC) was used for identification of caffeine based on Its Rf value</a:t>
            </a:r>
            <a:r>
              <a:rPr lang="en-US" sz="2000" dirty="0"/>
              <a:t>.</a:t>
            </a:r>
            <a:endParaRPr lang="en-IN" sz="2000" dirty="0"/>
          </a:p>
        </p:txBody>
      </p:sp>
      <p:sp>
        <p:nvSpPr>
          <p:cNvPr id="5" name="TextBox 4">
            <a:extLst>
              <a:ext uri="{FF2B5EF4-FFF2-40B4-BE49-F238E27FC236}">
                <a16:creationId xmlns:a16="http://schemas.microsoft.com/office/drawing/2014/main" id="{AB2E6B6C-BBF4-2C77-96E1-8D9E70594C84}"/>
              </a:ext>
            </a:extLst>
          </p:cNvPr>
          <p:cNvSpPr txBox="1"/>
          <p:nvPr/>
        </p:nvSpPr>
        <p:spPr>
          <a:xfrm>
            <a:off x="291209" y="1810415"/>
            <a:ext cx="11322741" cy="7359515"/>
          </a:xfrm>
          <a:prstGeom prst="rect">
            <a:avLst/>
          </a:prstGeom>
          <a:noFill/>
        </p:spPr>
        <p:txBody>
          <a:bodyPr wrap="square" rtlCol="0">
            <a:spAutoFit/>
          </a:bodyPr>
          <a:lstStyle/>
          <a:p>
            <a:pPr algn="just">
              <a:lnSpc>
                <a:spcPct val="150000"/>
              </a:lnSpc>
            </a:pPr>
            <a:r>
              <a:rPr lang="en-IN" sz="2000" b="1" u="sng" dirty="0">
                <a:latin typeface="Times New Roman" panose="02020603050405020304" pitchFamily="18" charset="0"/>
                <a:cs typeface="Times New Roman" panose="02020603050405020304" pitchFamily="18" charset="0"/>
              </a:rPr>
              <a:t>Materials </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Stationary Phase -Silica gel </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Mobile phase: Chloroform : Methanol (9:1)</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Sample: Standard caffeine (1mg/ml)</a:t>
            </a:r>
          </a:p>
          <a:p>
            <a:pPr>
              <a:lnSpc>
                <a:spcPct val="150000"/>
              </a:lnSpc>
            </a:pPr>
            <a:r>
              <a:rPr lang="en-IN" sz="2000" dirty="0">
                <a:latin typeface="Times New Roman" panose="02020603050405020304" pitchFamily="18" charset="0"/>
                <a:cs typeface="Times New Roman" panose="02020603050405020304" pitchFamily="18" charset="0"/>
              </a:rPr>
              <a:t>     Dissolve pure caffeine in chloroform</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Visualizing Reagent : </a:t>
            </a:r>
            <a:r>
              <a:rPr lang="en-IN" sz="2000" dirty="0" err="1">
                <a:latin typeface="Times New Roman" panose="02020603050405020304" pitchFamily="18" charset="0"/>
                <a:cs typeface="Times New Roman" panose="02020603050405020304" pitchFamily="18" charset="0"/>
              </a:rPr>
              <a:t>Dragendroff</a:t>
            </a:r>
            <a:r>
              <a:rPr lang="en-IN" sz="2000" dirty="0">
                <a:latin typeface="Times New Roman" panose="02020603050405020304" pitchFamily="18" charset="0"/>
                <a:cs typeface="Times New Roman" panose="02020603050405020304" pitchFamily="18" charset="0"/>
              </a:rPr>
              <a:t> Reagent	</a:t>
            </a:r>
          </a:p>
          <a:p>
            <a:pPr>
              <a:lnSpc>
                <a:spcPct val="150000"/>
              </a:lnSpc>
            </a:pPr>
            <a:r>
              <a:rPr lang="en-IN" sz="2000" b="1" u="sng" dirty="0">
                <a:latin typeface="Times New Roman" panose="02020603050405020304" pitchFamily="18" charset="0"/>
                <a:cs typeface="Times New Roman" panose="02020603050405020304" pitchFamily="18" charset="0"/>
              </a:rPr>
              <a:t> Formula</a:t>
            </a:r>
          </a:p>
          <a:p>
            <a:pPr>
              <a:lnSpc>
                <a:spcPct val="150000"/>
              </a:lnSpc>
            </a:pPr>
            <a:r>
              <a:rPr lang="en-US" sz="2000" dirty="0">
                <a:latin typeface="Times New Roman" panose="02020603050405020304" pitchFamily="18" charset="0"/>
                <a:cs typeface="Times New Roman" panose="02020603050405020304" pitchFamily="18" charset="0"/>
              </a:rPr>
              <a:t>The Rf value is calculated using the formula:</a:t>
            </a:r>
            <a:endParaRPr lang="en-IN"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Rf = Distance travelled by the Solute from reference line (cm)/Distance travelled by the solvent front from reference line (cm)</a:t>
            </a:r>
            <a:endParaRPr lang="en-IN" sz="2000" dirty="0">
              <a:latin typeface="Times New Roman" panose="02020603050405020304" pitchFamily="18" charset="0"/>
              <a:cs typeface="Times New Roman" panose="02020603050405020304" pitchFamily="18" charset="0"/>
            </a:endParaRPr>
          </a:p>
          <a:p>
            <a:pPr lvl="1">
              <a:lnSpc>
                <a:spcPct val="150000"/>
              </a:lnSpc>
            </a:pPr>
            <a:r>
              <a:rPr lang="en-US" sz="2000" dirty="0">
                <a:latin typeface="Times New Roman" panose="02020603050405020304" pitchFamily="18" charset="0"/>
                <a:cs typeface="Times New Roman" panose="02020603050405020304" pitchFamily="18" charset="0"/>
              </a:rPr>
              <a:t>        </a:t>
            </a:r>
          </a:p>
          <a:p>
            <a:pPr lvl="1">
              <a:lnSpc>
                <a:spcPct val="150000"/>
              </a:lnSpc>
            </a:pPr>
            <a:r>
              <a:rPr lang="en-US" sz="2000" b="1" u="sng" dirty="0">
                <a:latin typeface="Times New Roman" panose="02020603050405020304" pitchFamily="18" charset="0"/>
                <a:cs typeface="Times New Roman" panose="02020603050405020304" pitchFamily="18" charset="0"/>
              </a:rPr>
              <a:t>​</a:t>
            </a:r>
          </a:p>
          <a:p>
            <a:pPr>
              <a:lnSpc>
                <a:spcPct val="150000"/>
              </a:lnSpc>
            </a:pPr>
            <a:endParaRPr lang="en-IN" sz="2000" b="1" u="sng" dirty="0">
              <a:latin typeface="Times New Roman" panose="02020603050405020304" pitchFamily="18" charset="0"/>
              <a:cs typeface="Times New Roman" panose="02020603050405020304" pitchFamily="18" charset="0"/>
            </a:endParaRPr>
          </a:p>
          <a:p>
            <a:pPr>
              <a:lnSpc>
                <a:spcPct val="150000"/>
              </a:lnSpc>
            </a:pPr>
            <a:endParaRPr lang="en-IN" sz="2000" b="1" u="sng" dirty="0">
              <a:latin typeface="Times New Roman" panose="02020603050405020304" pitchFamily="18" charset="0"/>
              <a:cs typeface="Times New Roman" panose="02020603050405020304" pitchFamily="18" charset="0"/>
            </a:endParaRPr>
          </a:p>
          <a:p>
            <a:pPr algn="just">
              <a:lnSpc>
                <a:spcPct val="150000"/>
              </a:lnSpc>
            </a:pPr>
            <a:endParaRPr lang="en-IN" sz="1852" dirty="0">
              <a:latin typeface="Times New Roman" panose="02020603050405020304" pitchFamily="18" charset="0"/>
              <a:cs typeface="Times New Roman" panose="02020603050405020304" pitchFamily="18" charset="0"/>
            </a:endParaRPr>
          </a:p>
          <a:p>
            <a:pPr algn="just">
              <a:lnSpc>
                <a:spcPct val="150000"/>
              </a:lnSpc>
            </a:pPr>
            <a:endParaRPr lang="en-IN" sz="1852"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479D755B-3900-6F4B-FAF3-7503539B12BB}"/>
              </a:ext>
            </a:extLst>
          </p:cNvPr>
          <p:cNvSpPr txBox="1"/>
          <p:nvPr/>
        </p:nvSpPr>
        <p:spPr>
          <a:xfrm>
            <a:off x="3192110" y="67558"/>
            <a:ext cx="6541021" cy="472309"/>
          </a:xfrm>
          <a:prstGeom prst="rect">
            <a:avLst/>
          </a:prstGeom>
          <a:noFill/>
          <a:ln>
            <a:solidFill>
              <a:schemeClr val="tx1"/>
            </a:solidFill>
          </a:ln>
        </p:spPr>
        <p:txBody>
          <a:bodyPr wrap="square" rtlCol="0">
            <a:spAutoFit/>
          </a:bodyPr>
          <a:lstStyle/>
          <a:p>
            <a:r>
              <a:rPr lang="en-US" sz="2469" b="1" dirty="0">
                <a:latin typeface="Times New Roman" panose="02020603050405020304" pitchFamily="18" charset="0"/>
                <a:cs typeface="Times New Roman" panose="02020603050405020304" pitchFamily="18" charset="0"/>
              </a:rPr>
              <a:t>CONFIRMATORY TEST – TLC METHOD</a:t>
            </a:r>
            <a:endParaRPr lang="en-IN" sz="2469"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1CD049C-A07E-2A88-3121-1BBDCCA445F1}"/>
              </a:ext>
            </a:extLst>
          </p:cNvPr>
          <p:cNvSpPr/>
          <p:nvPr/>
        </p:nvSpPr>
        <p:spPr>
          <a:xfrm>
            <a:off x="134403" y="26115"/>
            <a:ext cx="12275619" cy="6904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0139887C-4AFE-67FA-77AD-69075EC1D679}"/>
              </a:ext>
            </a:extLst>
          </p:cNvPr>
          <p:cNvSpPr txBox="1"/>
          <p:nvPr/>
        </p:nvSpPr>
        <p:spPr>
          <a:xfrm>
            <a:off x="11085828" y="6561408"/>
            <a:ext cx="162722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- 23</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95108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81C276-65D7-A6DE-DE9E-46761A637EB1}"/>
              </a:ext>
            </a:extLst>
          </p:cNvPr>
          <p:cNvPicPr>
            <a:picLocks noChangeAspect="1"/>
          </p:cNvPicPr>
          <p:nvPr/>
        </p:nvPicPr>
        <p:blipFill rotWithShape="1">
          <a:blip r:embed="rId2">
            <a:extLst>
              <a:ext uri="{28A0092B-C50C-407E-A947-70E740481C1C}">
                <a14:useLocalDpi xmlns:a14="http://schemas.microsoft.com/office/drawing/2010/main" val="0"/>
              </a:ext>
            </a:extLst>
          </a:blip>
          <a:srcRect l="15924" t="38133" r="11005" b="22557"/>
          <a:stretch/>
        </p:blipFill>
        <p:spPr bwMode="auto">
          <a:xfrm>
            <a:off x="6477174" y="2174515"/>
            <a:ext cx="2698839" cy="2518063"/>
          </a:xfrm>
          <a:prstGeom prst="rect">
            <a:avLst/>
          </a:prstGeom>
          <a:ln>
            <a:solidFill>
              <a:schemeClr val="tx1"/>
            </a:solid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pic>
        <p:nvPicPr>
          <p:cNvPr id="3" name="Picture 2" descr="A rectangular metal plate on a blue surface&#10;&#10;Description automatically generated">
            <a:extLst>
              <a:ext uri="{FF2B5EF4-FFF2-40B4-BE49-F238E27FC236}">
                <a16:creationId xmlns:a16="http://schemas.microsoft.com/office/drawing/2014/main" id="{D7F595D9-3E63-3911-F23A-0102DFA19BE1}"/>
              </a:ext>
            </a:extLst>
          </p:cNvPr>
          <p:cNvPicPr>
            <a:picLocks noChangeAspect="1"/>
          </p:cNvPicPr>
          <p:nvPr/>
        </p:nvPicPr>
        <p:blipFill rotWithShape="1">
          <a:blip r:embed="rId3">
            <a:extLst>
              <a:ext uri="{28A0092B-C50C-407E-A947-70E740481C1C}">
                <a14:useLocalDpi xmlns:a14="http://schemas.microsoft.com/office/drawing/2010/main" val="0"/>
              </a:ext>
            </a:extLst>
          </a:blip>
          <a:srcRect l="45236" t="39617" r="29075" b="21386"/>
          <a:stretch/>
        </p:blipFill>
        <p:spPr bwMode="auto">
          <a:xfrm>
            <a:off x="9515542" y="2174515"/>
            <a:ext cx="1621619" cy="2518063"/>
          </a:xfrm>
          <a:prstGeom prst="rect">
            <a:avLst/>
          </a:prstGeom>
          <a:ln>
            <a:solidFill>
              <a:schemeClr val="tx1"/>
            </a:solid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415724AD-EDB2-BDF4-89B2-08586D57900C}"/>
              </a:ext>
            </a:extLst>
          </p:cNvPr>
          <p:cNvSpPr txBox="1"/>
          <p:nvPr/>
        </p:nvSpPr>
        <p:spPr>
          <a:xfrm>
            <a:off x="6035771" y="5015415"/>
            <a:ext cx="6280484"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 TLC Plate</a:t>
            </a:r>
            <a:endParaRPr lang="en-IN" sz="18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EBD43CA-3148-C8B0-A4D3-6844D0C06748}"/>
              </a:ext>
            </a:extLst>
          </p:cNvPr>
          <p:cNvSpPr txBox="1"/>
          <p:nvPr/>
        </p:nvSpPr>
        <p:spPr>
          <a:xfrm>
            <a:off x="252716" y="230119"/>
            <a:ext cx="6394784" cy="2806730"/>
          </a:xfrm>
          <a:prstGeom prst="rect">
            <a:avLst/>
          </a:prstGeom>
          <a:noFill/>
        </p:spPr>
        <p:txBody>
          <a:bodyPr wrap="square">
            <a:spAutoFit/>
          </a:bodyPr>
          <a:lstStyle/>
          <a:p>
            <a:pPr algn="just">
              <a:lnSpc>
                <a:spcPct val="150000"/>
              </a:lnSpc>
            </a:pPr>
            <a:r>
              <a:rPr lang="en-IN" sz="2000" b="1" u="sng" dirty="0">
                <a:latin typeface="Times New Roman" panose="02020603050405020304" pitchFamily="18" charset="0"/>
                <a:cs typeface="Times New Roman" panose="02020603050405020304" pitchFamily="18" charset="0"/>
              </a:rPr>
              <a:t>Calculation of Rf Value</a:t>
            </a:r>
          </a:p>
          <a:p>
            <a:pPr algn="just">
              <a:lnSpc>
                <a:spcPct val="150000"/>
              </a:lnSpc>
            </a:pPr>
            <a:r>
              <a:rPr lang="en-IN" sz="2000" dirty="0">
                <a:latin typeface="Times New Roman" panose="02020603050405020304" pitchFamily="18" charset="0"/>
                <a:cs typeface="Times New Roman" panose="02020603050405020304" pitchFamily="18" charset="0"/>
              </a:rPr>
              <a:t>Rf value is calculated using the formula:</a:t>
            </a:r>
          </a:p>
          <a:p>
            <a:pPr algn="just">
              <a:lnSpc>
                <a:spcPct val="150000"/>
              </a:lnSpc>
            </a:pPr>
            <a:r>
              <a:rPr lang="en-IN" sz="2000" dirty="0">
                <a:latin typeface="Times New Roman" panose="02020603050405020304" pitchFamily="18" charset="0"/>
                <a:cs typeface="Times New Roman" panose="02020603050405020304" pitchFamily="18" charset="0"/>
              </a:rPr>
              <a:t>Rf = Distance Travelled by Solute / Distance Travelled by Solvent  </a:t>
            </a:r>
          </a:p>
          <a:p>
            <a:pPr algn="just">
              <a:lnSpc>
                <a:spcPct val="150000"/>
              </a:lnSpc>
            </a:pPr>
            <a:r>
              <a:rPr lang="en-IN" sz="2000" dirty="0">
                <a:latin typeface="Times New Roman" panose="02020603050405020304" pitchFamily="18" charset="0"/>
                <a:cs typeface="Times New Roman" panose="02020603050405020304" pitchFamily="18" charset="0"/>
              </a:rPr>
              <a:t>     = 4 / 5.7</a:t>
            </a:r>
          </a:p>
          <a:p>
            <a:pPr algn="just">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Rf = 0.70</a:t>
            </a:r>
            <a:endParaRPr lang="en-IN" sz="2000" dirty="0"/>
          </a:p>
        </p:txBody>
      </p:sp>
      <p:sp>
        <p:nvSpPr>
          <p:cNvPr id="9" name="TextBox 8">
            <a:extLst>
              <a:ext uri="{FF2B5EF4-FFF2-40B4-BE49-F238E27FC236}">
                <a16:creationId xmlns:a16="http://schemas.microsoft.com/office/drawing/2014/main" id="{6247BB2B-3A4A-434C-4C1D-F4A0B5AAE643}"/>
              </a:ext>
            </a:extLst>
          </p:cNvPr>
          <p:cNvSpPr txBox="1"/>
          <p:nvPr/>
        </p:nvSpPr>
        <p:spPr>
          <a:xfrm>
            <a:off x="252716" y="3381391"/>
            <a:ext cx="6394784" cy="1421992"/>
          </a:xfrm>
          <a:prstGeom prst="rect">
            <a:avLst/>
          </a:prstGeom>
          <a:noFill/>
        </p:spPr>
        <p:txBody>
          <a:bodyPr wrap="square">
            <a:spAutoFit/>
          </a:bodyPr>
          <a:lstStyle/>
          <a:p>
            <a:pPr algn="just">
              <a:lnSpc>
                <a:spcPct val="150000"/>
              </a:lnSpc>
            </a:pPr>
            <a:r>
              <a:rPr lang="fr-FR" sz="2000" b="1" u="sng" dirty="0">
                <a:latin typeface="Times New Roman" panose="02020603050405020304" pitchFamily="18" charset="0"/>
                <a:cs typeface="Times New Roman" panose="02020603050405020304" pitchFamily="18" charset="0"/>
              </a:rPr>
              <a:t>Observation</a:t>
            </a:r>
          </a:p>
          <a:p>
            <a:pPr algn="just">
              <a:lnSpc>
                <a:spcPct val="150000"/>
              </a:lnSpc>
            </a:pPr>
            <a:r>
              <a:rPr lang="fr-FR" sz="2000" dirty="0" err="1">
                <a:latin typeface="Times New Roman" panose="02020603050405020304" pitchFamily="18" charset="0"/>
                <a:cs typeface="Times New Roman" panose="02020603050405020304" pitchFamily="18" charset="0"/>
              </a:rPr>
              <a:t>Solute</a:t>
            </a:r>
            <a:r>
              <a:rPr lang="fr-FR" sz="2000" dirty="0">
                <a:latin typeface="Times New Roman" panose="02020603050405020304" pitchFamily="18" charset="0"/>
                <a:cs typeface="Times New Roman" panose="02020603050405020304" pitchFamily="18" charset="0"/>
              </a:rPr>
              <a:t> distance = 4 cm</a:t>
            </a:r>
          </a:p>
          <a:p>
            <a:pPr algn="just">
              <a:lnSpc>
                <a:spcPct val="150000"/>
              </a:lnSpc>
            </a:pPr>
            <a:r>
              <a:rPr lang="fr-FR" sz="2000" dirty="0">
                <a:latin typeface="Times New Roman" panose="02020603050405020304" pitchFamily="18" charset="0"/>
                <a:cs typeface="Times New Roman" panose="02020603050405020304" pitchFamily="18" charset="0"/>
              </a:rPr>
              <a:t>Solvent front distance = 5.7 cm</a:t>
            </a: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7A982B6-18DB-992B-7230-D067F4AE1093}"/>
              </a:ext>
            </a:extLst>
          </p:cNvPr>
          <p:cNvSpPr txBox="1"/>
          <p:nvPr/>
        </p:nvSpPr>
        <p:spPr>
          <a:xfrm>
            <a:off x="252716" y="5037120"/>
            <a:ext cx="6394784" cy="1421736"/>
          </a:xfrm>
          <a:prstGeom prst="rect">
            <a:avLst/>
          </a:prstGeom>
          <a:noFill/>
        </p:spPr>
        <p:txBody>
          <a:bodyPr wrap="square">
            <a:spAutoFit/>
          </a:bodyPr>
          <a:lstStyle/>
          <a:p>
            <a:pPr>
              <a:lnSpc>
                <a:spcPct val="150000"/>
              </a:lnSpc>
            </a:pPr>
            <a:r>
              <a:rPr lang="en-US" sz="2000" b="1" u="sng" dirty="0">
                <a:latin typeface="Times New Roman" panose="02020603050405020304" pitchFamily="18" charset="0"/>
                <a:cs typeface="Times New Roman" panose="02020603050405020304" pitchFamily="18" charset="0"/>
              </a:rPr>
              <a:t>Result</a:t>
            </a:r>
          </a:p>
          <a:p>
            <a:pPr>
              <a:lnSpc>
                <a:spcPct val="150000"/>
              </a:lnSpc>
            </a:pPr>
            <a:r>
              <a:rPr lang="en-US" sz="2000" dirty="0">
                <a:latin typeface="Times New Roman" panose="02020603050405020304" pitchFamily="18" charset="0"/>
                <a:cs typeface="Times New Roman" panose="02020603050405020304" pitchFamily="18" charset="0"/>
              </a:rPr>
              <a:t>Rf value of caffeine was found to be </a:t>
            </a:r>
            <a:r>
              <a:rPr lang="en-US" sz="2000" b="1" dirty="0">
                <a:latin typeface="Times New Roman" panose="02020603050405020304" pitchFamily="18" charset="0"/>
                <a:cs typeface="Times New Roman" panose="02020603050405020304" pitchFamily="18" charset="0"/>
              </a:rPr>
              <a:t>0.70</a:t>
            </a:r>
            <a:r>
              <a:rPr lang="en-US" sz="2000" dirty="0">
                <a:latin typeface="Times New Roman" panose="02020603050405020304" pitchFamily="18" charset="0"/>
                <a:cs typeface="Times New Roman" panose="02020603050405020304" pitchFamily="18" charset="0"/>
              </a:rPr>
              <a:t>, confirming the presence of caffeine in the sample</a:t>
            </a:r>
            <a:r>
              <a:rPr lang="en-US" sz="2000" dirty="0"/>
              <a:t>.</a:t>
            </a:r>
            <a:endParaRPr lang="en-IN" sz="2000" dirty="0"/>
          </a:p>
        </p:txBody>
      </p:sp>
      <p:sp>
        <p:nvSpPr>
          <p:cNvPr id="4" name="Rectangle 3">
            <a:extLst>
              <a:ext uri="{FF2B5EF4-FFF2-40B4-BE49-F238E27FC236}">
                <a16:creationId xmlns:a16="http://schemas.microsoft.com/office/drawing/2014/main" id="{F08274FA-767A-D4C9-4D6F-563C259C2045}"/>
              </a:ext>
            </a:extLst>
          </p:cNvPr>
          <p:cNvSpPr/>
          <p:nvPr/>
        </p:nvSpPr>
        <p:spPr>
          <a:xfrm>
            <a:off x="130629" y="109373"/>
            <a:ext cx="12314711" cy="68376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4066A61-B965-FC9B-6099-D82688F78093}"/>
              </a:ext>
            </a:extLst>
          </p:cNvPr>
          <p:cNvSpPr txBox="1"/>
          <p:nvPr/>
        </p:nvSpPr>
        <p:spPr>
          <a:xfrm>
            <a:off x="11030284" y="6577733"/>
            <a:ext cx="181767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- 24</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3374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A46FE-DB48-8555-5C54-5F07A4D5ED15}"/>
              </a:ext>
            </a:extLst>
          </p:cNvPr>
          <p:cNvSpPr txBox="1"/>
          <p:nvPr/>
        </p:nvSpPr>
        <p:spPr>
          <a:xfrm>
            <a:off x="3388018" y="2822074"/>
            <a:ext cx="5724774" cy="523220"/>
          </a:xfrm>
          <a:prstGeom prst="rect">
            <a:avLst/>
          </a:prstGeom>
          <a:noFill/>
          <a:ln>
            <a:solidFill>
              <a:schemeClr val="tx1"/>
            </a:solidFill>
          </a:ln>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 CALCULATIONS OF SAMPLES</a:t>
            </a:r>
            <a:endParaRPr lang="en-IN" sz="2800" b="1"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FA0BD89-0D1D-3335-8F86-964B7162C9EB}"/>
              </a:ext>
            </a:extLst>
          </p:cNvPr>
          <p:cNvSpPr/>
          <p:nvPr/>
        </p:nvSpPr>
        <p:spPr>
          <a:xfrm>
            <a:off x="144379" y="114218"/>
            <a:ext cx="12212053" cy="682800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87DF590-87C1-1F20-F756-42B31AE1F882}"/>
              </a:ext>
            </a:extLst>
          </p:cNvPr>
          <p:cNvSpPr txBox="1"/>
          <p:nvPr/>
        </p:nvSpPr>
        <p:spPr>
          <a:xfrm>
            <a:off x="11008426" y="6572888"/>
            <a:ext cx="168051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- 25</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17890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76DFF3-438A-C587-BD68-7C1827A8B3AE}"/>
              </a:ext>
            </a:extLst>
          </p:cNvPr>
          <p:cNvSpPr txBox="1"/>
          <p:nvPr/>
        </p:nvSpPr>
        <p:spPr>
          <a:xfrm>
            <a:off x="2785849" y="194621"/>
            <a:ext cx="6965203" cy="461665"/>
          </a:xfrm>
          <a:prstGeom prst="rect">
            <a:avLst/>
          </a:prstGeom>
          <a:noFill/>
        </p:spPr>
        <p:txBody>
          <a:bodyPr wrap="square">
            <a:spAutoFit/>
          </a:bodyPr>
          <a:lstStyle/>
          <a:p>
            <a:r>
              <a:rPr lang="en-US" sz="2400" b="1" dirty="0">
                <a:solidFill>
                  <a:srgbClr val="00B050"/>
                </a:solidFill>
                <a:latin typeface="Times New Roman" panose="02020603050405020304" pitchFamily="18" charset="0"/>
                <a:cs typeface="Times New Roman" panose="02020603050405020304" pitchFamily="18" charset="0"/>
              </a:rPr>
              <a:t>Sample 1 – Monster Energy Drink (90mg/350ml)</a:t>
            </a:r>
            <a:endParaRPr lang="en-IN" sz="2400" b="1" dirty="0">
              <a:solidFill>
                <a:srgbClr val="00B05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0A0D4A7-6341-69A4-97D2-5160EA03836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36835" y="1177264"/>
            <a:ext cx="8270753" cy="4954386"/>
          </a:xfrm>
          <a:prstGeom prst="rect">
            <a:avLst/>
          </a:prstGeom>
          <a:ln>
            <a:solidFill>
              <a:schemeClr val="tx1"/>
            </a:solid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7055ADA0-9951-A249-17A7-957289D6AAC1}"/>
              </a:ext>
            </a:extLst>
          </p:cNvPr>
          <p:cNvSpPr txBox="1"/>
          <p:nvPr/>
        </p:nvSpPr>
        <p:spPr>
          <a:xfrm>
            <a:off x="4824664" y="6261652"/>
            <a:ext cx="3429000"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Monster Energy Drink Spectra</a:t>
            </a:r>
          </a:p>
        </p:txBody>
      </p:sp>
      <p:sp>
        <p:nvSpPr>
          <p:cNvPr id="3" name="Rectangle 2">
            <a:extLst>
              <a:ext uri="{FF2B5EF4-FFF2-40B4-BE49-F238E27FC236}">
                <a16:creationId xmlns:a16="http://schemas.microsoft.com/office/drawing/2014/main" id="{F651183D-FDF8-DBEA-A4C9-B36E0E2A87ED}"/>
              </a:ext>
            </a:extLst>
          </p:cNvPr>
          <p:cNvSpPr/>
          <p:nvPr/>
        </p:nvSpPr>
        <p:spPr>
          <a:xfrm>
            <a:off x="144378" y="114217"/>
            <a:ext cx="12248147" cy="68400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B36CC53-A3E7-2045-D50A-3F82CE435081}"/>
              </a:ext>
            </a:extLst>
          </p:cNvPr>
          <p:cNvSpPr txBox="1"/>
          <p:nvPr/>
        </p:nvSpPr>
        <p:spPr>
          <a:xfrm>
            <a:off x="10994070" y="6572889"/>
            <a:ext cx="155035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- 26</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6555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9D3D88B5-CD0A-1191-091E-31210ED19A80}"/>
              </a:ext>
            </a:extLst>
          </p:cNvPr>
          <p:cNvSpPr txBox="1"/>
          <p:nvPr/>
        </p:nvSpPr>
        <p:spPr>
          <a:xfrm>
            <a:off x="271534" y="920928"/>
            <a:ext cx="11982734" cy="7602081"/>
          </a:xfrm>
          <a:prstGeom prst="rect">
            <a:avLst/>
          </a:prstGeom>
          <a:noFill/>
        </p:spPr>
        <p:txBody>
          <a:bodyPr wrap="square" lIns="91440" tIns="45720" rIns="91440" bIns="45720" anchor="t">
            <a:spAutoFit/>
          </a:bodyPr>
          <a:lstStyle/>
          <a:p>
            <a:pPr>
              <a:lnSpc>
                <a:spcPct val="150000"/>
              </a:lnSpc>
            </a:pPr>
            <a:r>
              <a:rPr lang="en-US" sz="2000" b="1">
                <a:latin typeface="Times New Roman"/>
                <a:cs typeface="Times New Roman"/>
              </a:rPr>
              <a:t>Step 1: </a:t>
            </a:r>
            <a:r>
              <a:rPr lang="en-US" sz="2000" b="1">
                <a:latin typeface="Times New Roman"/>
                <a:ea typeface="+mn-lt"/>
                <a:cs typeface="Times New Roman"/>
              </a:rPr>
              <a:t>Substitution of Values </a:t>
            </a:r>
          </a:p>
          <a:p>
            <a:pPr>
              <a:lnSpc>
                <a:spcPct val="150000"/>
              </a:lnSpc>
            </a:pPr>
            <a:r>
              <a:rPr lang="en-US" sz="2000">
                <a:latin typeface="Times New Roman"/>
                <a:ea typeface="+mn-lt"/>
                <a:cs typeface="Times New Roman"/>
              </a:rPr>
              <a:t>Absorbance of Monster Energy Drink = 2.1</a:t>
            </a:r>
            <a:endParaRPr lang="en-US" sz="2000">
              <a:latin typeface="Times New Roman"/>
              <a:cs typeface="Times New Roman"/>
            </a:endParaRPr>
          </a:p>
          <a:p>
            <a:pPr>
              <a:lnSpc>
                <a:spcPct val="150000"/>
              </a:lnSpc>
            </a:pPr>
            <a:r>
              <a:rPr lang="en-US" sz="2000">
                <a:latin typeface="Times New Roman"/>
                <a:ea typeface="+mn-lt"/>
                <a:cs typeface="Times New Roman"/>
              </a:rPr>
              <a:t>       X = 2.1 -0.4756/0.0366</a:t>
            </a:r>
          </a:p>
          <a:p>
            <a:pPr>
              <a:lnSpc>
                <a:spcPct val="150000"/>
              </a:lnSpc>
            </a:pPr>
            <a:r>
              <a:rPr lang="en-US" sz="2000">
                <a:latin typeface="Times New Roman"/>
                <a:cs typeface="Times New Roman"/>
              </a:rPr>
              <a:t>        = 1.6244/0.0366</a:t>
            </a:r>
            <a:endParaRPr lang="en-US" sz="2000" dirty="0">
              <a:latin typeface="Times New Roman"/>
              <a:cs typeface="Times New Roman" panose="02020603050405020304" pitchFamily="18" charset="0"/>
            </a:endParaRPr>
          </a:p>
          <a:p>
            <a:pPr>
              <a:lnSpc>
                <a:spcPct val="150000"/>
              </a:lnSpc>
            </a:pPr>
            <a:r>
              <a:rPr lang="en-US" sz="2000">
                <a:latin typeface="Times New Roman"/>
                <a:cs typeface="Times New Roman"/>
              </a:rPr>
              <a:t>        = 44.38</a:t>
            </a:r>
            <a:r>
              <a:rPr lang="el-GR" sz="2000">
                <a:latin typeface="Times New Roman"/>
                <a:cs typeface="Times New Roman"/>
              </a:rPr>
              <a:t>μ</a:t>
            </a:r>
            <a:r>
              <a:rPr lang="en-IN" sz="2000">
                <a:latin typeface="Times New Roman"/>
                <a:cs typeface="Times New Roman"/>
              </a:rPr>
              <a:t>g/mL</a:t>
            </a:r>
            <a:endParaRPr lang="en-US" sz="2000">
              <a:latin typeface="Times New Roman"/>
              <a:cs typeface="Times New Roman"/>
            </a:endParaRPr>
          </a:p>
          <a:p>
            <a:pPr>
              <a:lnSpc>
                <a:spcPct val="150000"/>
              </a:lnSpc>
            </a:pPr>
            <a:r>
              <a:rPr lang="en-US" sz="2000" b="1">
                <a:latin typeface="Times New Roman"/>
                <a:ea typeface="+mn-lt"/>
                <a:cs typeface="Times New Roman"/>
              </a:rPr>
              <a:t>Step 2: Applying Dilution Factor </a:t>
            </a:r>
            <a:endParaRPr lang="en-US" sz="2000" b="1">
              <a:latin typeface="Times New Roman"/>
              <a:cs typeface="Times New Roman"/>
            </a:endParaRPr>
          </a:p>
          <a:p>
            <a:pPr>
              <a:lnSpc>
                <a:spcPct val="150000"/>
              </a:lnSpc>
            </a:pPr>
            <a:r>
              <a:rPr lang="en-US" sz="2000" b="1" dirty="0">
                <a:latin typeface="Times New Roman"/>
                <a:cs typeface="Times New Roman"/>
              </a:rPr>
              <a:t> </a:t>
            </a:r>
            <a:r>
              <a:rPr lang="en-US" sz="2000">
                <a:latin typeface="Times New Roman"/>
                <a:ea typeface="+mn-lt"/>
                <a:cs typeface="Times New Roman"/>
              </a:rPr>
              <a:t>Dilution factor = 5.99</a:t>
            </a:r>
            <a:endParaRPr lang="en-US" sz="2000" b="1">
              <a:latin typeface="Times New Roman"/>
              <a:cs typeface="Times New Roman"/>
            </a:endParaRPr>
          </a:p>
          <a:p>
            <a:pPr>
              <a:lnSpc>
                <a:spcPct val="150000"/>
              </a:lnSpc>
            </a:pPr>
            <a:r>
              <a:rPr lang="en-US" sz="2000" dirty="0">
                <a:latin typeface="Times New Roman"/>
                <a:cs typeface="Times New Roman"/>
              </a:rPr>
              <a:t> </a:t>
            </a:r>
            <a:r>
              <a:rPr lang="en-US" sz="2000">
                <a:latin typeface="Times New Roman"/>
                <a:ea typeface="+mn-lt"/>
                <a:cs typeface="Times New Roman"/>
              </a:rPr>
              <a:t>Actual concentration = 44.38 x5.99</a:t>
            </a:r>
            <a:endParaRPr lang="en-US" sz="2000">
              <a:latin typeface="Times New Roman"/>
              <a:cs typeface="Times New Roman"/>
            </a:endParaRPr>
          </a:p>
          <a:p>
            <a:pPr>
              <a:lnSpc>
                <a:spcPct val="150000"/>
              </a:lnSpc>
            </a:pPr>
            <a:r>
              <a:rPr lang="en-US" sz="2000">
                <a:latin typeface="Times New Roman"/>
                <a:cs typeface="Times New Roman"/>
              </a:rPr>
              <a:t>           = 265.84</a:t>
            </a:r>
            <a:r>
              <a:rPr lang="el-GR" sz="2000" dirty="0">
                <a:latin typeface="Times New Roman"/>
                <a:cs typeface="Times New Roman"/>
              </a:rPr>
              <a:t>μ</a:t>
            </a:r>
            <a:r>
              <a:rPr lang="en-IN" sz="2000" dirty="0">
                <a:latin typeface="Times New Roman"/>
                <a:cs typeface="Times New Roman"/>
              </a:rPr>
              <a:t>g/mL</a:t>
            </a:r>
          </a:p>
          <a:p>
            <a:pPr>
              <a:lnSpc>
                <a:spcPct val="150000"/>
              </a:lnSpc>
            </a:pPr>
            <a:r>
              <a:rPr lang="en-IN" sz="2000" b="1">
                <a:latin typeface="Times New Roman"/>
                <a:ea typeface="+mn-lt"/>
                <a:cs typeface="Times New Roman"/>
              </a:rPr>
              <a:t>Step 3: Calculation for 350 mL Beverage</a:t>
            </a:r>
            <a:endParaRPr lang="en-IN" sz="2000" b="1">
              <a:latin typeface="Times New Roman"/>
              <a:cs typeface="Times New Roman"/>
            </a:endParaRPr>
          </a:p>
          <a:p>
            <a:pPr>
              <a:lnSpc>
                <a:spcPct val="150000"/>
              </a:lnSpc>
            </a:pPr>
            <a:r>
              <a:rPr lang="en-IN" sz="2000" b="1" dirty="0">
                <a:latin typeface="Times New Roman"/>
                <a:cs typeface="Times New Roman"/>
              </a:rPr>
              <a:t> </a:t>
            </a:r>
            <a:r>
              <a:rPr lang="en-IN" sz="2000">
                <a:latin typeface="Times New Roman"/>
                <a:ea typeface="+mn-lt"/>
                <a:cs typeface="Times New Roman"/>
              </a:rPr>
              <a:t>Total caffeine = 265.84 x 350</a:t>
            </a:r>
            <a:endParaRPr lang="en-IN" sz="2000" b="1">
              <a:latin typeface="Times New Roman"/>
              <a:cs typeface="Times New Roman"/>
            </a:endParaRPr>
          </a:p>
          <a:p>
            <a:pPr>
              <a:lnSpc>
                <a:spcPct val="150000"/>
              </a:lnSpc>
            </a:pPr>
            <a:r>
              <a:rPr lang="en-US" sz="2000">
                <a:latin typeface="Times New Roman"/>
                <a:cs typeface="Times New Roman"/>
              </a:rPr>
              <a:t>         = 93,044</a:t>
            </a:r>
            <a:r>
              <a:rPr lang="el-GR" sz="2000" dirty="0">
                <a:latin typeface="Times New Roman"/>
                <a:cs typeface="Times New Roman"/>
              </a:rPr>
              <a:t>μ</a:t>
            </a:r>
            <a:r>
              <a:rPr lang="en-IN" sz="2000" dirty="0">
                <a:latin typeface="Times New Roman"/>
                <a:cs typeface="Times New Roman"/>
              </a:rPr>
              <a:t>g</a:t>
            </a:r>
            <a:endParaRPr lang="en-IN" sz="2000" dirty="0">
              <a:latin typeface="Times New Roman"/>
              <a:cs typeface="Times New Roman" panose="02020603050405020304" pitchFamily="18" charset="0"/>
            </a:endParaRPr>
          </a:p>
          <a:p>
            <a:pPr>
              <a:lnSpc>
                <a:spcPct val="150000"/>
              </a:lnSpc>
            </a:pPr>
            <a:r>
              <a:rPr lang="en-IN" sz="2000">
                <a:latin typeface="Times New Roman"/>
                <a:cs typeface="Times New Roman"/>
              </a:rPr>
              <a:t>         = 93.04mg/350 mL</a:t>
            </a:r>
          </a:p>
          <a:p>
            <a:pPr>
              <a:lnSpc>
                <a:spcPct val="150000"/>
              </a:lnSpc>
            </a:pPr>
            <a:endParaRPr lang="en-IN" sz="2000" dirty="0">
              <a:latin typeface="Times New Roman"/>
              <a:cs typeface="Times New Roman"/>
            </a:endParaRPr>
          </a:p>
          <a:p>
            <a:pPr>
              <a:lnSpc>
                <a:spcPct val="150000"/>
              </a:lnSpc>
            </a:pPr>
            <a:r>
              <a:rPr lang="en-US" sz="2000">
                <a:latin typeface="Century Gothic"/>
                <a:cs typeface="Times New Roman"/>
              </a:rPr>
              <a:t>  </a:t>
            </a:r>
            <a:endParaRPr lang="en-US" sz="2000" dirty="0">
              <a:latin typeface="Century Gothic"/>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IN" dirty="0"/>
          </a:p>
        </p:txBody>
      </p:sp>
      <p:pic>
        <p:nvPicPr>
          <p:cNvPr id="2" name="Picture 1">
            <a:extLst>
              <a:ext uri="{FF2B5EF4-FFF2-40B4-BE49-F238E27FC236}">
                <a16:creationId xmlns:a16="http://schemas.microsoft.com/office/drawing/2014/main" id="{8D291DA5-0E39-542F-C86D-47AAD1DB9B21}"/>
              </a:ext>
            </a:extLst>
          </p:cNvPr>
          <p:cNvPicPr>
            <a:picLocks noChangeAspect="1"/>
          </p:cNvPicPr>
          <p:nvPr/>
        </p:nvPicPr>
        <p:blipFill>
          <a:blip r:embed="rId2" cstate="print">
            <a:extLst>
              <a:ext uri="{28A0092B-C50C-407E-A947-70E740481C1C}">
                <a14:useLocalDpi xmlns:a14="http://schemas.microsoft.com/office/drawing/2010/main" val="0"/>
              </a:ext>
            </a:extLst>
          </a:blip>
          <a:srcRect l="24472" r="24634"/>
          <a:stretch>
            <a:fillRect/>
          </a:stretch>
        </p:blipFill>
        <p:spPr>
          <a:xfrm>
            <a:off x="10052002" y="1314361"/>
            <a:ext cx="1974624" cy="3721297"/>
          </a:xfrm>
          <a:prstGeom prst="rect">
            <a:avLst/>
          </a:prstGeom>
          <a:ln>
            <a:solidFill>
              <a:schemeClr val="tx1"/>
            </a:solid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5FD7737E-22DB-92BF-525F-C0283DC308A9}"/>
              </a:ext>
            </a:extLst>
          </p:cNvPr>
          <p:cNvSpPr txBox="1"/>
          <p:nvPr/>
        </p:nvSpPr>
        <p:spPr>
          <a:xfrm>
            <a:off x="3001496" y="424888"/>
            <a:ext cx="7050506" cy="461665"/>
          </a:xfrm>
          <a:prstGeom prst="rect">
            <a:avLst/>
          </a:prstGeom>
          <a:noFill/>
        </p:spPr>
        <p:txBody>
          <a:bodyPr wrap="square" rtlCol="0">
            <a:spAutoFit/>
          </a:bodyPr>
          <a:lstStyle/>
          <a:p>
            <a:r>
              <a:rPr lang="en-IN" sz="2400" b="1" dirty="0">
                <a:solidFill>
                  <a:srgbClr val="00B050"/>
                </a:solidFill>
                <a:latin typeface="Times New Roman" panose="02020603050405020304" pitchFamily="18" charset="0"/>
                <a:cs typeface="Times New Roman" panose="02020603050405020304" pitchFamily="18" charset="0"/>
              </a:rPr>
              <a:t>Sample 1 – Monster Energy Drink (90mg/350ml)</a:t>
            </a:r>
          </a:p>
        </p:txBody>
      </p:sp>
      <p:sp>
        <p:nvSpPr>
          <p:cNvPr id="6" name="Rectangle 5">
            <a:extLst>
              <a:ext uri="{FF2B5EF4-FFF2-40B4-BE49-F238E27FC236}">
                <a16:creationId xmlns:a16="http://schemas.microsoft.com/office/drawing/2014/main" id="{55745510-173F-CF7E-435B-7AC6D67E36EC}"/>
              </a:ext>
            </a:extLst>
          </p:cNvPr>
          <p:cNvSpPr/>
          <p:nvPr/>
        </p:nvSpPr>
        <p:spPr>
          <a:xfrm>
            <a:off x="2971800" y="397042"/>
            <a:ext cx="6571129" cy="5173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D78AF298-9827-C831-4EB2-92162CAF91D1}"/>
              </a:ext>
            </a:extLst>
          </p:cNvPr>
          <p:cNvSpPr/>
          <p:nvPr/>
        </p:nvSpPr>
        <p:spPr>
          <a:xfrm>
            <a:off x="84222" y="192505"/>
            <a:ext cx="12356432" cy="66895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2FD85B1-9572-A188-032C-F586A6445D74}"/>
              </a:ext>
            </a:extLst>
          </p:cNvPr>
          <p:cNvSpPr txBox="1"/>
          <p:nvPr/>
        </p:nvSpPr>
        <p:spPr>
          <a:xfrm>
            <a:off x="9805737" y="5204882"/>
            <a:ext cx="2467154"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Monster Energy Drink</a:t>
            </a:r>
          </a:p>
        </p:txBody>
      </p:sp>
      <p:sp>
        <p:nvSpPr>
          <p:cNvPr id="9" name="TextBox 8">
            <a:extLst>
              <a:ext uri="{FF2B5EF4-FFF2-40B4-BE49-F238E27FC236}">
                <a16:creationId xmlns:a16="http://schemas.microsoft.com/office/drawing/2014/main" id="{1585508F-F9DD-E13C-DC2E-722DB71CE05D}"/>
              </a:ext>
            </a:extLst>
          </p:cNvPr>
          <p:cNvSpPr txBox="1"/>
          <p:nvPr/>
        </p:nvSpPr>
        <p:spPr>
          <a:xfrm>
            <a:off x="11079679" y="6526845"/>
            <a:ext cx="170536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Slide no - 27</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67463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78F539-1438-12FA-9ACC-70938544EAC1}"/>
              </a:ext>
            </a:extLst>
          </p:cNvPr>
          <p:cNvSpPr txBox="1"/>
          <p:nvPr/>
        </p:nvSpPr>
        <p:spPr>
          <a:xfrm>
            <a:off x="2840388" y="389823"/>
            <a:ext cx="6075012" cy="461665"/>
          </a:xfrm>
          <a:prstGeom prst="rect">
            <a:avLst/>
          </a:prstGeom>
          <a:noFill/>
          <a:ln>
            <a:solidFill>
              <a:schemeClr val="tx1"/>
            </a:solidFill>
          </a:ln>
        </p:spPr>
        <p:txBody>
          <a:bodyPr wrap="squar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Sample 2 – Hell Energy Drink (75mg/250ml)</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2F3A2E25-E8ED-E4BB-9DC2-C2C598D6261B}"/>
              </a:ext>
            </a:extLst>
          </p:cNvPr>
          <p:cNvSpPr/>
          <p:nvPr/>
        </p:nvSpPr>
        <p:spPr>
          <a:xfrm>
            <a:off x="144419" y="93058"/>
            <a:ext cx="12255586" cy="687032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2C59C026-B3E5-8D64-1CF9-3BC54A852B5C}"/>
              </a:ext>
            </a:extLst>
          </p:cNvPr>
          <p:cNvPicPr>
            <a:picLocks noChangeAspect="1"/>
          </p:cNvPicPr>
          <p:nvPr/>
        </p:nvPicPr>
        <p:blipFill>
          <a:blip r:embed="rId2"/>
          <a:stretch>
            <a:fillRect/>
          </a:stretch>
        </p:blipFill>
        <p:spPr>
          <a:xfrm>
            <a:off x="963462" y="1620563"/>
            <a:ext cx="10617499" cy="4287620"/>
          </a:xfrm>
          <a:prstGeom prst="rect">
            <a:avLst/>
          </a:prstGeom>
          <a:ln>
            <a:solidFill>
              <a:schemeClr val="tx1"/>
            </a:solidFill>
          </a:ln>
        </p:spPr>
      </p:pic>
      <p:sp>
        <p:nvSpPr>
          <p:cNvPr id="5" name="TextBox 4">
            <a:extLst>
              <a:ext uri="{FF2B5EF4-FFF2-40B4-BE49-F238E27FC236}">
                <a16:creationId xmlns:a16="http://schemas.microsoft.com/office/drawing/2014/main" id="{81F222E2-DABA-4DDC-6E69-7AEF1DFC5BE9}"/>
              </a:ext>
            </a:extLst>
          </p:cNvPr>
          <p:cNvSpPr txBox="1"/>
          <p:nvPr/>
        </p:nvSpPr>
        <p:spPr>
          <a:xfrm>
            <a:off x="4680284" y="6066450"/>
            <a:ext cx="2839453"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Hell Energy Drink Spectra</a:t>
            </a:r>
          </a:p>
        </p:txBody>
      </p:sp>
      <p:sp>
        <p:nvSpPr>
          <p:cNvPr id="2" name="TextBox 1">
            <a:extLst>
              <a:ext uri="{FF2B5EF4-FFF2-40B4-BE49-F238E27FC236}">
                <a16:creationId xmlns:a16="http://schemas.microsoft.com/office/drawing/2014/main" id="{082290E5-BA95-3B71-8BA8-761D7235D1D1}"/>
              </a:ext>
            </a:extLst>
          </p:cNvPr>
          <p:cNvSpPr txBox="1"/>
          <p:nvPr/>
        </p:nvSpPr>
        <p:spPr>
          <a:xfrm>
            <a:off x="11091554" y="6620448"/>
            <a:ext cx="1607251" cy="369332"/>
          </a:xfrm>
          <a:prstGeom prst="rect">
            <a:avLst/>
          </a:prstGeom>
          <a:noFill/>
        </p:spPr>
        <p:txBody>
          <a:bodyPr wrap="square" lIns="91440" tIns="45720" rIns="91440" bIns="45720" rtlCol="0" anchor="t">
            <a:spAutoFit/>
          </a:bodyPr>
          <a:lstStyle/>
          <a:p>
            <a:r>
              <a:rPr lang="en-US">
                <a:latin typeface="Times New Roman"/>
                <a:cs typeface="Times New Roman"/>
              </a:rPr>
              <a:t>Slide no - 28</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52174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78F539-1438-12FA-9ACC-70938544EAC1}"/>
              </a:ext>
            </a:extLst>
          </p:cNvPr>
          <p:cNvSpPr txBox="1"/>
          <p:nvPr/>
        </p:nvSpPr>
        <p:spPr>
          <a:xfrm>
            <a:off x="3166141" y="327494"/>
            <a:ext cx="6018404" cy="461665"/>
          </a:xfrm>
          <a:prstGeom prst="rect">
            <a:avLst/>
          </a:prstGeom>
          <a:noFill/>
          <a:ln>
            <a:solidFill>
              <a:schemeClr val="tx1"/>
            </a:solidFill>
          </a:ln>
        </p:spPr>
        <p:txBody>
          <a:bodyPr wrap="squar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Sample 2 – Hell Energy Drink (75mg/250ml)</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2F3A2E25-E8ED-E4BB-9DC2-C2C598D6261B}"/>
              </a:ext>
            </a:extLst>
          </p:cNvPr>
          <p:cNvSpPr/>
          <p:nvPr/>
        </p:nvSpPr>
        <p:spPr>
          <a:xfrm>
            <a:off x="144419" y="93058"/>
            <a:ext cx="12255586" cy="687032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EB56BA4-629B-ED43-9252-49DCC3B44B6A}"/>
              </a:ext>
            </a:extLst>
          </p:cNvPr>
          <p:cNvSpPr txBox="1"/>
          <p:nvPr/>
        </p:nvSpPr>
        <p:spPr>
          <a:xfrm>
            <a:off x="264267" y="1150613"/>
            <a:ext cx="6007933" cy="5632311"/>
          </a:xfrm>
          <a:prstGeom prst="rect">
            <a:avLst/>
          </a:prstGeom>
          <a:noFill/>
        </p:spPr>
        <p:txBody>
          <a:bodyPr wrap="square" lIns="91440" tIns="45720" rIns="91440" bIns="45720" anchor="t">
            <a:spAutoFit/>
          </a:bodyPr>
          <a:lstStyle/>
          <a:p>
            <a:r>
              <a:rPr lang="en-US" sz="2000" b="1">
                <a:latin typeface="Times New Roman"/>
                <a:ea typeface="+mn-lt"/>
                <a:cs typeface="Times New Roman"/>
              </a:rPr>
              <a:t>Step 1: Substitution of Values</a:t>
            </a:r>
            <a:endParaRPr lang="en-US" b="1">
              <a:latin typeface="Times New Roman"/>
              <a:ea typeface="+mn-lt"/>
              <a:cs typeface="Times New Roman"/>
            </a:endParaRPr>
          </a:p>
          <a:p>
            <a:r>
              <a:rPr lang="en-US" sz="2000" dirty="0">
                <a:latin typeface="Times New Roman"/>
                <a:cs typeface="Times New Roman"/>
              </a:rPr>
              <a:t>Absorbance of Hell energy drink = 2.4</a:t>
            </a:r>
          </a:p>
          <a:p>
            <a:r>
              <a:rPr lang="en-US" sz="2000">
                <a:latin typeface="Times New Roman"/>
                <a:cs typeface="Times New Roman"/>
              </a:rPr>
              <a:t>      </a:t>
            </a:r>
            <a:r>
              <a:rPr lang="en-US" sz="2000" dirty="0">
                <a:latin typeface="Times New Roman"/>
                <a:cs typeface="Times New Roman"/>
              </a:rPr>
              <a:t>X = 2.4 – 0.4756/0.0366</a:t>
            </a:r>
          </a:p>
          <a:p>
            <a:r>
              <a:rPr lang="en-US" sz="2000" dirty="0">
                <a:latin typeface="Times New Roman"/>
                <a:cs typeface="Times New Roman"/>
              </a:rPr>
              <a:t>    </a:t>
            </a:r>
            <a:r>
              <a:rPr lang="en-US" sz="2000">
                <a:latin typeface="Times New Roman"/>
                <a:cs typeface="Times New Roman"/>
              </a:rPr>
              <a:t>      </a:t>
            </a:r>
            <a:r>
              <a:rPr lang="en-US" sz="2000" dirty="0">
                <a:latin typeface="Times New Roman"/>
                <a:cs typeface="Times New Roman"/>
              </a:rPr>
              <a:t>= 1.9244 / 0.0366</a:t>
            </a:r>
          </a:p>
          <a:p>
            <a:r>
              <a:rPr lang="en-US" sz="2000" dirty="0">
                <a:latin typeface="Times New Roman"/>
                <a:cs typeface="Times New Roman"/>
              </a:rPr>
              <a:t>    </a:t>
            </a:r>
            <a:r>
              <a:rPr lang="en-US" sz="2000">
                <a:latin typeface="Times New Roman"/>
                <a:cs typeface="Times New Roman"/>
              </a:rPr>
              <a:t>      = 52.58 ug / ml</a:t>
            </a:r>
            <a:endParaRPr lang="en-US" sz="2000" dirty="0">
              <a:latin typeface="Times New Roman"/>
              <a:cs typeface="Times New Roman"/>
            </a:endParaRPr>
          </a:p>
          <a:p>
            <a:r>
              <a:rPr lang="en-US" sz="2000" b="1" dirty="0">
                <a:latin typeface="Times New Roman"/>
                <a:cs typeface="Times New Roman"/>
              </a:rPr>
              <a:t>Step 2: Applying Dilution Factor</a:t>
            </a:r>
          </a:p>
          <a:p>
            <a:r>
              <a:rPr lang="en-US" sz="2000" dirty="0">
                <a:latin typeface="Times New Roman"/>
                <a:cs typeface="Times New Roman"/>
              </a:rPr>
              <a:t>Dilution factor = 6</a:t>
            </a:r>
          </a:p>
          <a:p>
            <a:r>
              <a:rPr lang="en-US" sz="2000">
                <a:latin typeface="Times New Roman"/>
                <a:cs typeface="Times New Roman"/>
              </a:rPr>
              <a:t>Actual concentration = 52.58 × 6</a:t>
            </a:r>
            <a:endParaRPr lang="en-US" sz="2000">
              <a:latin typeface="Times New Roman" panose="02020603050405020304" pitchFamily="18" charset="0"/>
              <a:cs typeface="Times New Roman" panose="02020603050405020304" pitchFamily="18" charset="0"/>
            </a:endParaRPr>
          </a:p>
          <a:p>
            <a:r>
              <a:rPr lang="en-US" sz="2000">
                <a:latin typeface="Times New Roman"/>
                <a:cs typeface="Times New Roman"/>
              </a:rPr>
              <a:t>                            = 315.48 ug / ml</a:t>
            </a:r>
            <a:endParaRPr lang="en-US" sz="2000" dirty="0">
              <a:latin typeface="Times New Roman"/>
              <a:cs typeface="Times New Roman"/>
            </a:endParaRPr>
          </a:p>
          <a:p>
            <a:r>
              <a:rPr lang="en-US" sz="2000" dirty="0">
                <a:latin typeface="Times New Roman"/>
                <a:cs typeface="Times New Roman"/>
              </a:rPr>
              <a:t>                                  </a:t>
            </a:r>
          </a:p>
          <a:p>
            <a:r>
              <a:rPr lang="en-US" sz="2000" b="1">
                <a:latin typeface="Times New Roman"/>
                <a:ea typeface="+mn-lt"/>
                <a:cs typeface="Times New Roman"/>
              </a:rPr>
              <a:t>Step 3: Calculation for 250 mL Beverage</a:t>
            </a:r>
            <a:endParaRPr lang="en-US" b="1">
              <a:latin typeface="Times New Roman"/>
              <a:cs typeface="Times New Roman"/>
            </a:endParaRPr>
          </a:p>
          <a:p>
            <a:r>
              <a:rPr lang="en-US" sz="2000" dirty="0">
                <a:latin typeface="Times New Roman"/>
                <a:ea typeface="+mn-lt"/>
                <a:cs typeface="Times New Roman"/>
              </a:rPr>
              <a:t>Total caffeine = </a:t>
            </a:r>
            <a:r>
              <a:rPr lang="en-US" sz="2000">
                <a:latin typeface="Times New Roman"/>
                <a:ea typeface="+mn-lt"/>
                <a:cs typeface="Times New Roman"/>
              </a:rPr>
              <a:t>315.48 x 250</a:t>
            </a:r>
            <a:endParaRPr lang="en-US" sz="2000" dirty="0">
              <a:latin typeface="Times New Roman"/>
              <a:ea typeface="+mn-lt"/>
              <a:cs typeface="Times New Roman"/>
            </a:endParaRPr>
          </a:p>
          <a:p>
            <a:r>
              <a:rPr lang="en-US" sz="2000">
                <a:latin typeface="Times New Roman"/>
                <a:cs typeface="Times New Roman"/>
              </a:rPr>
              <a:t>              =</a:t>
            </a:r>
            <a:r>
              <a:rPr lang="en-US" sz="2000" dirty="0">
                <a:latin typeface="Times New Roman"/>
                <a:ea typeface="+mn-lt"/>
                <a:cs typeface="Times New Roman"/>
              </a:rPr>
              <a:t> 78,870</a:t>
            </a:r>
            <a:r>
              <a:rPr lang="el-GR" sz="2000" dirty="0">
                <a:latin typeface="Times New Roman"/>
                <a:ea typeface="+mn-lt"/>
                <a:cs typeface="Times New Roman"/>
              </a:rPr>
              <a:t>μ</a:t>
            </a:r>
            <a:r>
              <a:rPr lang="en-IN" sz="2000" dirty="0">
                <a:latin typeface="Times New Roman"/>
                <a:ea typeface="+mn-lt"/>
                <a:cs typeface="Times New Roman"/>
              </a:rPr>
              <a:t>g</a:t>
            </a:r>
          </a:p>
          <a:p>
            <a:r>
              <a:rPr lang="en-US" sz="2000">
                <a:latin typeface="Times New Roman"/>
                <a:cs typeface="Times New Roman"/>
              </a:rPr>
              <a:t>        = 78.87 mg /250 ml</a:t>
            </a:r>
          </a:p>
          <a:p>
            <a:endParaRPr lang="en-US" sz="2000" dirty="0">
              <a:latin typeface="Times New Roman"/>
              <a:cs typeface="Times New Roman"/>
            </a:endParaRPr>
          </a:p>
          <a:p>
            <a:endParaRPr lang="en-US" sz="2000" dirty="0">
              <a:latin typeface="Times New Roman"/>
              <a:cs typeface="Times New Roman"/>
            </a:endParaRPr>
          </a:p>
          <a:p>
            <a:r>
              <a:rPr lang="en-US" sz="2000" b="1" dirty="0">
                <a:latin typeface="Times New Roman"/>
                <a:cs typeface="Times New Roman"/>
              </a:rPr>
              <a:t>The caffeine content in 250 mL of Hell Energy Drink was found to be: 78.87 mg </a:t>
            </a:r>
            <a:endParaRPr lang="en-IN" sz="2000" b="1" dirty="0">
              <a:latin typeface="Times New Roman"/>
              <a:cs typeface="Times New Roman"/>
            </a:endParaRPr>
          </a:p>
        </p:txBody>
      </p:sp>
      <p:pic>
        <p:nvPicPr>
          <p:cNvPr id="4" name="Picture 3">
            <a:extLst>
              <a:ext uri="{FF2B5EF4-FFF2-40B4-BE49-F238E27FC236}">
                <a16:creationId xmlns:a16="http://schemas.microsoft.com/office/drawing/2014/main" id="{A46BD46F-4EFA-90B7-1A3B-E2ED89002C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72445" y="1150613"/>
            <a:ext cx="2741929" cy="3098771"/>
          </a:xfrm>
          <a:prstGeom prst="rect">
            <a:avLst/>
          </a:prstGeom>
          <a:ln>
            <a:solidFill>
              <a:schemeClr val="tx1"/>
            </a:solidFill>
          </a:ln>
        </p:spPr>
      </p:pic>
      <p:pic>
        <p:nvPicPr>
          <p:cNvPr id="6" name="Picture 5">
            <a:extLst>
              <a:ext uri="{FF2B5EF4-FFF2-40B4-BE49-F238E27FC236}">
                <a16:creationId xmlns:a16="http://schemas.microsoft.com/office/drawing/2014/main" id="{E50412C6-13EE-9C22-7E9E-B692EA554F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8899428" y="1610863"/>
            <a:ext cx="3208962" cy="2288463"/>
          </a:xfrm>
          <a:prstGeom prst="rect">
            <a:avLst/>
          </a:prstGeom>
          <a:ln>
            <a:solidFill>
              <a:schemeClr val="tx1"/>
            </a:solidFill>
          </a:ln>
        </p:spPr>
      </p:pic>
      <p:sp>
        <p:nvSpPr>
          <p:cNvPr id="7" name="TextBox 6">
            <a:extLst>
              <a:ext uri="{FF2B5EF4-FFF2-40B4-BE49-F238E27FC236}">
                <a16:creationId xmlns:a16="http://schemas.microsoft.com/office/drawing/2014/main" id="{04C434F1-3A14-4230-86DE-3DB4734EDD4C}"/>
              </a:ext>
            </a:extLst>
          </p:cNvPr>
          <p:cNvSpPr txBox="1"/>
          <p:nvPr/>
        </p:nvSpPr>
        <p:spPr>
          <a:xfrm>
            <a:off x="7566298" y="4591997"/>
            <a:ext cx="3236495"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Hell Energy Drink and Label</a:t>
            </a:r>
          </a:p>
        </p:txBody>
      </p:sp>
      <p:sp>
        <p:nvSpPr>
          <p:cNvPr id="2" name="TextBox 1">
            <a:extLst>
              <a:ext uri="{FF2B5EF4-FFF2-40B4-BE49-F238E27FC236}">
                <a16:creationId xmlns:a16="http://schemas.microsoft.com/office/drawing/2014/main" id="{EF9488EC-ED9C-BBB5-A27F-937B6412F46C}"/>
              </a:ext>
            </a:extLst>
          </p:cNvPr>
          <p:cNvSpPr txBox="1"/>
          <p:nvPr/>
        </p:nvSpPr>
        <p:spPr>
          <a:xfrm>
            <a:off x="11044382" y="6594048"/>
            <a:ext cx="1500043" cy="369332"/>
          </a:xfrm>
          <a:prstGeom prst="rect">
            <a:avLst/>
          </a:prstGeom>
          <a:noFill/>
        </p:spPr>
        <p:txBody>
          <a:bodyPr wrap="square" lIns="91440" tIns="45720" rIns="91440" bIns="45720" rtlCol="0" anchor="t">
            <a:spAutoFit/>
          </a:bodyPr>
          <a:lstStyle/>
          <a:p>
            <a:r>
              <a:rPr lang="en-US">
                <a:latin typeface="Times New Roman"/>
                <a:cs typeface="Times New Roman"/>
              </a:rPr>
              <a:t>Slide no - 29</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82877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78F539-1438-12FA-9ACC-70938544EAC1}"/>
              </a:ext>
            </a:extLst>
          </p:cNvPr>
          <p:cNvSpPr txBox="1"/>
          <p:nvPr/>
        </p:nvSpPr>
        <p:spPr>
          <a:xfrm>
            <a:off x="3642968" y="329937"/>
            <a:ext cx="5501032" cy="461665"/>
          </a:xfrm>
          <a:prstGeom prst="rect">
            <a:avLst/>
          </a:prstGeom>
          <a:noFill/>
          <a:ln>
            <a:solidFill>
              <a:schemeClr val="tx1"/>
            </a:solidFill>
          </a:ln>
        </p:spPr>
        <p:txBody>
          <a:bodyPr wrap="square" rtlCol="0">
            <a:spAutoFit/>
          </a:bodyPr>
          <a:lstStyle/>
          <a:p>
            <a:r>
              <a:rPr lang="en-US" sz="2400" b="1" dirty="0">
                <a:solidFill>
                  <a:srgbClr val="00B050"/>
                </a:solidFill>
                <a:latin typeface="Times New Roman" panose="02020603050405020304" pitchFamily="18" charset="0"/>
                <a:cs typeface="Times New Roman" panose="02020603050405020304" pitchFamily="18" charset="0"/>
              </a:rPr>
              <a:t>Sample 3 – Mountain Dew (52mg/250ml)</a:t>
            </a:r>
            <a:endParaRPr lang="en-IN" sz="2400" b="1" dirty="0">
              <a:solidFill>
                <a:srgbClr val="00B050"/>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2F3A2E25-E8ED-E4BB-9DC2-C2C598D6261B}"/>
              </a:ext>
            </a:extLst>
          </p:cNvPr>
          <p:cNvSpPr/>
          <p:nvPr/>
        </p:nvSpPr>
        <p:spPr>
          <a:xfrm>
            <a:off x="144419" y="93058"/>
            <a:ext cx="12255586" cy="687032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BC871C9E-E82C-2255-238B-EEBADAEFBC75}"/>
              </a:ext>
            </a:extLst>
          </p:cNvPr>
          <p:cNvPicPr>
            <a:picLocks noChangeAspect="1"/>
          </p:cNvPicPr>
          <p:nvPr/>
        </p:nvPicPr>
        <p:blipFill>
          <a:blip r:embed="rId2"/>
          <a:stretch>
            <a:fillRect/>
          </a:stretch>
        </p:blipFill>
        <p:spPr>
          <a:xfrm>
            <a:off x="1864894" y="1490146"/>
            <a:ext cx="8710863" cy="4212822"/>
          </a:xfrm>
          <a:prstGeom prst="rect">
            <a:avLst/>
          </a:prstGeom>
          <a:ln>
            <a:solidFill>
              <a:schemeClr val="tx1"/>
            </a:solidFill>
          </a:ln>
        </p:spPr>
      </p:pic>
      <p:sp>
        <p:nvSpPr>
          <p:cNvPr id="4" name="TextBox 3">
            <a:extLst>
              <a:ext uri="{FF2B5EF4-FFF2-40B4-BE49-F238E27FC236}">
                <a16:creationId xmlns:a16="http://schemas.microsoft.com/office/drawing/2014/main" id="{4E93BEF0-8BAD-04EF-DA12-1D4894C8B403}"/>
              </a:ext>
            </a:extLst>
          </p:cNvPr>
          <p:cNvSpPr txBox="1"/>
          <p:nvPr/>
        </p:nvSpPr>
        <p:spPr>
          <a:xfrm>
            <a:off x="4174958" y="5702968"/>
            <a:ext cx="3721517"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Mountain Dew</a:t>
            </a:r>
            <a:r>
              <a:rPr lang="en-US" sz="1800" b="1" dirty="0">
                <a:latin typeface="Times New Roman" panose="02020603050405020304" pitchFamily="18" charset="0"/>
                <a:cs typeface="Times New Roman" panose="02020603050405020304" pitchFamily="18" charset="0"/>
              </a:rPr>
              <a:t> Absorbance Spectra</a:t>
            </a:r>
            <a:endParaRPr lang="en-IN" sz="1800" b="1" dirty="0">
              <a:latin typeface="Times New Roman" panose="02020603050405020304" pitchFamily="18" charset="0"/>
              <a:cs typeface="Times New Roman" panose="02020603050405020304" pitchFamily="18" charset="0"/>
            </a:endParaRPr>
          </a:p>
          <a:p>
            <a:endParaRPr lang="en-IN" dirty="0"/>
          </a:p>
        </p:txBody>
      </p:sp>
      <p:sp>
        <p:nvSpPr>
          <p:cNvPr id="2" name="TextBox 1">
            <a:extLst>
              <a:ext uri="{FF2B5EF4-FFF2-40B4-BE49-F238E27FC236}">
                <a16:creationId xmlns:a16="http://schemas.microsoft.com/office/drawing/2014/main" id="{1E09E27B-09CC-E303-A4B1-0AED5EE98AA9}"/>
              </a:ext>
            </a:extLst>
          </p:cNvPr>
          <p:cNvSpPr txBox="1"/>
          <p:nvPr/>
        </p:nvSpPr>
        <p:spPr>
          <a:xfrm>
            <a:off x="11036259" y="6594048"/>
            <a:ext cx="1508166" cy="369332"/>
          </a:xfrm>
          <a:prstGeom prst="rect">
            <a:avLst/>
          </a:prstGeom>
          <a:noFill/>
        </p:spPr>
        <p:txBody>
          <a:bodyPr wrap="square" lIns="91440" tIns="45720" rIns="91440" bIns="45720" rtlCol="0" anchor="t">
            <a:spAutoFit/>
          </a:bodyPr>
          <a:lstStyle/>
          <a:p>
            <a:r>
              <a:rPr lang="en-US">
                <a:latin typeface="Times New Roman"/>
                <a:cs typeface="Times New Roman"/>
              </a:rPr>
              <a:t>Slide no - 30</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51761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78F539-1438-12FA-9ACC-70938544EAC1}"/>
              </a:ext>
            </a:extLst>
          </p:cNvPr>
          <p:cNvSpPr txBox="1"/>
          <p:nvPr/>
        </p:nvSpPr>
        <p:spPr>
          <a:xfrm>
            <a:off x="3299728" y="374510"/>
            <a:ext cx="5944967" cy="461665"/>
          </a:xfrm>
          <a:prstGeom prst="rect">
            <a:avLst/>
          </a:prstGeom>
          <a:noFill/>
          <a:ln>
            <a:solidFill>
              <a:schemeClr val="tx1"/>
            </a:solidFill>
          </a:ln>
        </p:spPr>
        <p:txBody>
          <a:bodyPr wrap="square" lIns="91440" tIns="45720" rIns="91440" bIns="45720" rtlCol="0" anchor="t">
            <a:spAutoFit/>
          </a:bodyPr>
          <a:lstStyle/>
          <a:p>
            <a:r>
              <a:rPr lang="en-US" sz="2400" b="1">
                <a:solidFill>
                  <a:srgbClr val="00B050"/>
                </a:solidFill>
                <a:latin typeface="Times New Roman"/>
                <a:cs typeface="Times New Roman"/>
              </a:rPr>
              <a:t>Sample 3 – Mountain Dew (52mg/400ml)</a:t>
            </a:r>
            <a:endParaRPr lang="en-IN" sz="2400" b="1">
              <a:solidFill>
                <a:srgbClr val="00B050"/>
              </a:solidFill>
              <a:latin typeface="Times New Roman"/>
              <a:cs typeface="Times New Roman"/>
            </a:endParaRPr>
          </a:p>
        </p:txBody>
      </p:sp>
      <p:sp>
        <p:nvSpPr>
          <p:cNvPr id="10" name="Rectangle 9">
            <a:extLst>
              <a:ext uri="{FF2B5EF4-FFF2-40B4-BE49-F238E27FC236}">
                <a16:creationId xmlns:a16="http://schemas.microsoft.com/office/drawing/2014/main" id="{2F3A2E25-E8ED-E4BB-9DC2-C2C598D6261B}"/>
              </a:ext>
            </a:extLst>
          </p:cNvPr>
          <p:cNvSpPr/>
          <p:nvPr/>
        </p:nvSpPr>
        <p:spPr>
          <a:xfrm>
            <a:off x="144419" y="93058"/>
            <a:ext cx="12255586" cy="687032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1467E28B-4BC7-F0E2-2555-2E524801BB43}"/>
              </a:ext>
            </a:extLst>
          </p:cNvPr>
          <p:cNvSpPr txBox="1"/>
          <p:nvPr/>
        </p:nvSpPr>
        <p:spPr>
          <a:xfrm>
            <a:off x="422252" y="1357393"/>
            <a:ext cx="9856871" cy="5324535"/>
          </a:xfrm>
          <a:prstGeom prst="rect">
            <a:avLst/>
          </a:prstGeom>
          <a:noFill/>
        </p:spPr>
        <p:txBody>
          <a:bodyPr wrap="square" lIns="91440" tIns="45720" rIns="91440" bIns="45720" anchor="t">
            <a:spAutoFit/>
          </a:bodyPr>
          <a:lstStyle/>
          <a:p>
            <a:r>
              <a:rPr lang="en-US" sz="2000" b="1" dirty="0">
                <a:latin typeface="Times New Roman" panose="02020603050405020304" pitchFamily="18" charset="0"/>
                <a:cs typeface="Times New Roman" panose="02020603050405020304" pitchFamily="18" charset="0"/>
              </a:rPr>
              <a:t>Step 1: Substitution of Values</a:t>
            </a:r>
          </a:p>
          <a:p>
            <a:r>
              <a:rPr lang="en-US" sz="2000" dirty="0">
                <a:latin typeface="Times New Roman" panose="02020603050405020304" pitchFamily="18" charset="0"/>
                <a:cs typeface="Times New Roman" panose="02020603050405020304" pitchFamily="18" charset="0"/>
              </a:rPr>
              <a:t>Absorbance of Mountain Dew = 1.9                            </a:t>
            </a:r>
          </a:p>
          <a:p>
            <a:r>
              <a:rPr lang="en-US" sz="2000" dirty="0">
                <a:latin typeface="Times New Roman" panose="02020603050405020304" pitchFamily="18" charset="0"/>
                <a:cs typeface="Times New Roman" panose="02020603050405020304" pitchFamily="18" charset="0"/>
              </a:rPr>
              <a:t>X = 1.9 – 0.4756 / 0.0366</a:t>
            </a:r>
          </a:p>
          <a:p>
            <a:r>
              <a:rPr lang="en-US" sz="2000" dirty="0">
                <a:latin typeface="Times New Roman" panose="02020603050405020304" pitchFamily="18" charset="0"/>
                <a:cs typeface="Times New Roman" panose="02020603050405020304" pitchFamily="18" charset="0"/>
              </a:rPr>
              <a:t>   = 1.4244 / 0.0366</a:t>
            </a:r>
          </a:p>
          <a:p>
            <a:r>
              <a:rPr lang="en-US" sz="2000" dirty="0">
                <a:latin typeface="Times New Roman" panose="02020603050405020304" pitchFamily="18" charset="0"/>
                <a:cs typeface="Times New Roman" panose="02020603050405020304" pitchFamily="18" charset="0"/>
              </a:rPr>
              <a:t>   = 38.93 ug / ml</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Step 2: Applying Dilution Factor</a:t>
            </a:r>
          </a:p>
          <a:p>
            <a:r>
              <a:rPr lang="en-US" sz="2000" dirty="0">
                <a:latin typeface="Times New Roman" panose="02020603050405020304" pitchFamily="18" charset="0"/>
                <a:cs typeface="Times New Roman" panose="02020603050405020304" pitchFamily="18" charset="0"/>
              </a:rPr>
              <a:t>Dilution factor = 3.25</a:t>
            </a:r>
          </a:p>
          <a:p>
            <a:r>
              <a:rPr lang="en-US" sz="2000" dirty="0">
                <a:latin typeface="Times New Roman" panose="02020603050405020304" pitchFamily="18" charset="0"/>
                <a:cs typeface="Times New Roman" panose="02020603050405020304" pitchFamily="18" charset="0"/>
              </a:rPr>
              <a:t>Actual concentration = 38.93 × 3.25</a:t>
            </a:r>
          </a:p>
          <a:p>
            <a:r>
              <a:rPr lang="en-US" sz="2000" dirty="0">
                <a:latin typeface="Times New Roman" panose="02020603050405020304" pitchFamily="18" charset="0"/>
                <a:cs typeface="Times New Roman" panose="02020603050405020304" pitchFamily="18" charset="0"/>
              </a:rPr>
              <a:t>                                    = 126.52 ug/ml</a:t>
            </a:r>
          </a:p>
          <a:p>
            <a:endParaRPr lang="en-US" sz="2000" dirty="0">
              <a:latin typeface="Times New Roman" panose="02020603050405020304" pitchFamily="18" charset="0"/>
              <a:cs typeface="Times New Roman" panose="02020603050405020304" pitchFamily="18" charset="0"/>
            </a:endParaRPr>
          </a:p>
          <a:p>
            <a:r>
              <a:rPr lang="en-US" sz="2000" b="1">
                <a:latin typeface="Times New Roman"/>
                <a:cs typeface="Times New Roman"/>
              </a:rPr>
              <a:t>Step 3: Calculation for 400 mL Beverage</a:t>
            </a:r>
          </a:p>
          <a:p>
            <a:r>
              <a:rPr lang="en-US" sz="2000" dirty="0">
                <a:latin typeface="Times New Roman" panose="02020603050405020304" pitchFamily="18" charset="0"/>
                <a:cs typeface="Times New Roman" panose="02020603050405020304" pitchFamily="18" charset="0"/>
              </a:rPr>
              <a:t>Total caffeine = 126.52 × 400</a:t>
            </a:r>
          </a:p>
          <a:p>
            <a:r>
              <a:rPr lang="en-US" sz="2000" dirty="0">
                <a:latin typeface="Times New Roman"/>
                <a:cs typeface="Times New Roman"/>
              </a:rPr>
              <a:t>                        =  50608 </a:t>
            </a:r>
            <a:r>
              <a:rPr lang="en-US" sz="2000" dirty="0" err="1">
                <a:latin typeface="Times New Roman"/>
                <a:cs typeface="Times New Roman"/>
              </a:rPr>
              <a:t>μg</a:t>
            </a:r>
            <a:r>
              <a:rPr lang="en-US" sz="2000" dirty="0">
                <a:latin typeface="Times New Roman"/>
                <a:cs typeface="Times New Roman"/>
              </a:rPr>
              <a:t>/400ml</a:t>
            </a:r>
            <a:endParaRPr lang="en-US" sz="2000" dirty="0">
              <a:latin typeface="Times New Roman" panose="02020603050405020304" pitchFamily="18" charset="0"/>
              <a:cs typeface="Times New Roman" panose="02020603050405020304" pitchFamily="18" charset="0"/>
            </a:endParaRPr>
          </a:p>
          <a:p>
            <a:r>
              <a:rPr lang="en-US" sz="2000">
                <a:latin typeface="Times New Roman"/>
                <a:cs typeface="Times New Roman"/>
              </a:rPr>
              <a:t>                        = 50.61 ug/400ml</a:t>
            </a:r>
            <a:endParaRPr lang="en-US" sz="200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The caffeine content in 400 mL of Mountain Dew was found to be: 50.61 mg</a:t>
            </a:r>
          </a:p>
        </p:txBody>
      </p:sp>
      <p:pic>
        <p:nvPicPr>
          <p:cNvPr id="4" name="Picture 3">
            <a:extLst>
              <a:ext uri="{FF2B5EF4-FFF2-40B4-BE49-F238E27FC236}">
                <a16:creationId xmlns:a16="http://schemas.microsoft.com/office/drawing/2014/main" id="{C6005701-AE57-67B9-6172-526CD62AF7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76233" y="1589583"/>
            <a:ext cx="2884604" cy="3054606"/>
          </a:xfrm>
          <a:prstGeom prst="rect">
            <a:avLst/>
          </a:prstGeom>
          <a:ln>
            <a:solidFill>
              <a:schemeClr val="tx1"/>
            </a:solid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0152204C-F2CE-D374-09D8-DBAA142528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71264" y="1589583"/>
            <a:ext cx="3660836" cy="3054606"/>
          </a:xfrm>
          <a:prstGeom prst="rect">
            <a:avLst/>
          </a:prstGeom>
          <a:ln>
            <a:solidFill>
              <a:schemeClr val="tx1"/>
            </a:solid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247505F5-BADA-74FC-96CD-8F2A5F2D2BBB}"/>
              </a:ext>
            </a:extLst>
          </p:cNvPr>
          <p:cNvSpPr txBox="1"/>
          <p:nvPr/>
        </p:nvSpPr>
        <p:spPr>
          <a:xfrm>
            <a:off x="7293648" y="4740373"/>
            <a:ext cx="2755232" cy="369332"/>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Mountain Dew and Label</a:t>
            </a:r>
          </a:p>
        </p:txBody>
      </p:sp>
      <p:sp>
        <p:nvSpPr>
          <p:cNvPr id="2" name="TextBox 1">
            <a:extLst>
              <a:ext uri="{FF2B5EF4-FFF2-40B4-BE49-F238E27FC236}">
                <a16:creationId xmlns:a16="http://schemas.microsoft.com/office/drawing/2014/main" id="{1E311DC3-59EE-4395-E624-E01FE20B1773}"/>
              </a:ext>
            </a:extLst>
          </p:cNvPr>
          <p:cNvSpPr txBox="1"/>
          <p:nvPr/>
        </p:nvSpPr>
        <p:spPr>
          <a:xfrm>
            <a:off x="11030746" y="6594048"/>
            <a:ext cx="1513679" cy="369332"/>
          </a:xfrm>
          <a:prstGeom prst="rect">
            <a:avLst/>
          </a:prstGeom>
          <a:noFill/>
        </p:spPr>
        <p:txBody>
          <a:bodyPr wrap="square" lIns="91440" tIns="45720" rIns="91440" bIns="45720" rtlCol="0" anchor="t">
            <a:spAutoFit/>
          </a:bodyPr>
          <a:lstStyle/>
          <a:p>
            <a:r>
              <a:rPr lang="en-US">
                <a:latin typeface="Times New Roman"/>
                <a:cs typeface="Times New Roman"/>
              </a:rPr>
              <a:t>Slide no - 31</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20455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A917C5-18EC-8B84-E3DC-7ED3E4041966}"/>
              </a:ext>
            </a:extLst>
          </p:cNvPr>
          <p:cNvSpPr txBox="1"/>
          <p:nvPr/>
        </p:nvSpPr>
        <p:spPr>
          <a:xfrm>
            <a:off x="750444" y="3920832"/>
            <a:ext cx="5408728" cy="2806987"/>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Absorbance: </a:t>
            </a:r>
            <a:r>
              <a:rPr lang="en-US" sz="2000" dirty="0">
                <a:latin typeface="Times New Roman" panose="02020603050405020304" pitchFamily="18" charset="0"/>
                <a:cs typeface="Times New Roman" panose="02020603050405020304" pitchFamily="18" charset="0"/>
              </a:rPr>
              <a:t>1.9</a:t>
            </a: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Dilution factor: </a:t>
            </a:r>
            <a:r>
              <a:rPr lang="en-US" sz="2000" dirty="0">
                <a:latin typeface="Times New Roman" panose="02020603050405020304" pitchFamily="18" charset="0"/>
                <a:cs typeface="Times New Roman" panose="02020603050405020304" pitchFamily="18" charset="0"/>
              </a:rPr>
              <a:t>6</a:t>
            </a: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Caffeine content: </a:t>
            </a:r>
            <a:r>
              <a:rPr lang="en-US" sz="2000" dirty="0">
                <a:latin typeface="Times New Roman" panose="02020603050405020304" pitchFamily="18" charset="0"/>
                <a:cs typeface="Times New Roman" panose="02020603050405020304" pitchFamily="18" charset="0"/>
              </a:rPr>
              <a:t>70.07 mg / 300 mL</a:t>
            </a: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Result:</a:t>
            </a:r>
          </a:p>
          <a:p>
            <a:pPr algn="just">
              <a:lnSpc>
                <a:spcPct val="150000"/>
              </a:lnSpc>
            </a:pPr>
            <a:r>
              <a:rPr lang="en-US" sz="2000" b="1" dirty="0">
                <a:latin typeface="Times New Roman" panose="02020603050405020304" pitchFamily="18" charset="0"/>
                <a:cs typeface="Times New Roman" panose="02020603050405020304" pitchFamily="18" charset="0"/>
              </a:rPr>
              <a:t>The caffeine content in 300 mL of Predator energy drink was found to be </a:t>
            </a:r>
            <a:r>
              <a:rPr lang="en-US" sz="2000" b="1" u="sng" dirty="0">
                <a:latin typeface="Times New Roman" panose="02020603050405020304" pitchFamily="18" charset="0"/>
                <a:cs typeface="Times New Roman" panose="02020603050405020304" pitchFamily="18" charset="0"/>
              </a:rPr>
              <a:t>70.07 mg</a:t>
            </a:r>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14C19F4-3C04-3108-DC5A-04C785B50350}"/>
              </a:ext>
            </a:extLst>
          </p:cNvPr>
          <p:cNvSpPr txBox="1"/>
          <p:nvPr/>
        </p:nvSpPr>
        <p:spPr>
          <a:xfrm>
            <a:off x="2684787" y="219158"/>
            <a:ext cx="6693706" cy="461665"/>
          </a:xfrm>
          <a:prstGeom prst="rect">
            <a:avLst/>
          </a:prstGeom>
          <a:noFill/>
          <a:ln>
            <a:solidFill>
              <a:schemeClr val="tx1"/>
            </a:solidFill>
          </a:ln>
        </p:spPr>
        <p:txBody>
          <a:bodyPr wrap="square" lIns="91440" tIns="45720" rIns="91440" bIns="45720" rtlCol="0" anchor="t">
            <a:spAutoFit/>
          </a:bodyPr>
          <a:lstStyle/>
          <a:p>
            <a:r>
              <a:rPr lang="en-US" sz="2400" b="1">
                <a:solidFill>
                  <a:srgbClr val="FFC000"/>
                </a:solidFill>
                <a:latin typeface="Times New Roman"/>
                <a:cs typeface="Times New Roman"/>
              </a:rPr>
              <a:t>Sample 4 – Predator Energy Drink(90mg/300ml)</a:t>
            </a:r>
            <a:endParaRPr lang="en-IN" sz="2400" b="1">
              <a:solidFill>
                <a:srgbClr val="FFC000"/>
              </a:solidFill>
              <a:latin typeface="Times New Roman"/>
              <a:cs typeface="Times New Roman"/>
            </a:endParaRPr>
          </a:p>
        </p:txBody>
      </p:sp>
      <p:sp>
        <p:nvSpPr>
          <p:cNvPr id="13" name="Rectangle 12">
            <a:extLst>
              <a:ext uri="{FF2B5EF4-FFF2-40B4-BE49-F238E27FC236}">
                <a16:creationId xmlns:a16="http://schemas.microsoft.com/office/drawing/2014/main" id="{B20F876C-DA4B-0050-50E9-57A103EFE9BE}"/>
              </a:ext>
            </a:extLst>
          </p:cNvPr>
          <p:cNvSpPr/>
          <p:nvPr/>
        </p:nvSpPr>
        <p:spPr>
          <a:xfrm>
            <a:off x="88764" y="114300"/>
            <a:ext cx="12366898" cy="68465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9FC15A5A-DB18-0597-8EA2-1449D08D1C5D}"/>
              </a:ext>
            </a:extLst>
          </p:cNvPr>
          <p:cNvPicPr>
            <a:picLocks noChangeAspect="1"/>
          </p:cNvPicPr>
          <p:nvPr/>
        </p:nvPicPr>
        <p:blipFill>
          <a:blip r:embed="rId2"/>
          <a:srcRect/>
          <a:stretch>
            <a:fillRect/>
          </a:stretch>
        </p:blipFill>
        <p:spPr bwMode="auto">
          <a:xfrm>
            <a:off x="3454808" y="880576"/>
            <a:ext cx="4849265" cy="2840503"/>
          </a:xfrm>
          <a:prstGeom prst="rect">
            <a:avLst/>
          </a:prstGeom>
          <a:ln>
            <a:solidFill>
              <a:schemeClr val="tx1"/>
            </a:solid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92C94D4A-FECE-577C-BAD5-1B46433A5306}"/>
              </a:ext>
            </a:extLst>
          </p:cNvPr>
          <p:cNvPicPr>
            <a:picLocks noChangeAspect="1"/>
          </p:cNvPicPr>
          <p:nvPr/>
        </p:nvPicPr>
        <p:blipFill>
          <a:blip r:embed="rId3" cstate="print">
            <a:extLst>
              <a:ext uri="{28A0092B-C50C-407E-A947-70E740481C1C}">
                <a14:useLocalDpi xmlns:a14="http://schemas.microsoft.com/office/drawing/2010/main" val="0"/>
              </a:ext>
            </a:extLst>
          </a:blip>
          <a:srcRect l="26294" r="25986"/>
          <a:stretch>
            <a:fillRect/>
          </a:stretch>
        </p:blipFill>
        <p:spPr>
          <a:xfrm>
            <a:off x="9587572" y="930493"/>
            <a:ext cx="1482153" cy="2674074"/>
          </a:xfrm>
          <a:prstGeom prst="rect">
            <a:avLst/>
          </a:prstGeom>
          <a:ln>
            <a:solidFill>
              <a:schemeClr val="tx1"/>
            </a:solid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9FE2EA91-141C-0EAC-8A79-2499E158D3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87571" y="4002124"/>
            <a:ext cx="1482153" cy="1502238"/>
          </a:xfrm>
          <a:prstGeom prst="rect">
            <a:avLst/>
          </a:prstGeom>
          <a:ln>
            <a:solidFill>
              <a:schemeClr val="tx1"/>
            </a:solidFill>
          </a:ln>
          <a:effectLst>
            <a:outerShdw blurRad="292100" dist="139700" dir="2700000" algn="tl" rotWithShape="0">
              <a:srgbClr val="333333">
                <a:alpha val="65000"/>
              </a:srgbClr>
            </a:outerShdw>
          </a:effectLst>
        </p:spPr>
      </p:pic>
      <p:sp>
        <p:nvSpPr>
          <p:cNvPr id="17" name="TextBox 16">
            <a:extLst>
              <a:ext uri="{FF2B5EF4-FFF2-40B4-BE49-F238E27FC236}">
                <a16:creationId xmlns:a16="http://schemas.microsoft.com/office/drawing/2014/main" id="{0F074B5B-BED5-4476-24FC-BC7260F08026}"/>
              </a:ext>
            </a:extLst>
          </p:cNvPr>
          <p:cNvSpPr txBox="1"/>
          <p:nvPr/>
        </p:nvSpPr>
        <p:spPr>
          <a:xfrm>
            <a:off x="3532285" y="3817458"/>
            <a:ext cx="4595751"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Predator Energy Drink Absorbance Spectra</a:t>
            </a:r>
            <a:endParaRPr lang="en-IN"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392480A4-45D2-F9B2-6BBD-CC51B144ECA6}"/>
              </a:ext>
            </a:extLst>
          </p:cNvPr>
          <p:cNvSpPr txBox="1"/>
          <p:nvPr/>
        </p:nvSpPr>
        <p:spPr>
          <a:xfrm>
            <a:off x="8027315" y="5666428"/>
            <a:ext cx="4390797"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Predator Energy Drink &amp; Label</a:t>
            </a:r>
            <a:endParaRPr lang="en-IN" b="1" dirty="0">
              <a:latin typeface="Times New Roman" panose="02020603050405020304" pitchFamily="18" charset="0"/>
              <a:cs typeface="Times New Roman" panose="02020603050405020304" pitchFamily="18" charset="0"/>
            </a:endParaRPr>
          </a:p>
        </p:txBody>
      </p:sp>
      <p:grpSp>
        <p:nvGrpSpPr>
          <p:cNvPr id="24" name="Group 23">
            <a:extLst>
              <a:ext uri="{FF2B5EF4-FFF2-40B4-BE49-F238E27FC236}">
                <a16:creationId xmlns:a16="http://schemas.microsoft.com/office/drawing/2014/main" id="{DE0A1155-3558-E90B-A0DA-8EDD9281A6AA}"/>
              </a:ext>
            </a:extLst>
          </p:cNvPr>
          <p:cNvGrpSpPr/>
          <p:nvPr/>
        </p:nvGrpSpPr>
        <p:grpSpPr>
          <a:xfrm>
            <a:off x="13395703" y="2730651"/>
            <a:ext cx="360" cy="360"/>
            <a:chOff x="13395703" y="2730651"/>
            <a:chExt cx="360" cy="360"/>
          </a:xfrm>
        </p:grpSpPr>
        <mc:AlternateContent xmlns:mc="http://schemas.openxmlformats.org/markup-compatibility/2006" xmlns:p14="http://schemas.microsoft.com/office/powerpoint/2010/main">
          <mc:Choice Requires="p14">
            <p:contentPart p14:bwMode="auto" r:id="rId5">
              <p14:nvContentPartPr>
                <p14:cNvPr id="22" name="Ink 21">
                  <a:extLst>
                    <a:ext uri="{FF2B5EF4-FFF2-40B4-BE49-F238E27FC236}">
                      <a16:creationId xmlns:a16="http://schemas.microsoft.com/office/drawing/2014/main" id="{719BEEF7-9A1C-ABD6-7F3B-EFD091F11B6E}"/>
                    </a:ext>
                  </a:extLst>
                </p14:cNvPr>
                <p14:cNvContentPartPr/>
                <p14:nvPr/>
              </p14:nvContentPartPr>
              <p14:xfrm>
                <a:off x="13395703" y="2730651"/>
                <a:ext cx="360" cy="360"/>
              </p14:xfrm>
            </p:contentPart>
          </mc:Choice>
          <mc:Fallback xmlns="">
            <p:pic>
              <p:nvPicPr>
                <p:cNvPr id="22" name="Ink 21">
                  <a:extLst>
                    <a:ext uri="{FF2B5EF4-FFF2-40B4-BE49-F238E27FC236}">
                      <a16:creationId xmlns:a16="http://schemas.microsoft.com/office/drawing/2014/main" id="{719BEEF7-9A1C-ABD6-7F3B-EFD091F11B6E}"/>
                    </a:ext>
                  </a:extLst>
                </p:cNvPr>
                <p:cNvPicPr/>
                <p:nvPr/>
              </p:nvPicPr>
              <p:blipFill>
                <a:blip r:embed="rId11"/>
                <a:stretch>
                  <a:fillRect/>
                </a:stretch>
              </p:blipFill>
              <p:spPr>
                <a:xfrm>
                  <a:off x="13386703" y="272201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0235C764-E3D5-DB1A-7522-1ED628376526}"/>
                    </a:ext>
                  </a:extLst>
                </p14:cNvPr>
                <p14:cNvContentPartPr/>
                <p14:nvPr/>
              </p14:nvContentPartPr>
              <p14:xfrm>
                <a:off x="13395703" y="2730651"/>
                <a:ext cx="360" cy="360"/>
              </p14:xfrm>
            </p:contentPart>
          </mc:Choice>
          <mc:Fallback xmlns="">
            <p:pic>
              <p:nvPicPr>
                <p:cNvPr id="23" name="Ink 22">
                  <a:extLst>
                    <a:ext uri="{FF2B5EF4-FFF2-40B4-BE49-F238E27FC236}">
                      <a16:creationId xmlns:a16="http://schemas.microsoft.com/office/drawing/2014/main" id="{0235C764-E3D5-DB1A-7522-1ED628376526}"/>
                    </a:ext>
                  </a:extLst>
                </p:cNvPr>
                <p:cNvPicPr/>
                <p:nvPr/>
              </p:nvPicPr>
              <p:blipFill>
                <a:blip r:embed="rId11"/>
                <a:stretch>
                  <a:fillRect/>
                </a:stretch>
              </p:blipFill>
              <p:spPr>
                <a:xfrm>
                  <a:off x="13386703" y="2722011"/>
                  <a:ext cx="18000" cy="18000"/>
                </a:xfrm>
                <a:prstGeom prst="rect">
                  <a:avLst/>
                </a:prstGeom>
              </p:spPr>
            </p:pic>
          </mc:Fallback>
        </mc:AlternateContent>
      </p:grpSp>
      <p:sp>
        <p:nvSpPr>
          <p:cNvPr id="4" name="TextBox 3">
            <a:extLst>
              <a:ext uri="{FF2B5EF4-FFF2-40B4-BE49-F238E27FC236}">
                <a16:creationId xmlns:a16="http://schemas.microsoft.com/office/drawing/2014/main" id="{AE89AA05-FA98-4245-4DFB-9056F4CCEBCC}"/>
              </a:ext>
            </a:extLst>
          </p:cNvPr>
          <p:cNvSpPr txBox="1"/>
          <p:nvPr/>
        </p:nvSpPr>
        <p:spPr>
          <a:xfrm>
            <a:off x="11077214" y="6572806"/>
            <a:ext cx="1467211" cy="369332"/>
          </a:xfrm>
          <a:prstGeom prst="rect">
            <a:avLst/>
          </a:prstGeom>
          <a:noFill/>
        </p:spPr>
        <p:txBody>
          <a:bodyPr wrap="square" lIns="91440" tIns="45720" rIns="91440" bIns="45720" rtlCol="0" anchor="t">
            <a:spAutoFit/>
          </a:bodyPr>
          <a:lstStyle/>
          <a:p>
            <a:r>
              <a:rPr lang="en-US">
                <a:latin typeface="Times New Roman"/>
                <a:cs typeface="Times New Roman"/>
              </a:rPr>
              <a:t>Slide no - 32</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38865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F80804-12EF-731A-AFF3-0E9F2F2AF844}"/>
              </a:ext>
            </a:extLst>
          </p:cNvPr>
          <p:cNvSpPr txBox="1"/>
          <p:nvPr/>
        </p:nvSpPr>
        <p:spPr>
          <a:xfrm>
            <a:off x="777541" y="3833253"/>
            <a:ext cx="4615584" cy="280698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Absorbance: </a:t>
            </a:r>
            <a:r>
              <a:rPr lang="en-US" sz="2000" dirty="0">
                <a:latin typeface="Times New Roman" panose="02020603050405020304" pitchFamily="18" charset="0"/>
                <a:cs typeface="Times New Roman" panose="02020603050405020304" pitchFamily="18" charset="0"/>
              </a:rPr>
              <a:t>2.30</a:t>
            </a: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Dilution factor: </a:t>
            </a:r>
            <a:r>
              <a:rPr lang="en-US" sz="2000" dirty="0">
                <a:latin typeface="Times New Roman" panose="02020603050405020304" pitchFamily="18" charset="0"/>
                <a:cs typeface="Times New Roman" panose="02020603050405020304" pitchFamily="18" charset="0"/>
              </a:rPr>
              <a:t>5.75</a:t>
            </a: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Caffeine content: </a:t>
            </a:r>
            <a:r>
              <a:rPr lang="en-US" sz="2000" dirty="0">
                <a:latin typeface="Times New Roman" panose="02020603050405020304" pitchFamily="18" charset="0"/>
                <a:cs typeface="Times New Roman" panose="02020603050405020304" pitchFamily="18" charset="0"/>
              </a:rPr>
              <a:t>71.66 mg / 250 mL</a:t>
            </a: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Result:</a:t>
            </a:r>
          </a:p>
          <a:p>
            <a:pPr algn="just">
              <a:lnSpc>
                <a:spcPct val="150000"/>
              </a:lnSpc>
            </a:pPr>
            <a:r>
              <a:rPr lang="en-US" sz="2000" b="1" dirty="0">
                <a:latin typeface="Times New Roman" panose="02020603050405020304" pitchFamily="18" charset="0"/>
                <a:cs typeface="Times New Roman" panose="02020603050405020304" pitchFamily="18" charset="0"/>
              </a:rPr>
              <a:t>The caffeine content in 250 mL of Sting energy drink was found to be </a:t>
            </a:r>
            <a:r>
              <a:rPr lang="en-US" sz="2000" b="1" u="sng" dirty="0">
                <a:latin typeface="Times New Roman" panose="02020603050405020304" pitchFamily="18" charset="0"/>
                <a:cs typeface="Times New Roman" panose="02020603050405020304" pitchFamily="18" charset="0"/>
              </a:rPr>
              <a:t>71.66 mg</a:t>
            </a:r>
            <a:endParaRPr lang="en-IN" sz="2000" b="1" u="sng"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4EE46BC-42A1-58E2-2247-B52F1A01B278}"/>
              </a:ext>
            </a:extLst>
          </p:cNvPr>
          <p:cNvSpPr txBox="1"/>
          <p:nvPr/>
        </p:nvSpPr>
        <p:spPr>
          <a:xfrm>
            <a:off x="3852902" y="293473"/>
            <a:ext cx="4421906" cy="461665"/>
          </a:xfrm>
          <a:prstGeom prst="rect">
            <a:avLst/>
          </a:prstGeom>
          <a:noFill/>
          <a:ln>
            <a:solidFill>
              <a:schemeClr val="tx1"/>
            </a:solidFill>
          </a:ln>
        </p:spPr>
        <p:txBody>
          <a:bodyPr wrap="square" rtlCol="0">
            <a:spAutoFit/>
          </a:bodyPr>
          <a:lstStyle/>
          <a:p>
            <a:pPr algn="ctr"/>
            <a:r>
              <a:rPr lang="en-US" sz="2400" b="1" dirty="0">
                <a:solidFill>
                  <a:srgbClr val="FF0000"/>
                </a:solidFill>
                <a:latin typeface="Times New Roman" panose="02020603050405020304" pitchFamily="18" charset="0"/>
                <a:cs typeface="Times New Roman" panose="02020603050405020304" pitchFamily="18" charset="0"/>
              </a:rPr>
              <a:t>Sample 5 – Sting (72mg/250ml)</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B20F876C-DA4B-0050-50E9-57A103EFE9BE}"/>
              </a:ext>
            </a:extLst>
          </p:cNvPr>
          <p:cNvSpPr/>
          <p:nvPr/>
        </p:nvSpPr>
        <p:spPr>
          <a:xfrm>
            <a:off x="100639" y="114300"/>
            <a:ext cx="12366898" cy="68465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4" name="Group 23">
            <a:extLst>
              <a:ext uri="{FF2B5EF4-FFF2-40B4-BE49-F238E27FC236}">
                <a16:creationId xmlns:a16="http://schemas.microsoft.com/office/drawing/2014/main" id="{DE0A1155-3558-E90B-A0DA-8EDD9281A6AA}"/>
              </a:ext>
            </a:extLst>
          </p:cNvPr>
          <p:cNvGrpSpPr/>
          <p:nvPr/>
        </p:nvGrpSpPr>
        <p:grpSpPr>
          <a:xfrm>
            <a:off x="13395703" y="2730651"/>
            <a:ext cx="360" cy="360"/>
            <a:chOff x="13395703" y="2730651"/>
            <a:chExt cx="360" cy="360"/>
          </a:xfrm>
        </p:grpSpPr>
        <mc:AlternateContent xmlns:mc="http://schemas.openxmlformats.org/markup-compatibility/2006" xmlns:p14="http://schemas.microsoft.com/office/powerpoint/2010/main">
          <mc:Choice Requires="p14">
            <p:contentPart p14:bwMode="auto" r:id="rId3">
              <p14:nvContentPartPr>
                <p14:cNvPr id="22" name="Ink 21">
                  <a:extLst>
                    <a:ext uri="{FF2B5EF4-FFF2-40B4-BE49-F238E27FC236}">
                      <a16:creationId xmlns:a16="http://schemas.microsoft.com/office/drawing/2014/main" id="{719BEEF7-9A1C-ABD6-7F3B-EFD091F11B6E}"/>
                    </a:ext>
                  </a:extLst>
                </p14:cNvPr>
                <p14:cNvContentPartPr/>
                <p14:nvPr/>
              </p14:nvContentPartPr>
              <p14:xfrm>
                <a:off x="13395703" y="2730651"/>
                <a:ext cx="360" cy="360"/>
              </p14:xfrm>
            </p:contentPart>
          </mc:Choice>
          <mc:Fallback xmlns="">
            <p:pic>
              <p:nvPicPr>
                <p:cNvPr id="22" name="Ink 21">
                  <a:extLst>
                    <a:ext uri="{FF2B5EF4-FFF2-40B4-BE49-F238E27FC236}">
                      <a16:creationId xmlns:a16="http://schemas.microsoft.com/office/drawing/2014/main" id="{719BEEF7-9A1C-ABD6-7F3B-EFD091F11B6E}"/>
                    </a:ext>
                  </a:extLst>
                </p:cNvPr>
                <p:cNvPicPr/>
                <p:nvPr/>
              </p:nvPicPr>
              <p:blipFill>
                <a:blip r:embed="rId4"/>
                <a:stretch>
                  <a:fillRect/>
                </a:stretch>
              </p:blipFill>
              <p:spPr>
                <a:xfrm>
                  <a:off x="13386703" y="272165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0235C764-E3D5-DB1A-7522-1ED628376526}"/>
                    </a:ext>
                  </a:extLst>
                </p14:cNvPr>
                <p14:cNvContentPartPr/>
                <p14:nvPr/>
              </p14:nvContentPartPr>
              <p14:xfrm>
                <a:off x="13395703" y="2730651"/>
                <a:ext cx="360" cy="360"/>
              </p14:xfrm>
            </p:contentPart>
          </mc:Choice>
          <mc:Fallback xmlns="">
            <p:pic>
              <p:nvPicPr>
                <p:cNvPr id="23" name="Ink 22">
                  <a:extLst>
                    <a:ext uri="{FF2B5EF4-FFF2-40B4-BE49-F238E27FC236}">
                      <a16:creationId xmlns:a16="http://schemas.microsoft.com/office/drawing/2014/main" id="{0235C764-E3D5-DB1A-7522-1ED628376526}"/>
                    </a:ext>
                  </a:extLst>
                </p:cNvPr>
                <p:cNvPicPr/>
                <p:nvPr/>
              </p:nvPicPr>
              <p:blipFill>
                <a:blip r:embed="rId4"/>
                <a:stretch>
                  <a:fillRect/>
                </a:stretch>
              </p:blipFill>
              <p:spPr>
                <a:xfrm>
                  <a:off x="13386703" y="2721651"/>
                  <a:ext cx="18000" cy="18000"/>
                </a:xfrm>
                <a:prstGeom prst="rect">
                  <a:avLst/>
                </a:prstGeom>
              </p:spPr>
            </p:pic>
          </mc:Fallback>
        </mc:AlternateContent>
      </p:grpSp>
      <p:pic>
        <p:nvPicPr>
          <p:cNvPr id="3" name="Picture 2">
            <a:extLst>
              <a:ext uri="{FF2B5EF4-FFF2-40B4-BE49-F238E27FC236}">
                <a16:creationId xmlns:a16="http://schemas.microsoft.com/office/drawing/2014/main" id="{1328ACBE-EEDD-B025-1C78-324E17DF5909}"/>
              </a:ext>
            </a:extLst>
          </p:cNvPr>
          <p:cNvPicPr>
            <a:picLocks noChangeAspect="1"/>
          </p:cNvPicPr>
          <p:nvPr/>
        </p:nvPicPr>
        <p:blipFill>
          <a:blip r:embed="rId6"/>
          <a:stretch>
            <a:fillRect/>
          </a:stretch>
        </p:blipFill>
        <p:spPr>
          <a:xfrm>
            <a:off x="3777916" y="1075768"/>
            <a:ext cx="4872789" cy="2452451"/>
          </a:xfrm>
          <a:prstGeom prst="rect">
            <a:avLst/>
          </a:prstGeom>
        </p:spPr>
      </p:pic>
      <p:pic>
        <p:nvPicPr>
          <p:cNvPr id="11" name="Picture 10">
            <a:extLst>
              <a:ext uri="{FF2B5EF4-FFF2-40B4-BE49-F238E27FC236}">
                <a16:creationId xmlns:a16="http://schemas.microsoft.com/office/drawing/2014/main" id="{8BB80D76-CC0A-4954-9DD1-B97910E1AFE7}"/>
              </a:ext>
            </a:extLst>
          </p:cNvPr>
          <p:cNvPicPr>
            <a:picLocks noChangeAspect="1"/>
          </p:cNvPicPr>
          <p:nvPr/>
        </p:nvPicPr>
        <p:blipFill>
          <a:blip r:embed="rId7"/>
          <a:stretch>
            <a:fillRect/>
          </a:stretch>
        </p:blipFill>
        <p:spPr>
          <a:xfrm>
            <a:off x="9590746" y="815846"/>
            <a:ext cx="2141479" cy="2910278"/>
          </a:xfrm>
          <a:prstGeom prst="rect">
            <a:avLst/>
          </a:prstGeom>
          <a:ln>
            <a:solidFill>
              <a:schemeClr val="tx1"/>
            </a:solidFill>
          </a:ln>
        </p:spPr>
      </p:pic>
      <p:pic>
        <p:nvPicPr>
          <p:cNvPr id="19" name="Picture 18">
            <a:extLst>
              <a:ext uri="{FF2B5EF4-FFF2-40B4-BE49-F238E27FC236}">
                <a16:creationId xmlns:a16="http://schemas.microsoft.com/office/drawing/2014/main" id="{FA2FD60C-8B02-0055-D069-A1FCFE6E3A0F}"/>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9312442" y="3983924"/>
            <a:ext cx="2454442" cy="1913558"/>
          </a:xfrm>
          <a:prstGeom prst="rect">
            <a:avLst/>
          </a:prstGeom>
          <a:ln>
            <a:solidFill>
              <a:schemeClr val="tx1"/>
            </a:solidFill>
          </a:ln>
        </p:spPr>
      </p:pic>
      <p:sp>
        <p:nvSpPr>
          <p:cNvPr id="7" name="TextBox 6">
            <a:extLst>
              <a:ext uri="{FF2B5EF4-FFF2-40B4-BE49-F238E27FC236}">
                <a16:creationId xmlns:a16="http://schemas.microsoft.com/office/drawing/2014/main" id="{CFFD1955-2B09-5FB1-99DC-2AAD96E1EAB6}"/>
              </a:ext>
            </a:extLst>
          </p:cNvPr>
          <p:cNvSpPr txBox="1"/>
          <p:nvPr/>
        </p:nvSpPr>
        <p:spPr>
          <a:xfrm>
            <a:off x="4608034" y="3541458"/>
            <a:ext cx="2911642"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Sting </a:t>
            </a:r>
            <a:r>
              <a:rPr lang="en-US" sz="1800" b="1" dirty="0">
                <a:latin typeface="Times New Roman" panose="02020603050405020304" pitchFamily="18" charset="0"/>
                <a:cs typeface="Times New Roman" panose="02020603050405020304" pitchFamily="18" charset="0"/>
              </a:rPr>
              <a:t>Absorbance Spectra</a:t>
            </a:r>
            <a:endParaRPr lang="en-IN" sz="1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A83190C-3FE0-15E6-1DFC-7B01AA71C2CB}"/>
              </a:ext>
            </a:extLst>
          </p:cNvPr>
          <p:cNvSpPr txBox="1"/>
          <p:nvPr/>
        </p:nvSpPr>
        <p:spPr>
          <a:xfrm>
            <a:off x="8813131" y="6089922"/>
            <a:ext cx="3453063"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Sting Energy Drink and Label</a:t>
            </a:r>
          </a:p>
        </p:txBody>
      </p:sp>
      <p:sp>
        <p:nvSpPr>
          <p:cNvPr id="2" name="TextBox 1">
            <a:extLst>
              <a:ext uri="{FF2B5EF4-FFF2-40B4-BE49-F238E27FC236}">
                <a16:creationId xmlns:a16="http://schemas.microsoft.com/office/drawing/2014/main" id="{7DE73651-23C9-6340-FCDD-6D9A61941327}"/>
              </a:ext>
            </a:extLst>
          </p:cNvPr>
          <p:cNvSpPr txBox="1"/>
          <p:nvPr/>
        </p:nvSpPr>
        <p:spPr>
          <a:xfrm>
            <a:off x="11065018" y="6597081"/>
            <a:ext cx="1500353" cy="369333"/>
          </a:xfrm>
          <a:prstGeom prst="rect">
            <a:avLst/>
          </a:prstGeom>
          <a:noFill/>
        </p:spPr>
        <p:txBody>
          <a:bodyPr wrap="square" lIns="91440" tIns="45720" rIns="91440" bIns="45720" rtlCol="0" anchor="t">
            <a:spAutoFit/>
          </a:bodyPr>
          <a:lstStyle/>
          <a:p>
            <a:r>
              <a:rPr lang="en-US">
                <a:latin typeface="Times New Roman"/>
                <a:cs typeface="Times New Roman"/>
              </a:rPr>
              <a:t>Slide no - 33</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46254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F79F62B-9988-FE00-CC14-538AF61102CB}"/>
              </a:ext>
            </a:extLst>
          </p:cNvPr>
          <p:cNvSpPr/>
          <p:nvPr/>
        </p:nvSpPr>
        <p:spPr>
          <a:xfrm>
            <a:off x="297022" y="182880"/>
            <a:ext cx="11996259" cy="66865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4BC4E53F-EB8A-A9CE-4595-1A64EB293D1A}"/>
              </a:ext>
            </a:extLst>
          </p:cNvPr>
          <p:cNvSpPr/>
          <p:nvPr/>
        </p:nvSpPr>
        <p:spPr>
          <a:xfrm>
            <a:off x="160020" y="182880"/>
            <a:ext cx="12087383" cy="66865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B694BD3D-8422-AB84-E8A4-DC89BE432682}"/>
                  </a:ext>
                </a:extLst>
              </p14:cNvPr>
              <p14:cNvContentPartPr/>
              <p14:nvPr/>
            </p14:nvContentPartPr>
            <p14:xfrm>
              <a:off x="12915540" y="3201120"/>
              <a:ext cx="360" cy="360"/>
            </p14:xfrm>
          </p:contentPart>
        </mc:Choice>
        <mc:Fallback xmlns="">
          <p:pic>
            <p:nvPicPr>
              <p:cNvPr id="17" name="Ink 16">
                <a:extLst>
                  <a:ext uri="{FF2B5EF4-FFF2-40B4-BE49-F238E27FC236}">
                    <a16:creationId xmlns:a16="http://schemas.microsoft.com/office/drawing/2014/main" id="{B694BD3D-8422-AB84-E8A4-DC89BE432682}"/>
                  </a:ext>
                </a:extLst>
              </p:cNvPr>
              <p:cNvPicPr/>
              <p:nvPr/>
            </p:nvPicPr>
            <p:blipFill>
              <a:blip r:embed="rId6"/>
              <a:stretch>
                <a:fillRect/>
              </a:stretch>
            </p:blipFill>
            <p:spPr>
              <a:xfrm>
                <a:off x="12906900" y="3192120"/>
                <a:ext cx="18000" cy="18000"/>
              </a:xfrm>
              <a:prstGeom prst="rect">
                <a:avLst/>
              </a:prstGeom>
            </p:spPr>
          </p:pic>
        </mc:Fallback>
      </mc:AlternateContent>
      <p:pic>
        <p:nvPicPr>
          <p:cNvPr id="19" name="Picture 18">
            <a:extLst>
              <a:ext uri="{FF2B5EF4-FFF2-40B4-BE49-F238E27FC236}">
                <a16:creationId xmlns:a16="http://schemas.microsoft.com/office/drawing/2014/main" id="{27A7F373-745A-BF08-CEF8-0811714F53B8}"/>
              </a:ext>
            </a:extLst>
          </p:cNvPr>
          <p:cNvPicPr>
            <a:picLocks noChangeAspect="1"/>
          </p:cNvPicPr>
          <p:nvPr/>
        </p:nvPicPr>
        <p:blipFill>
          <a:blip r:embed="rId7"/>
          <a:stretch>
            <a:fillRect/>
          </a:stretch>
        </p:blipFill>
        <p:spPr>
          <a:xfrm>
            <a:off x="1106905" y="363260"/>
            <a:ext cx="10660247" cy="5538389"/>
          </a:xfrm>
          <a:prstGeom prst="roundRect">
            <a:avLst>
              <a:gd name="adj" fmla="val 8594"/>
            </a:avLst>
          </a:prstGeom>
          <a:solidFill>
            <a:srgbClr val="FFFFFF">
              <a:shade val="85000"/>
            </a:srgb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6" name="TextBox 5">
            <a:extLst>
              <a:ext uri="{FF2B5EF4-FFF2-40B4-BE49-F238E27FC236}">
                <a16:creationId xmlns:a16="http://schemas.microsoft.com/office/drawing/2014/main" id="{C90DAA43-EC27-D848-C2BE-C59079BE5FD0}"/>
              </a:ext>
            </a:extLst>
          </p:cNvPr>
          <p:cNvSpPr txBox="1"/>
          <p:nvPr/>
        </p:nvSpPr>
        <p:spPr>
          <a:xfrm>
            <a:off x="3098211" y="5985429"/>
            <a:ext cx="5939378"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    Caffeine Content In Different Beverages</a:t>
            </a:r>
            <a:endParaRPr lang="en-IN" sz="20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4495485-E243-4FBE-CAB7-4FC63CE6C560}"/>
              </a:ext>
            </a:extLst>
          </p:cNvPr>
          <p:cNvSpPr txBox="1"/>
          <p:nvPr/>
        </p:nvSpPr>
        <p:spPr>
          <a:xfrm>
            <a:off x="10899990" y="6508512"/>
            <a:ext cx="1484415" cy="369332"/>
          </a:xfrm>
          <a:prstGeom prst="rect">
            <a:avLst/>
          </a:prstGeom>
          <a:noFill/>
        </p:spPr>
        <p:txBody>
          <a:bodyPr wrap="square" lIns="91440" tIns="45720" rIns="91440" bIns="45720" rtlCol="0" anchor="t">
            <a:spAutoFit/>
          </a:bodyPr>
          <a:lstStyle/>
          <a:p>
            <a:r>
              <a:rPr lang="en-US">
                <a:latin typeface="Times New Roman"/>
                <a:cs typeface="Times New Roman"/>
              </a:rPr>
              <a:t>Slide no - 34</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63899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3D1BDF-D67C-3880-6971-79B95240CD08}"/>
              </a:ext>
            </a:extLst>
          </p:cNvPr>
          <p:cNvSpPr txBox="1"/>
          <p:nvPr/>
        </p:nvSpPr>
        <p:spPr>
          <a:xfrm>
            <a:off x="3997909" y="3004999"/>
            <a:ext cx="4548605" cy="523220"/>
          </a:xfrm>
          <a:prstGeom prst="rect">
            <a:avLst/>
          </a:prstGeom>
          <a:noFill/>
          <a:ln>
            <a:solidFill>
              <a:schemeClr val="tx1"/>
            </a:solidFill>
          </a:ln>
        </p:spPr>
        <p:txBody>
          <a:bodyPr wrap="square" rtlCol="0">
            <a:spAutoFit/>
          </a:bodyPr>
          <a:lstStyle/>
          <a:p>
            <a:r>
              <a:rPr lang="en-US" sz="2800" b="1" u="sng" dirty="0">
                <a:latin typeface="Times New Roman" panose="02020603050405020304" pitchFamily="18" charset="0"/>
                <a:cs typeface="Times New Roman" panose="02020603050405020304" pitchFamily="18" charset="0"/>
              </a:rPr>
              <a:t>RESULTS &amp; DISCUSSION</a:t>
            </a:r>
            <a:endParaRPr lang="en-IN" sz="2800" b="1"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92E8E27-D441-AE7A-C900-AEE6C7101E75}"/>
              </a:ext>
            </a:extLst>
          </p:cNvPr>
          <p:cNvSpPr/>
          <p:nvPr/>
        </p:nvSpPr>
        <p:spPr>
          <a:xfrm>
            <a:off x="156411" y="138280"/>
            <a:ext cx="12212052" cy="677987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45BFCE6-5C12-E66B-7570-26337E3EE177}"/>
              </a:ext>
            </a:extLst>
          </p:cNvPr>
          <p:cNvSpPr txBox="1"/>
          <p:nvPr/>
        </p:nvSpPr>
        <p:spPr>
          <a:xfrm>
            <a:off x="10963210" y="6548826"/>
            <a:ext cx="1581215" cy="369332"/>
          </a:xfrm>
          <a:prstGeom prst="rect">
            <a:avLst/>
          </a:prstGeom>
          <a:noFill/>
        </p:spPr>
        <p:txBody>
          <a:bodyPr wrap="square" lIns="91440" tIns="45720" rIns="91440" bIns="45720" rtlCol="0" anchor="t">
            <a:spAutoFit/>
          </a:bodyPr>
          <a:lstStyle/>
          <a:p>
            <a:r>
              <a:rPr lang="en-US">
                <a:latin typeface="Times New Roman"/>
                <a:cs typeface="Times New Roman"/>
              </a:rPr>
              <a:t>Slide no - 35</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07715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9AD68C-BD3A-A505-24A1-5D5DE18E6C33}"/>
              </a:ext>
            </a:extLst>
          </p:cNvPr>
          <p:cNvSpPr txBox="1"/>
          <p:nvPr/>
        </p:nvSpPr>
        <p:spPr>
          <a:xfrm>
            <a:off x="4169751" y="261105"/>
            <a:ext cx="4204921" cy="461665"/>
          </a:xfrm>
          <a:prstGeom prst="rect">
            <a:avLst/>
          </a:prstGeom>
          <a:noFill/>
          <a:ln>
            <a:solidFill>
              <a:schemeClr val="tx1"/>
            </a:solidFill>
          </a:ln>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RESULT AND DISCUSSION</a:t>
            </a:r>
            <a:endParaRPr lang="en-IN" sz="2400"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DE0AF8FA-9B10-A8B0-8D58-BA13EFE6FE37}"/>
              </a:ext>
            </a:extLst>
          </p:cNvPr>
          <p:cNvGraphicFramePr>
            <a:graphicFrameLocks noGrp="1"/>
          </p:cNvGraphicFramePr>
          <p:nvPr>
            <p:extLst>
              <p:ext uri="{D42A27DB-BD31-4B8C-83A1-F6EECF244321}">
                <p14:modId xmlns:p14="http://schemas.microsoft.com/office/powerpoint/2010/main" val="3120952427"/>
              </p:ext>
            </p:extLst>
          </p:nvPr>
        </p:nvGraphicFramePr>
        <p:xfrm>
          <a:off x="820553" y="1301336"/>
          <a:ext cx="10903315" cy="4046730"/>
        </p:xfrm>
        <a:graphic>
          <a:graphicData uri="http://schemas.openxmlformats.org/drawingml/2006/table">
            <a:tbl>
              <a:tblPr firstRow="1" firstCol="1" bandRow="1">
                <a:tableStyleId>{5C22544A-7EE6-4342-B048-85BDC9FD1C3A}</a:tableStyleId>
              </a:tblPr>
              <a:tblGrid>
                <a:gridCol w="720146">
                  <a:extLst>
                    <a:ext uri="{9D8B030D-6E8A-4147-A177-3AD203B41FA5}">
                      <a16:colId xmlns:a16="http://schemas.microsoft.com/office/drawing/2014/main" val="2430214739"/>
                    </a:ext>
                  </a:extLst>
                </a:gridCol>
                <a:gridCol w="1649386">
                  <a:extLst>
                    <a:ext uri="{9D8B030D-6E8A-4147-A177-3AD203B41FA5}">
                      <a16:colId xmlns:a16="http://schemas.microsoft.com/office/drawing/2014/main" val="1703458241"/>
                    </a:ext>
                  </a:extLst>
                </a:gridCol>
                <a:gridCol w="1494834">
                  <a:extLst>
                    <a:ext uri="{9D8B030D-6E8A-4147-A177-3AD203B41FA5}">
                      <a16:colId xmlns:a16="http://schemas.microsoft.com/office/drawing/2014/main" val="3717071551"/>
                    </a:ext>
                  </a:extLst>
                </a:gridCol>
                <a:gridCol w="2037623">
                  <a:extLst>
                    <a:ext uri="{9D8B030D-6E8A-4147-A177-3AD203B41FA5}">
                      <a16:colId xmlns:a16="http://schemas.microsoft.com/office/drawing/2014/main" val="4072829419"/>
                    </a:ext>
                  </a:extLst>
                </a:gridCol>
                <a:gridCol w="1827431">
                  <a:extLst>
                    <a:ext uri="{9D8B030D-6E8A-4147-A177-3AD203B41FA5}">
                      <a16:colId xmlns:a16="http://schemas.microsoft.com/office/drawing/2014/main" val="782480632"/>
                    </a:ext>
                  </a:extLst>
                </a:gridCol>
                <a:gridCol w="1517090">
                  <a:extLst>
                    <a:ext uri="{9D8B030D-6E8A-4147-A177-3AD203B41FA5}">
                      <a16:colId xmlns:a16="http://schemas.microsoft.com/office/drawing/2014/main" val="2758823779"/>
                    </a:ext>
                  </a:extLst>
                </a:gridCol>
                <a:gridCol w="1656805">
                  <a:extLst>
                    <a:ext uri="{9D8B030D-6E8A-4147-A177-3AD203B41FA5}">
                      <a16:colId xmlns:a16="http://schemas.microsoft.com/office/drawing/2014/main" val="3230857200"/>
                    </a:ext>
                  </a:extLst>
                </a:gridCol>
              </a:tblGrid>
              <a:tr h="466117">
                <a:tc>
                  <a:txBody>
                    <a:bodyPr/>
                    <a:lstStyle/>
                    <a:p>
                      <a:pPr algn="ctr">
                        <a:lnSpc>
                          <a:spcPct val="107000"/>
                        </a:lnSpc>
                        <a:spcAft>
                          <a:spcPts val="800"/>
                        </a:spcAft>
                        <a:buNone/>
                      </a:pPr>
                      <a:r>
                        <a:rPr lang="en-IN" sz="2000" dirty="0">
                          <a:effectLst/>
                        </a:rPr>
                        <a:t>Sr. no.</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Beverage Name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Volume (mL)</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Absorbance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Dilution Factor</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Caffeine Content (mg)</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Label Claim (mg)</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9380293"/>
                  </a:ext>
                </a:extLst>
              </a:tr>
              <a:tr h="572770">
                <a:tc>
                  <a:txBody>
                    <a:bodyPr/>
                    <a:lstStyle/>
                    <a:p>
                      <a:pPr algn="ctr">
                        <a:lnSpc>
                          <a:spcPct val="107000"/>
                        </a:lnSpc>
                        <a:spcAft>
                          <a:spcPts val="800"/>
                        </a:spcAft>
                        <a:buNone/>
                      </a:pPr>
                      <a:r>
                        <a:rPr lang="en-IN" sz="2000" dirty="0">
                          <a:effectLst/>
                        </a:rPr>
                        <a:t>1</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Sting Drink</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250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2.30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a:effectLst/>
                        </a:rPr>
                        <a:t>5.75</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71.66</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72</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9467207"/>
                  </a:ext>
                </a:extLst>
              </a:tr>
              <a:tr h="554355">
                <a:tc>
                  <a:txBody>
                    <a:bodyPr/>
                    <a:lstStyle/>
                    <a:p>
                      <a:pPr algn="ctr">
                        <a:lnSpc>
                          <a:spcPct val="107000"/>
                        </a:lnSpc>
                        <a:spcAft>
                          <a:spcPts val="800"/>
                        </a:spcAft>
                        <a:buNone/>
                      </a:pPr>
                      <a:r>
                        <a:rPr lang="en-IN" sz="2000" dirty="0">
                          <a:effectLst/>
                        </a:rPr>
                        <a:t>2</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Mountain Dew</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a:effectLst/>
                        </a:rPr>
                        <a:t>400</a:t>
                      </a:r>
                      <a:endParaRPr lang="en-IN" sz="2000" dirty="0">
                        <a:effectLst/>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1.9</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a:effectLst/>
                        </a:rPr>
                        <a:t>3.25</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50.61</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52</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3067371"/>
                  </a:ext>
                </a:extLst>
              </a:tr>
              <a:tr h="554355">
                <a:tc>
                  <a:txBody>
                    <a:bodyPr/>
                    <a:lstStyle/>
                    <a:p>
                      <a:pPr algn="ctr">
                        <a:lnSpc>
                          <a:spcPct val="107000"/>
                        </a:lnSpc>
                        <a:spcAft>
                          <a:spcPts val="800"/>
                        </a:spcAft>
                        <a:buNone/>
                      </a:pPr>
                      <a:r>
                        <a:rPr lang="en-IN" sz="2000" dirty="0">
                          <a:effectLst/>
                        </a:rPr>
                        <a:t>3</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Predator Drink</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400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1.9</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6</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70.07</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90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7932714"/>
                  </a:ext>
                </a:extLst>
              </a:tr>
              <a:tr h="554355">
                <a:tc>
                  <a:txBody>
                    <a:bodyPr/>
                    <a:lstStyle/>
                    <a:p>
                      <a:pPr algn="ctr">
                        <a:lnSpc>
                          <a:spcPct val="107000"/>
                        </a:lnSpc>
                        <a:spcAft>
                          <a:spcPts val="800"/>
                        </a:spcAft>
                        <a:buNone/>
                      </a:pPr>
                      <a:r>
                        <a:rPr lang="en-IN" sz="2000" dirty="0">
                          <a:effectLst/>
                        </a:rPr>
                        <a:t>4</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Monster Drink</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350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2.1</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5.9</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93</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90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765939"/>
                  </a:ext>
                </a:extLst>
              </a:tr>
              <a:tr h="572770">
                <a:tc>
                  <a:txBody>
                    <a:bodyPr/>
                    <a:lstStyle/>
                    <a:p>
                      <a:pPr algn="ctr">
                        <a:lnSpc>
                          <a:spcPct val="107000"/>
                        </a:lnSpc>
                        <a:spcAft>
                          <a:spcPts val="800"/>
                        </a:spcAft>
                        <a:buNone/>
                      </a:pPr>
                      <a:r>
                        <a:rPr lang="en-IN" sz="2000" dirty="0">
                          <a:effectLst/>
                        </a:rPr>
                        <a:t>5</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Hell Energy Drink</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250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2.4</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6</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78.87</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n-IN" sz="2000" dirty="0">
                          <a:effectLst/>
                        </a:rPr>
                        <a:t>75</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1029704"/>
                  </a:ext>
                </a:extLst>
              </a:tr>
            </a:tbl>
          </a:graphicData>
        </a:graphic>
      </p:graphicFrame>
      <p:sp>
        <p:nvSpPr>
          <p:cNvPr id="5" name="TextBox 4">
            <a:extLst>
              <a:ext uri="{FF2B5EF4-FFF2-40B4-BE49-F238E27FC236}">
                <a16:creationId xmlns:a16="http://schemas.microsoft.com/office/drawing/2014/main" id="{24C3E974-52F1-CC95-74AA-6409CABEAF08}"/>
              </a:ext>
            </a:extLst>
          </p:cNvPr>
          <p:cNvSpPr txBox="1"/>
          <p:nvPr/>
        </p:nvSpPr>
        <p:spPr>
          <a:xfrm>
            <a:off x="3137535" y="5373341"/>
            <a:ext cx="5555203" cy="142199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Monster Drink showed highest caffeine content.</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Mountain Dew showed lowest caffeine content.</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Experimental values were close to label claims.</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0BA531D-1334-18EF-1E22-3F45E163EC7D}"/>
              </a:ext>
            </a:extLst>
          </p:cNvPr>
          <p:cNvSpPr txBox="1"/>
          <p:nvPr/>
        </p:nvSpPr>
        <p:spPr>
          <a:xfrm>
            <a:off x="877595" y="5972637"/>
            <a:ext cx="1819281" cy="430887"/>
          </a:xfrm>
          <a:prstGeom prst="rect">
            <a:avLst/>
          </a:prstGeom>
          <a:noFill/>
          <a:ln>
            <a:solidFill>
              <a:schemeClr val="tx1"/>
            </a:solidFill>
          </a:ln>
        </p:spPr>
        <p:txBody>
          <a:bodyPr wrap="square" rtlCol="0">
            <a:spAutoFit/>
          </a:bodyPr>
          <a:lstStyle/>
          <a:p>
            <a:r>
              <a:rPr lang="en-US" sz="2200" b="1" dirty="0">
                <a:latin typeface="Times New Roman" panose="02020603050405020304" pitchFamily="18" charset="0"/>
                <a:cs typeface="Times New Roman" panose="02020603050405020304" pitchFamily="18" charset="0"/>
              </a:rPr>
              <a:t>Observation</a:t>
            </a:r>
            <a:endParaRPr lang="en-IN" sz="22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A34925F-6648-AEE6-1092-53828C6907FC}"/>
              </a:ext>
            </a:extLst>
          </p:cNvPr>
          <p:cNvSpPr txBox="1"/>
          <p:nvPr/>
        </p:nvSpPr>
        <p:spPr>
          <a:xfrm>
            <a:off x="331470" y="757363"/>
            <a:ext cx="561213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Table no 3 – Caffeine Content Comparison Table</a:t>
            </a:r>
            <a:endParaRPr lang="en-IN" b="1"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E5E5C97C-97A9-0863-0D0C-1A212BF5E5F8}"/>
              </a:ext>
            </a:extLst>
          </p:cNvPr>
          <p:cNvSpPr/>
          <p:nvPr/>
        </p:nvSpPr>
        <p:spPr>
          <a:xfrm>
            <a:off x="205740" y="148592"/>
            <a:ext cx="12070080" cy="675925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4" name="TextBox 3">
            <a:extLst>
              <a:ext uri="{FF2B5EF4-FFF2-40B4-BE49-F238E27FC236}">
                <a16:creationId xmlns:a16="http://schemas.microsoft.com/office/drawing/2014/main" id="{F875A8FD-3B9C-83F6-2377-A0175CFAC07B}"/>
              </a:ext>
            </a:extLst>
          </p:cNvPr>
          <p:cNvSpPr txBox="1"/>
          <p:nvPr/>
        </p:nvSpPr>
        <p:spPr>
          <a:xfrm>
            <a:off x="10845317" y="6538514"/>
            <a:ext cx="1508166" cy="369332"/>
          </a:xfrm>
          <a:prstGeom prst="rect">
            <a:avLst/>
          </a:prstGeom>
          <a:noFill/>
        </p:spPr>
        <p:txBody>
          <a:bodyPr wrap="square" lIns="91440" tIns="45720" rIns="91440" bIns="45720" rtlCol="0" anchor="t">
            <a:spAutoFit/>
          </a:bodyPr>
          <a:lstStyle/>
          <a:p>
            <a:r>
              <a:rPr lang="en-US">
                <a:latin typeface="Times New Roman"/>
                <a:cs typeface="Times New Roman"/>
              </a:rPr>
              <a:t>Slide no - 36</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2661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DFA261-8CC6-B287-7CE7-1D5C4BB253F8}"/>
              </a:ext>
            </a:extLst>
          </p:cNvPr>
          <p:cNvSpPr txBox="1"/>
          <p:nvPr/>
        </p:nvSpPr>
        <p:spPr>
          <a:xfrm>
            <a:off x="3687762" y="3004999"/>
            <a:ext cx="5168900" cy="523220"/>
          </a:xfrm>
          <a:prstGeom prst="rect">
            <a:avLst/>
          </a:prstGeom>
          <a:noFill/>
          <a:ln>
            <a:solidFill>
              <a:schemeClr val="tx1"/>
            </a:solidFill>
          </a:ln>
        </p:spPr>
        <p:txBody>
          <a:bodyPr wrap="square" rtlCol="0">
            <a:spAutoFit/>
          </a:bodyPr>
          <a:lstStyle/>
          <a:p>
            <a:r>
              <a:rPr lang="en-US" sz="2800" b="1" dirty="0">
                <a:latin typeface="Times New Roman" panose="02020603050405020304" pitchFamily="18" charset="0"/>
                <a:cs typeface="Times New Roman" panose="02020603050405020304" pitchFamily="18" charset="0"/>
              </a:rPr>
              <a:t>  </a:t>
            </a:r>
            <a:r>
              <a:rPr lang="en-US" sz="2800" b="1" u="sng" dirty="0">
                <a:latin typeface="Times New Roman" panose="02020603050405020304" pitchFamily="18" charset="0"/>
                <a:cs typeface="Times New Roman" panose="02020603050405020304" pitchFamily="18" charset="0"/>
              </a:rPr>
              <a:t>CONCLUSION OF PROJECT</a:t>
            </a:r>
            <a:endParaRPr lang="en-IN" sz="2800" b="1"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572DD22E-F11F-8E5E-4DCD-868007031B22}"/>
              </a:ext>
            </a:extLst>
          </p:cNvPr>
          <p:cNvSpPr/>
          <p:nvPr/>
        </p:nvSpPr>
        <p:spPr>
          <a:xfrm>
            <a:off x="168442" y="198438"/>
            <a:ext cx="12151895" cy="66595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D450E8D-F772-3783-4789-2161A4C0A48C}"/>
              </a:ext>
            </a:extLst>
          </p:cNvPr>
          <p:cNvSpPr txBox="1"/>
          <p:nvPr/>
        </p:nvSpPr>
        <p:spPr>
          <a:xfrm>
            <a:off x="10941256" y="6477990"/>
            <a:ext cx="1603169" cy="380010"/>
          </a:xfrm>
          <a:prstGeom prst="rect">
            <a:avLst/>
          </a:prstGeom>
          <a:noFill/>
        </p:spPr>
        <p:txBody>
          <a:bodyPr wrap="square" lIns="91440" tIns="45720" rIns="91440" bIns="45720" rtlCol="0" anchor="t">
            <a:spAutoFit/>
          </a:bodyPr>
          <a:lstStyle/>
          <a:p>
            <a:r>
              <a:rPr lang="en-US">
                <a:latin typeface="Times New Roman"/>
                <a:cs typeface="Times New Roman"/>
              </a:rPr>
              <a:t>Slide no - 37</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51902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7CF3BD3-4C0B-D93E-4ACC-11C2DF9188C1}"/>
              </a:ext>
            </a:extLst>
          </p:cNvPr>
          <p:cNvSpPr txBox="1"/>
          <p:nvPr/>
        </p:nvSpPr>
        <p:spPr>
          <a:xfrm>
            <a:off x="3740669" y="557318"/>
            <a:ext cx="4453313" cy="461665"/>
          </a:xfrm>
          <a:prstGeom prst="rect">
            <a:avLst/>
          </a:prstGeom>
          <a:noFill/>
          <a:ln>
            <a:solidFill>
              <a:schemeClr val="tx1"/>
            </a:solidFill>
          </a:ln>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 CONCLUSION OF PROJECT</a:t>
            </a:r>
            <a:endParaRPr lang="en-IN" sz="2400" b="1"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7047F52B-C952-E06B-B9DB-114108B82437}"/>
              </a:ext>
            </a:extLst>
          </p:cNvPr>
          <p:cNvSpPr/>
          <p:nvPr/>
        </p:nvSpPr>
        <p:spPr>
          <a:xfrm>
            <a:off x="205740" y="125731"/>
            <a:ext cx="12161520" cy="67779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AF7B367-8760-D988-07DF-9B5AABCE6F1F}"/>
              </a:ext>
            </a:extLst>
          </p:cNvPr>
          <p:cNvSpPr txBox="1"/>
          <p:nvPr/>
        </p:nvSpPr>
        <p:spPr>
          <a:xfrm>
            <a:off x="765885" y="1450570"/>
            <a:ext cx="11012654" cy="4294574"/>
          </a:xfrm>
          <a:prstGeom prst="rect">
            <a:avLst/>
          </a:prstGeom>
          <a:noFill/>
        </p:spPr>
        <p:txBody>
          <a:bodyPr wrap="square">
            <a:spAutoFit/>
          </a:bodyPr>
          <a:lstStyle/>
          <a:p>
            <a:pPr algn="just">
              <a:lnSpc>
                <a:spcPct val="150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The present project entitled </a:t>
            </a: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“Quantitative Estimation and Comparative Study of Caffeine Content in Selected Beverages Using UV Spectrophotometry”</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was successfully carried out with the objective of estimating and comparing the caffeine content present in different commercially available beverages.</a:t>
            </a:r>
          </a:p>
          <a:p>
            <a:pPr algn="just">
              <a:lnSpc>
                <a:spcPct val="150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In this study, different beverage samples were collected and analysed using standard UV spectrophotometric procedures. The calibration curve of caffeine was prepared by using standard caffeine solutions, and the absorbance values were measured at the selected wavelength. The obtained calibration curve showed good linearity, indicating that Beer‑Lambert’s law was followed within the selected concentration range. The caffeine content present in various beverages was then determined using the developed analytical method. </a:t>
            </a:r>
          </a:p>
        </p:txBody>
      </p:sp>
      <p:sp>
        <p:nvSpPr>
          <p:cNvPr id="2" name="TextBox 1">
            <a:extLst>
              <a:ext uri="{FF2B5EF4-FFF2-40B4-BE49-F238E27FC236}">
                <a16:creationId xmlns:a16="http://schemas.microsoft.com/office/drawing/2014/main" id="{F5833C0A-54C4-067C-F5B8-DEFABCF6D7D9}"/>
              </a:ext>
            </a:extLst>
          </p:cNvPr>
          <p:cNvSpPr txBox="1"/>
          <p:nvPr/>
        </p:nvSpPr>
        <p:spPr>
          <a:xfrm>
            <a:off x="10971908" y="6534388"/>
            <a:ext cx="1613261" cy="369332"/>
          </a:xfrm>
          <a:prstGeom prst="rect">
            <a:avLst/>
          </a:prstGeom>
          <a:noFill/>
        </p:spPr>
        <p:txBody>
          <a:bodyPr wrap="square" lIns="91440" tIns="45720" rIns="91440" bIns="45720" rtlCol="0" anchor="t">
            <a:spAutoFit/>
          </a:bodyPr>
          <a:lstStyle/>
          <a:p>
            <a:r>
              <a:rPr lang="en-US">
                <a:latin typeface="Times New Roman"/>
                <a:cs typeface="Times New Roman"/>
              </a:rPr>
              <a:t>Slide no - 38</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6144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57BFCB-CBEF-43BD-44B0-8C3F19B0008C}"/>
              </a:ext>
            </a:extLst>
          </p:cNvPr>
          <p:cNvSpPr txBox="1"/>
          <p:nvPr/>
        </p:nvSpPr>
        <p:spPr>
          <a:xfrm>
            <a:off x="4726379" y="320634"/>
            <a:ext cx="2541319" cy="461665"/>
          </a:xfrm>
          <a:prstGeom prst="rect">
            <a:avLst/>
          </a:prstGeom>
          <a:noFill/>
          <a:ln>
            <a:solidFill>
              <a:schemeClr val="tx1"/>
            </a:solidFill>
          </a:ln>
        </p:spPr>
        <p:txBody>
          <a:bodyPr wrap="square" rtlCol="0">
            <a:spAutoFit/>
          </a:bodyPr>
          <a:lstStyle/>
          <a:p>
            <a:r>
              <a:rPr lang="en-US" sz="2400" b="1" dirty="0">
                <a:latin typeface="Times New Roman" panose="02020603050405020304" pitchFamily="18" charset="0"/>
                <a:cs typeface="Times New Roman" panose="02020603050405020304" pitchFamily="18" charset="0"/>
              </a:rPr>
              <a:t>FUTURE SCOPE </a:t>
            </a:r>
            <a:endParaRPr lang="en-IN" sz="2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E206FF6-E97F-AEC3-5E54-9AC82DCA03ED}"/>
              </a:ext>
            </a:extLst>
          </p:cNvPr>
          <p:cNvSpPr txBox="1"/>
          <p:nvPr/>
        </p:nvSpPr>
        <p:spPr>
          <a:xfrm>
            <a:off x="920336" y="1201396"/>
            <a:ext cx="10153403" cy="4653646"/>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project will help in future for routine quality control and estimation of caffeine in beverages and pharmaceutical products using a simple, rapid, and economical UV spectrophotometric method.</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can be useful for pharmaceutical industries and food industries to monitor caffeine content and compare it with standard label claims.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study may help researchers and health authorities to evaluate the health risks associated with excessive caffeine consumption such as </a:t>
            </a:r>
            <a:r>
              <a:rPr lang="en-US" sz="2000" b="1" dirty="0">
                <a:latin typeface="Times New Roman" panose="02020603050405020304" pitchFamily="18" charset="0"/>
                <a:cs typeface="Times New Roman" panose="02020603050405020304" pitchFamily="18" charset="0"/>
              </a:rPr>
              <a:t>insomnia, anxiety,</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hypertension,</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increased heart rate.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project can also create public awareness regarding safe caffeine intake and consumer safety.</a:t>
            </a:r>
            <a:endParaRPr lang="en-IN" sz="20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D5AE76C-8509-30F6-A60F-C6C2B061C4F0}"/>
              </a:ext>
            </a:extLst>
          </p:cNvPr>
          <p:cNvSpPr/>
          <p:nvPr/>
        </p:nvSpPr>
        <p:spPr>
          <a:xfrm>
            <a:off x="178130" y="156873"/>
            <a:ext cx="12207833" cy="67545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0D147DC-86A4-5432-7192-EF79FE8215CE}"/>
              </a:ext>
            </a:extLst>
          </p:cNvPr>
          <p:cNvSpPr txBox="1"/>
          <p:nvPr/>
        </p:nvSpPr>
        <p:spPr>
          <a:xfrm>
            <a:off x="10984675" y="6542106"/>
            <a:ext cx="2101932" cy="369332"/>
          </a:xfrm>
          <a:prstGeom prst="rect">
            <a:avLst/>
          </a:prstGeom>
          <a:noFill/>
        </p:spPr>
        <p:txBody>
          <a:bodyPr wrap="square" lIns="91440" tIns="45720" rIns="91440" bIns="45720" rtlCol="0" anchor="t">
            <a:spAutoFit/>
          </a:bodyPr>
          <a:lstStyle/>
          <a:p>
            <a:r>
              <a:rPr lang="en-US">
                <a:latin typeface="Times New Roman"/>
                <a:cs typeface="Times New Roman"/>
              </a:rPr>
              <a:t>Slide no - 39</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43881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25A5AF-DD77-40F2-4E0C-CF82D772FCFF}"/>
              </a:ext>
            </a:extLst>
          </p:cNvPr>
          <p:cNvSpPr txBox="1"/>
          <p:nvPr/>
        </p:nvSpPr>
        <p:spPr>
          <a:xfrm>
            <a:off x="3022600" y="3177709"/>
            <a:ext cx="6767763" cy="523220"/>
          </a:xfrm>
          <a:prstGeom prst="rect">
            <a:avLst/>
          </a:prstGeom>
          <a:noFill/>
          <a:ln>
            <a:solidFill>
              <a:schemeClr val="tx1"/>
            </a:solidFill>
          </a:ln>
        </p:spPr>
        <p:txBody>
          <a:bodyPr wrap="square" rtlCol="0">
            <a:spAutoFit/>
          </a:bodyPr>
          <a:lstStyle/>
          <a:p>
            <a:r>
              <a:rPr lang="en-US" sz="2800" b="1" u="sng" dirty="0">
                <a:latin typeface="Times New Roman" panose="02020603050405020304" pitchFamily="18" charset="0"/>
                <a:cs typeface="Times New Roman" panose="02020603050405020304" pitchFamily="18" charset="0"/>
              </a:rPr>
              <a:t>REFERENCES &amp; ACKNOWLEGEMENT</a:t>
            </a:r>
            <a:endParaRPr lang="en-IN" sz="2800" b="1" u="sng"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6022440D-D85A-A4B8-9787-531B9F4CEF16}"/>
              </a:ext>
            </a:extLst>
          </p:cNvPr>
          <p:cNvSpPr/>
          <p:nvPr/>
        </p:nvSpPr>
        <p:spPr>
          <a:xfrm>
            <a:off x="156411" y="198438"/>
            <a:ext cx="12200021" cy="66595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B9845DA8-D182-362E-DBAF-276B602859ED}"/>
              </a:ext>
            </a:extLst>
          </p:cNvPr>
          <p:cNvSpPr txBox="1"/>
          <p:nvPr/>
        </p:nvSpPr>
        <p:spPr>
          <a:xfrm>
            <a:off x="10960925" y="6488668"/>
            <a:ext cx="1690378" cy="369332"/>
          </a:xfrm>
          <a:prstGeom prst="rect">
            <a:avLst/>
          </a:prstGeom>
          <a:noFill/>
        </p:spPr>
        <p:txBody>
          <a:bodyPr wrap="square" lIns="91440" tIns="45720" rIns="91440" bIns="45720" rtlCol="0" anchor="t">
            <a:spAutoFit/>
          </a:bodyPr>
          <a:lstStyle/>
          <a:p>
            <a:r>
              <a:rPr lang="en-US">
                <a:latin typeface="Times New Roman"/>
                <a:cs typeface="Times New Roman"/>
              </a:rPr>
              <a:t>Slide no - 40</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44914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1398F23-314B-4143-855E-E5C5C696C5CE}"/>
              </a:ext>
            </a:extLst>
          </p:cNvPr>
          <p:cNvSpPr txBox="1"/>
          <p:nvPr/>
        </p:nvSpPr>
        <p:spPr>
          <a:xfrm>
            <a:off x="356069" y="1084038"/>
            <a:ext cx="11832286" cy="6038641"/>
          </a:xfrm>
          <a:prstGeom prst="rect">
            <a:avLst/>
          </a:prstGeom>
          <a:noFill/>
        </p:spPr>
        <p:txBody>
          <a:bodyPr wrap="square">
            <a:spAutoFit/>
          </a:bodyPr>
          <a:lstStyle/>
          <a:p>
            <a:pPr marL="457200" indent="-457200" algn="just">
              <a:lnSpc>
                <a:spcPct val="150000"/>
              </a:lnSpc>
              <a:buFont typeface="+mj-lt"/>
              <a:buAutoNum type="arabicPeriod"/>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Chatwal GR, Anand SK. Spectroscopy (Atomic and Molecular). Arora M, Anand A, editors. Mumbai: Himalaya Publishing House; 2009. p. 2.169.</a:t>
            </a:r>
            <a:endParaRPr lang="en-IN" sz="2000" dirty="0">
              <a:latin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Pavia DL, Lampman GM,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Kriz</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GS, Vyvyan JR. Introduction to Spectroscopy. 5th ed. Stamford (CT): Cengage Learning; 2015. p. 369.</a:t>
            </a:r>
            <a:endParaRPr lang="en-IN" sz="2000" dirty="0">
              <a:latin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Sharma YR. Elementary Organic Spectroscopy: Principles and Chemical Applications.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Multicolour</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ed. New Delhi: S. Chand &amp; Company; 2013. p. 12.</a:t>
            </a:r>
            <a:endParaRPr lang="en-IN" sz="2000" dirty="0">
              <a:latin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De Caro CA, Haller C. UV/Vis spectrophotometry: fundamentals and applications. Switzerland: Mettler Toledo; 2025</a:t>
            </a:r>
            <a:endParaRPr lang="en-IN" sz="2000" dirty="0">
              <a:latin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Mendham J, Denney RC, Barnes JD, Thomas MJK. Vogel's textbook of quantitative chemical analysis. 6th ed. Harlow: Pearson Education; 2000</a:t>
            </a:r>
            <a:endParaRPr lang="en-IN" sz="2000" dirty="0">
              <a:latin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Ghosh S, Nandi S. A comprehensive review on UV-visible spectroscopy and its application. Int J All Res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Educ</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Sci Methods. 2024 Jan;12(1)</a:t>
            </a:r>
          </a:p>
          <a:p>
            <a:pPr marL="457200" indent="-457200" algn="just">
              <a:lnSpc>
                <a:spcPct val="150000"/>
              </a:lnSpc>
              <a:buFont typeface="+mj-lt"/>
              <a:buAutoNum type="arabicPeriod"/>
            </a:pP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AD32B7E-B94F-096E-9C40-0138EA01A8C8}"/>
              </a:ext>
            </a:extLst>
          </p:cNvPr>
          <p:cNvSpPr txBox="1"/>
          <p:nvPr/>
        </p:nvSpPr>
        <p:spPr>
          <a:xfrm>
            <a:off x="4926251" y="396912"/>
            <a:ext cx="2264410" cy="461665"/>
          </a:xfrm>
          <a:prstGeom prst="rect">
            <a:avLst/>
          </a:prstGeom>
          <a:noFill/>
          <a:ln>
            <a:solidFill>
              <a:schemeClr val="tx1"/>
            </a:solidFill>
          </a:ln>
        </p:spPr>
        <p:txBody>
          <a:bodyPr wrap="square" rtlCol="0">
            <a:spAutoFit/>
          </a:bodyPr>
          <a:lstStyle/>
          <a:p>
            <a:r>
              <a:rPr lang="en-US" sz="2400" b="1" dirty="0">
                <a:latin typeface="Times New Roman" panose="02020603050405020304" pitchFamily="18" charset="0"/>
                <a:cs typeface="Times New Roman" panose="02020603050405020304" pitchFamily="18" charset="0"/>
              </a:rPr>
              <a:t>REFERENCES </a:t>
            </a:r>
            <a:endParaRPr lang="en-IN" sz="2400" b="1"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85BFDAFF-E68A-6370-AE28-9442924E0A9D}"/>
              </a:ext>
            </a:extLst>
          </p:cNvPr>
          <p:cNvSpPr/>
          <p:nvPr/>
        </p:nvSpPr>
        <p:spPr>
          <a:xfrm>
            <a:off x="125730" y="171451"/>
            <a:ext cx="12275820" cy="67551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CD4A9CC0-AC74-F69C-EBDE-4AE009BBDF56}"/>
              </a:ext>
            </a:extLst>
          </p:cNvPr>
          <p:cNvSpPr txBox="1"/>
          <p:nvPr/>
        </p:nvSpPr>
        <p:spPr>
          <a:xfrm>
            <a:off x="11004969" y="6555179"/>
            <a:ext cx="1626920" cy="371402"/>
          </a:xfrm>
          <a:prstGeom prst="rect">
            <a:avLst/>
          </a:prstGeom>
          <a:noFill/>
        </p:spPr>
        <p:txBody>
          <a:bodyPr wrap="square" lIns="91440" tIns="45720" rIns="91440" bIns="45720" rtlCol="0" anchor="t">
            <a:spAutoFit/>
          </a:bodyPr>
          <a:lstStyle/>
          <a:p>
            <a:r>
              <a:rPr lang="en-US">
                <a:latin typeface="Times New Roman"/>
                <a:cs typeface="Times New Roman"/>
              </a:rPr>
              <a:t>Slide no - 41</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82215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3BEB02-448A-9E27-3D69-0839C2403157}"/>
              </a:ext>
            </a:extLst>
          </p:cNvPr>
          <p:cNvSpPr txBox="1"/>
          <p:nvPr/>
        </p:nvSpPr>
        <p:spPr>
          <a:xfrm>
            <a:off x="3680460" y="2011634"/>
            <a:ext cx="4720590" cy="1015663"/>
          </a:xfrm>
          <a:prstGeom prst="rect">
            <a:avLst/>
          </a:prstGeom>
          <a:noFill/>
        </p:spPr>
        <p:txBody>
          <a:bodyPr wrap="square" rtlCol="0">
            <a:spAutoFit/>
          </a:bodyPr>
          <a:lstStyle/>
          <a:p>
            <a:r>
              <a:rPr lang="en-US" sz="6000" b="1" dirty="0">
                <a:solidFill>
                  <a:srgbClr val="002060"/>
                </a:solidFill>
                <a:latin typeface="Times New Roman" panose="02020603050405020304" pitchFamily="18" charset="0"/>
                <a:cs typeface="Times New Roman" panose="02020603050405020304" pitchFamily="18" charset="0"/>
              </a:rPr>
              <a:t>THANKYOU</a:t>
            </a:r>
            <a:r>
              <a:rPr lang="en-US" dirty="0">
                <a:solidFill>
                  <a:srgbClr val="002060"/>
                </a:solidFill>
              </a:rPr>
              <a:t> </a:t>
            </a:r>
            <a:endParaRPr lang="en-IN" dirty="0">
              <a:solidFill>
                <a:srgbClr val="002060"/>
              </a:solidFill>
            </a:endParaRPr>
          </a:p>
        </p:txBody>
      </p:sp>
      <p:sp>
        <p:nvSpPr>
          <p:cNvPr id="3" name="TextBox 2">
            <a:extLst>
              <a:ext uri="{FF2B5EF4-FFF2-40B4-BE49-F238E27FC236}">
                <a16:creationId xmlns:a16="http://schemas.microsoft.com/office/drawing/2014/main" id="{55686B87-482F-9148-A036-28EE1BFE10D1}"/>
              </a:ext>
            </a:extLst>
          </p:cNvPr>
          <p:cNvSpPr txBox="1"/>
          <p:nvPr/>
        </p:nvSpPr>
        <p:spPr>
          <a:xfrm>
            <a:off x="4703445" y="1568800"/>
            <a:ext cx="2674620" cy="276999"/>
          </a:xfrm>
          <a:prstGeom prst="rect">
            <a:avLst/>
          </a:prstGeom>
          <a:noFill/>
          <a:ln>
            <a:solidFill>
              <a:schemeClr val="tx1"/>
            </a:solidFill>
          </a:ln>
        </p:spPr>
        <p:txBody>
          <a:bodyPr wrap="square" rtlCol="0">
            <a:spAutoFit/>
          </a:bodyPr>
          <a:lstStyle/>
          <a:p>
            <a:r>
              <a:rPr lang="en-US" sz="1200" b="1" dirty="0">
                <a:latin typeface="Times New Roman" panose="02020603050405020304" pitchFamily="18" charset="0"/>
                <a:cs typeface="Times New Roman" panose="02020603050405020304" pitchFamily="18" charset="0"/>
              </a:rPr>
              <a:t>A SINCERE NOTE OF GRATITUDE </a:t>
            </a:r>
            <a:endParaRPr lang="en-IN" sz="1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E505F83-1AB4-5029-C243-6C955A8DD5CC}"/>
              </a:ext>
            </a:extLst>
          </p:cNvPr>
          <p:cNvSpPr txBox="1"/>
          <p:nvPr/>
        </p:nvSpPr>
        <p:spPr>
          <a:xfrm>
            <a:off x="561510" y="3105812"/>
            <a:ext cx="11338560" cy="646331"/>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“With sincere thanks to our mentor </a:t>
            </a:r>
            <a:r>
              <a:rPr lang="en-US" b="1" u="sng" dirty="0">
                <a:latin typeface="Times New Roman" panose="02020603050405020304" pitchFamily="18" charset="0"/>
                <a:cs typeface="Times New Roman" panose="02020603050405020304" pitchFamily="18" charset="0"/>
              </a:rPr>
              <a:t>Dr. Shraddha Tathe</a:t>
            </a:r>
            <a:r>
              <a:rPr lang="en-US" dirty="0">
                <a:latin typeface="Times New Roman" panose="02020603050405020304" pitchFamily="18" charset="0"/>
                <a:cs typeface="Times New Roman" panose="02020603050405020304" pitchFamily="18" charset="0"/>
              </a:rPr>
              <a:t>, the Department of Pharmaceutical Chemistry, and </a:t>
            </a:r>
            <a:r>
              <a:rPr lang="en-US" b="1" dirty="0">
                <a:latin typeface="Times New Roman" panose="02020603050405020304" pitchFamily="18" charset="0"/>
                <a:cs typeface="Times New Roman" panose="02020603050405020304" pitchFamily="18" charset="0"/>
              </a:rPr>
              <a:t>Sinhgad Institute of Pharmacy, Pune </a:t>
            </a:r>
            <a:r>
              <a:rPr lang="en-US" dirty="0">
                <a:latin typeface="Times New Roman" panose="02020603050405020304" pitchFamily="18" charset="0"/>
                <a:cs typeface="Times New Roman" panose="02020603050405020304" pitchFamily="18" charset="0"/>
              </a:rPr>
              <a:t>for the invaluable guidance, facilities, and support that made this research possible."</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AFF7EEAA-1A84-F8CE-620E-C7C816377E61}"/>
                  </a:ext>
                </a:extLst>
              </p14:cNvPr>
              <p14:cNvContentPartPr/>
              <p14:nvPr/>
            </p14:nvContentPartPr>
            <p14:xfrm>
              <a:off x="410940" y="4246560"/>
              <a:ext cx="11752920" cy="360"/>
            </p14:xfrm>
          </p:contentPart>
        </mc:Choice>
        <mc:Fallback xmlns="">
          <p:pic>
            <p:nvPicPr>
              <p:cNvPr id="6" name="Ink 5">
                <a:extLst>
                  <a:ext uri="{FF2B5EF4-FFF2-40B4-BE49-F238E27FC236}">
                    <a16:creationId xmlns:a16="http://schemas.microsoft.com/office/drawing/2014/main" id="{AFF7EEAA-1A84-F8CE-620E-C7C816377E61}"/>
                  </a:ext>
                </a:extLst>
              </p:cNvPr>
              <p:cNvPicPr/>
              <p:nvPr/>
            </p:nvPicPr>
            <p:blipFill>
              <a:blip r:embed="rId4"/>
              <a:stretch>
                <a:fillRect/>
              </a:stretch>
            </p:blipFill>
            <p:spPr>
              <a:xfrm>
                <a:off x="401940" y="4237920"/>
                <a:ext cx="117705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F915F4B0-2BDF-C266-1201-7B571A831199}"/>
                  </a:ext>
                </a:extLst>
              </p14:cNvPr>
              <p14:cNvContentPartPr/>
              <p14:nvPr/>
            </p14:nvContentPartPr>
            <p14:xfrm>
              <a:off x="13315860" y="3291480"/>
              <a:ext cx="360" cy="360"/>
            </p14:xfrm>
          </p:contentPart>
        </mc:Choice>
        <mc:Fallback xmlns="">
          <p:pic>
            <p:nvPicPr>
              <p:cNvPr id="7" name="Ink 6">
                <a:extLst>
                  <a:ext uri="{FF2B5EF4-FFF2-40B4-BE49-F238E27FC236}">
                    <a16:creationId xmlns:a16="http://schemas.microsoft.com/office/drawing/2014/main" id="{F915F4B0-2BDF-C266-1201-7B571A831199}"/>
                  </a:ext>
                </a:extLst>
              </p:cNvPr>
              <p:cNvPicPr/>
              <p:nvPr/>
            </p:nvPicPr>
            <p:blipFill>
              <a:blip r:embed="rId6"/>
              <a:stretch>
                <a:fillRect/>
              </a:stretch>
            </p:blipFill>
            <p:spPr>
              <a:xfrm>
                <a:off x="13307220" y="3282840"/>
                <a:ext cx="18000" cy="18000"/>
              </a:xfrm>
              <a:prstGeom prst="rect">
                <a:avLst/>
              </a:prstGeom>
            </p:spPr>
          </p:pic>
        </mc:Fallback>
      </mc:AlternateContent>
      <p:sp>
        <p:nvSpPr>
          <p:cNvPr id="8" name="Rectangle 7">
            <a:extLst>
              <a:ext uri="{FF2B5EF4-FFF2-40B4-BE49-F238E27FC236}">
                <a16:creationId xmlns:a16="http://schemas.microsoft.com/office/drawing/2014/main" id="{A6EA5D45-1AE2-96E7-90FA-E60AE8ED1537}"/>
              </a:ext>
            </a:extLst>
          </p:cNvPr>
          <p:cNvSpPr/>
          <p:nvPr/>
        </p:nvSpPr>
        <p:spPr>
          <a:xfrm>
            <a:off x="183240" y="297180"/>
            <a:ext cx="12095100" cy="6489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C477504D-2F87-04C2-AEFB-FB84D287EB30}"/>
              </a:ext>
            </a:extLst>
          </p:cNvPr>
          <p:cNvSpPr txBox="1"/>
          <p:nvPr/>
        </p:nvSpPr>
        <p:spPr>
          <a:xfrm>
            <a:off x="5174932" y="4417111"/>
            <a:ext cx="1731646" cy="369332"/>
          </a:xfrm>
          <a:prstGeom prst="rect">
            <a:avLst/>
          </a:prstGeom>
          <a:noFill/>
          <a:ln>
            <a:solidFill>
              <a:schemeClr val="tx1"/>
            </a:solidFill>
          </a:ln>
        </p:spPr>
        <p:txBody>
          <a:bodyPr wrap="square" rtlCol="0">
            <a:spAutoFit/>
          </a:bodyPr>
          <a:lstStyle/>
          <a:p>
            <a:r>
              <a:rPr lang="en-US" b="1" dirty="0"/>
              <a:t>SUBMITTED BY</a:t>
            </a:r>
            <a:endParaRPr lang="en-IN" b="1" dirty="0"/>
          </a:p>
        </p:txBody>
      </p:sp>
      <p:sp>
        <p:nvSpPr>
          <p:cNvPr id="11" name="TextBox 10">
            <a:extLst>
              <a:ext uri="{FF2B5EF4-FFF2-40B4-BE49-F238E27FC236}">
                <a16:creationId xmlns:a16="http://schemas.microsoft.com/office/drawing/2014/main" id="{C2E6310D-95DF-15CD-7051-AB8B5B716A7F}"/>
              </a:ext>
            </a:extLst>
          </p:cNvPr>
          <p:cNvSpPr txBox="1"/>
          <p:nvPr/>
        </p:nvSpPr>
        <p:spPr>
          <a:xfrm>
            <a:off x="2708910" y="5078314"/>
            <a:ext cx="9338310" cy="307777"/>
          </a:xfrm>
          <a:prstGeom prst="rect">
            <a:avLst/>
          </a:prstGeom>
          <a:noFill/>
        </p:spPr>
        <p:txBody>
          <a:bodyPr wrap="square" rtlCol="0">
            <a:spAutoFit/>
          </a:bodyPr>
          <a:lstStyle/>
          <a:p>
            <a:r>
              <a:rPr lang="en-US" sz="1400" b="1" dirty="0">
                <a:latin typeface="Bahnschrift SemiBold" panose="020B0502040204020203" pitchFamily="34" charset="0"/>
              </a:rPr>
              <a:t>Sumit Kamble | Sushrut </a:t>
            </a:r>
            <a:r>
              <a:rPr lang="en-US" sz="1400" b="1" dirty="0" err="1">
                <a:latin typeface="Bahnschrift SemiBold" panose="020B0502040204020203" pitchFamily="34" charset="0"/>
              </a:rPr>
              <a:t>Randive</a:t>
            </a:r>
            <a:r>
              <a:rPr lang="en-US" sz="1400" b="1" dirty="0">
                <a:latin typeface="Bahnschrift SemiBold" panose="020B0502040204020203" pitchFamily="34" charset="0"/>
              </a:rPr>
              <a:t> | Sayali Renge | Samarth </a:t>
            </a:r>
            <a:r>
              <a:rPr lang="en-US" sz="1400" b="1" dirty="0" err="1">
                <a:latin typeface="Bahnschrift SemiBold" panose="020B0502040204020203" pitchFamily="34" charset="0"/>
              </a:rPr>
              <a:t>Sangle</a:t>
            </a:r>
            <a:r>
              <a:rPr lang="en-US" sz="1400" b="1" dirty="0">
                <a:latin typeface="Bahnschrift SemiBold" panose="020B0502040204020203" pitchFamily="34" charset="0"/>
              </a:rPr>
              <a:t> | Yuvraj Jagtap</a:t>
            </a:r>
            <a:endParaRPr lang="en-IN" sz="1400" b="1" dirty="0">
              <a:latin typeface="Bahnschrift SemiBold" panose="020B0502040204020203" pitchFamily="34" charset="0"/>
            </a:endParaRPr>
          </a:p>
        </p:txBody>
      </p:sp>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CC2D42A6-23A6-89FD-2133-BE93C31E5D9F}"/>
                  </a:ext>
                </a:extLst>
              </p14:cNvPr>
              <p14:cNvContentPartPr/>
              <p14:nvPr/>
            </p14:nvContentPartPr>
            <p14:xfrm>
              <a:off x="733604" y="5687280"/>
              <a:ext cx="360" cy="360"/>
            </p14:xfrm>
          </p:contentPart>
        </mc:Choice>
        <mc:Fallback xmlns="">
          <p:pic>
            <p:nvPicPr>
              <p:cNvPr id="13" name="Ink 12">
                <a:extLst>
                  <a:ext uri="{FF2B5EF4-FFF2-40B4-BE49-F238E27FC236}">
                    <a16:creationId xmlns:a16="http://schemas.microsoft.com/office/drawing/2014/main" id="{CC2D42A6-23A6-89FD-2133-BE93C31E5D9F}"/>
                  </a:ext>
                </a:extLst>
              </p:cNvPr>
              <p:cNvPicPr/>
              <p:nvPr/>
            </p:nvPicPr>
            <p:blipFill>
              <a:blip r:embed="rId8"/>
              <a:stretch>
                <a:fillRect/>
              </a:stretch>
            </p:blipFill>
            <p:spPr>
              <a:xfrm>
                <a:off x="724964" y="5678640"/>
                <a:ext cx="18000" cy="18000"/>
              </a:xfrm>
              <a:prstGeom prst="rect">
                <a:avLst/>
              </a:prstGeom>
            </p:spPr>
          </p:pic>
        </mc:Fallback>
      </mc:AlternateContent>
      <p:grpSp>
        <p:nvGrpSpPr>
          <p:cNvPr id="15" name="Group 14">
            <a:extLst>
              <a:ext uri="{FF2B5EF4-FFF2-40B4-BE49-F238E27FC236}">
                <a16:creationId xmlns:a16="http://schemas.microsoft.com/office/drawing/2014/main" id="{519498D8-F93B-B4F1-A156-4B4ADA71278E}"/>
              </a:ext>
            </a:extLst>
          </p:cNvPr>
          <p:cNvGrpSpPr/>
          <p:nvPr/>
        </p:nvGrpSpPr>
        <p:grpSpPr>
          <a:xfrm>
            <a:off x="1305963" y="5640550"/>
            <a:ext cx="9600480" cy="360"/>
            <a:chOff x="1305963" y="5640550"/>
            <a:chExt cx="9600480" cy="360"/>
          </a:xfrm>
        </p:grpSpPr>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3D6442B-C7DA-2678-172E-13155217D30A}"/>
                    </a:ext>
                  </a:extLst>
                </p14:cNvPr>
                <p14:cNvContentPartPr/>
                <p14:nvPr/>
              </p14:nvContentPartPr>
              <p14:xfrm>
                <a:off x="1305963" y="5640550"/>
                <a:ext cx="8533800" cy="360"/>
              </p14:xfrm>
            </p:contentPart>
          </mc:Choice>
          <mc:Fallback xmlns="">
            <p:pic>
              <p:nvPicPr>
                <p:cNvPr id="9" name="Ink 8">
                  <a:extLst>
                    <a:ext uri="{FF2B5EF4-FFF2-40B4-BE49-F238E27FC236}">
                      <a16:creationId xmlns:a16="http://schemas.microsoft.com/office/drawing/2014/main" id="{63D6442B-C7DA-2678-172E-13155217D30A}"/>
                    </a:ext>
                  </a:extLst>
                </p:cNvPr>
                <p:cNvPicPr/>
                <p:nvPr/>
              </p:nvPicPr>
              <p:blipFill>
                <a:blip r:embed="rId10"/>
                <a:stretch>
                  <a:fillRect/>
                </a:stretch>
              </p:blipFill>
              <p:spPr>
                <a:xfrm>
                  <a:off x="1296963" y="5631910"/>
                  <a:ext cx="85514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A99B63AB-BBDF-B5FB-897C-7F7F93CAC414}"/>
                    </a:ext>
                  </a:extLst>
                </p14:cNvPr>
                <p14:cNvContentPartPr/>
                <p14:nvPr/>
              </p14:nvContentPartPr>
              <p14:xfrm>
                <a:off x="10319643" y="5640550"/>
                <a:ext cx="360" cy="360"/>
              </p14:xfrm>
            </p:contentPart>
          </mc:Choice>
          <mc:Fallback xmlns="">
            <p:pic>
              <p:nvPicPr>
                <p:cNvPr id="12" name="Ink 11">
                  <a:extLst>
                    <a:ext uri="{FF2B5EF4-FFF2-40B4-BE49-F238E27FC236}">
                      <a16:creationId xmlns:a16="http://schemas.microsoft.com/office/drawing/2014/main" id="{A99B63AB-BBDF-B5FB-897C-7F7F93CAC414}"/>
                    </a:ext>
                  </a:extLst>
                </p:cNvPr>
                <p:cNvPicPr/>
                <p:nvPr/>
              </p:nvPicPr>
              <p:blipFill>
                <a:blip r:embed="rId12"/>
                <a:stretch>
                  <a:fillRect/>
                </a:stretch>
              </p:blipFill>
              <p:spPr>
                <a:xfrm>
                  <a:off x="10310643" y="563191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49D923C6-7E5B-D716-8D0E-62281F84D718}"/>
                    </a:ext>
                  </a:extLst>
                </p14:cNvPr>
                <p14:cNvContentPartPr/>
                <p14:nvPr/>
              </p14:nvContentPartPr>
              <p14:xfrm>
                <a:off x="9832923" y="5640550"/>
                <a:ext cx="1073520" cy="360"/>
              </p14:xfrm>
            </p:contentPart>
          </mc:Choice>
          <mc:Fallback xmlns="">
            <p:pic>
              <p:nvPicPr>
                <p:cNvPr id="14" name="Ink 13">
                  <a:extLst>
                    <a:ext uri="{FF2B5EF4-FFF2-40B4-BE49-F238E27FC236}">
                      <a16:creationId xmlns:a16="http://schemas.microsoft.com/office/drawing/2014/main" id="{49D923C6-7E5B-D716-8D0E-62281F84D718}"/>
                    </a:ext>
                  </a:extLst>
                </p:cNvPr>
                <p:cNvPicPr/>
                <p:nvPr/>
              </p:nvPicPr>
              <p:blipFill>
                <a:blip r:embed="rId14"/>
                <a:stretch>
                  <a:fillRect/>
                </a:stretch>
              </p:blipFill>
              <p:spPr>
                <a:xfrm>
                  <a:off x="9823923" y="5631910"/>
                  <a:ext cx="1091160" cy="18000"/>
                </a:xfrm>
                <a:prstGeom prst="rect">
                  <a:avLst/>
                </a:prstGeom>
              </p:spPr>
            </p:pic>
          </mc:Fallback>
        </mc:AlternateContent>
      </p:grpSp>
      <p:sp>
        <p:nvSpPr>
          <p:cNvPr id="4" name="TextBox 3">
            <a:extLst>
              <a:ext uri="{FF2B5EF4-FFF2-40B4-BE49-F238E27FC236}">
                <a16:creationId xmlns:a16="http://schemas.microsoft.com/office/drawing/2014/main" id="{3E0C008A-F7A8-523E-13ED-AE762610A229}"/>
              </a:ext>
            </a:extLst>
          </p:cNvPr>
          <p:cNvSpPr txBox="1"/>
          <p:nvPr/>
        </p:nvSpPr>
        <p:spPr>
          <a:xfrm>
            <a:off x="2555377" y="5865078"/>
            <a:ext cx="7350826" cy="369332"/>
          </a:xfrm>
          <a:prstGeom prst="rect">
            <a:avLst/>
          </a:prstGeom>
          <a:noFill/>
        </p:spPr>
        <p:txBody>
          <a:bodyPr wrap="square" rtlCol="0">
            <a:spAutoFit/>
          </a:bodyPr>
          <a:lstStyle/>
          <a:p>
            <a:r>
              <a:rPr lang="en-US" b="1" dirty="0">
                <a:solidFill>
                  <a:schemeClr val="tx2"/>
                </a:solidFill>
                <a:latin typeface="Agency FB" panose="020B0503020202020204" pitchFamily="34" charset="0"/>
              </a:rPr>
              <a:t>SINHAGAD INSTITUTE OF PHARMACY , NARHE , PUNE  |  SAVITRIBAI PHULE PUNE UNIVERSITY </a:t>
            </a:r>
            <a:endParaRPr lang="en-IN" b="1" dirty="0">
              <a:solidFill>
                <a:schemeClr val="tx2"/>
              </a:solidFill>
              <a:latin typeface="Agency FB" panose="020B0503020202020204" pitchFamily="34" charset="0"/>
            </a:endParaRPr>
          </a:p>
        </p:txBody>
      </p:sp>
      <p:sp>
        <p:nvSpPr>
          <p:cNvPr id="16" name="TextBox 15">
            <a:extLst>
              <a:ext uri="{FF2B5EF4-FFF2-40B4-BE49-F238E27FC236}">
                <a16:creationId xmlns:a16="http://schemas.microsoft.com/office/drawing/2014/main" id="{818495D4-C091-A7AE-14BA-99FDED5E8969}"/>
              </a:ext>
            </a:extLst>
          </p:cNvPr>
          <p:cNvSpPr txBox="1"/>
          <p:nvPr/>
        </p:nvSpPr>
        <p:spPr>
          <a:xfrm>
            <a:off x="5382858" y="6340891"/>
            <a:ext cx="2244437" cy="369332"/>
          </a:xfrm>
          <a:prstGeom prst="rect">
            <a:avLst/>
          </a:prstGeom>
          <a:noFill/>
        </p:spPr>
        <p:txBody>
          <a:bodyPr wrap="square" rtlCol="0">
            <a:spAutoFit/>
          </a:bodyPr>
          <a:lstStyle/>
          <a:p>
            <a:r>
              <a:rPr lang="en-US" b="1" dirty="0">
                <a:latin typeface="Bahnschrift Condensed" panose="020B0502040204020203" pitchFamily="34" charset="0"/>
              </a:rPr>
              <a:t>( 2025 – 2026 )</a:t>
            </a:r>
            <a:endParaRPr lang="en-IN" b="1" dirty="0">
              <a:latin typeface="Bahnschrift Condensed" panose="020B0502040204020203" pitchFamily="34" charset="0"/>
            </a:endParaRPr>
          </a:p>
        </p:txBody>
      </p:sp>
    </p:spTree>
    <p:extLst>
      <p:ext uri="{BB962C8B-B14F-4D97-AF65-F5344CB8AC3E}">
        <p14:creationId xmlns:p14="http://schemas.microsoft.com/office/powerpoint/2010/main" val="25638685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FE9B89F44FCE044A8901A0C9BE450B9" ma:contentTypeVersion="5" ma:contentTypeDescription="Create a new document." ma:contentTypeScope="" ma:versionID="e0ddefc2552a171244634325409879c0">
  <xsd:schema xmlns:xsd="http://www.w3.org/2001/XMLSchema" xmlns:xs="http://www.w3.org/2001/XMLSchema" xmlns:p="http://schemas.microsoft.com/office/2006/metadata/properties" xmlns:ns3="84110834-c770-4a37-8142-fc357e88a717" targetNamespace="http://schemas.microsoft.com/office/2006/metadata/properties" ma:root="true" ma:fieldsID="9fef8a0a9fd8e3fff732c9a3f8d976fd" ns3:_="">
    <xsd:import namespace="84110834-c770-4a37-8142-fc357e88a71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110834-c770-4a37-8142-fc357e88a71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84110834-c770-4a37-8142-fc357e88a717" xsi:nil="true"/>
  </documentManagement>
</p:properties>
</file>

<file path=customXml/itemProps1.xml><?xml version="1.0" encoding="utf-8"?>
<ds:datastoreItem xmlns:ds="http://schemas.openxmlformats.org/officeDocument/2006/customXml" ds:itemID="{3C9D8CF1-AC9E-457B-B16C-8CB5E0F7C96D}">
  <ds:schemaRefs>
    <ds:schemaRef ds:uri="http://schemas.microsoft.com/sharepoint/v3/contenttype/forms"/>
  </ds:schemaRefs>
</ds:datastoreItem>
</file>

<file path=customXml/itemProps2.xml><?xml version="1.0" encoding="utf-8"?>
<ds:datastoreItem xmlns:ds="http://schemas.openxmlformats.org/officeDocument/2006/customXml" ds:itemID="{B82E3DA0-0D27-4114-9D36-FB86E2D79A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110834-c770-4a37-8142-fc357e88a71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F087108-C4D9-49AF-ADB4-60B3652681EF}">
  <ds:schemaRefs>
    <ds:schemaRef ds:uri="http://purl.org/dc/dcmitype/"/>
    <ds:schemaRef ds:uri="84110834-c770-4a37-8142-fc357e88a717"/>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terms/"/>
    <ds:schemaRef ds:uri="http://schemas.microsoft.com/office/infopath/2007/PartnerControl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Wisp</Template>
  <TotalTime>1502</TotalTime>
  <Words>2480</Words>
  <Application>Microsoft Office PowerPoint</Application>
  <PresentationFormat>Custom</PresentationFormat>
  <Paragraphs>424</Paragraphs>
  <Slides>44</Slides>
  <Notes>13</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tanushree jagtap</dc:creator>
  <cp:lastModifiedBy>tanushree jagtap</cp:lastModifiedBy>
  <cp:revision>212</cp:revision>
  <dcterms:created xsi:type="dcterms:W3CDTF">2026-05-14T09:47:26Z</dcterms:created>
  <dcterms:modified xsi:type="dcterms:W3CDTF">2026-05-24T18:07:06Z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0x010100BFE9B89F44FCE044A8901A0C9BE450B9</vt:lpwstr>
  </property>
</Properties>
</file>